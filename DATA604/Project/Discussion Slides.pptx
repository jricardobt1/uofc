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5"/>
    <p:restoredTop sz="94647"/>
  </p:normalViewPr>
  <p:slideViewPr>
    <p:cSldViewPr snapToGrid="0" snapToObjects="1" showGuides="1">
      <p:cViewPr>
        <p:scale>
          <a:sx n="88" d="100"/>
          <a:sy n="88" d="100"/>
        </p:scale>
        <p:origin x="768" y="-235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arket.analytics/viz/AnnualStatistics_16161854228350/Introduc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lberta.ca/power-outage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485-1CE4-D943-BF73-46F1F53E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Electricity Production, Use and Price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11D1-7FCA-FB4B-9E50-F071C460F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defTabSz="621791">
              <a:lnSpc>
                <a:spcPts val="1700"/>
              </a:lnSpc>
              <a:defRPr sz="1600"/>
            </a:pPr>
            <a:r>
              <a:rPr lang="en-US" dirty="0"/>
              <a:t>Factors influencing Alberta’s Spot Market Electricity Prices, Grid Load and Production Mix</a:t>
            </a:r>
            <a:endParaRPr lang="en-US" sz="2000" dirty="0"/>
          </a:p>
          <a:p>
            <a:pPr defTabSz="621791">
              <a:lnSpc>
                <a:spcPts val="1700"/>
              </a:lnSpc>
              <a:defRPr sz="1600"/>
            </a:pPr>
            <a:r>
              <a:rPr lang="en-US" dirty="0"/>
              <a:t>	</a:t>
            </a:r>
          </a:p>
          <a:p>
            <a:r>
              <a:rPr lang="en-US" b="1" dirty="0"/>
              <a:t>In-Class Discussions</a:t>
            </a:r>
            <a:endParaRPr lang="en-IN" b="1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C84-A742-DD4F-A936-BBDA5C8BB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IN" dirty="0"/>
              <a:t>Daniela Mañozca Cruz </a:t>
            </a:r>
          </a:p>
          <a:p>
            <a:pPr>
              <a:lnSpc>
                <a:spcPct val="115000"/>
              </a:lnSpc>
            </a:pPr>
            <a:r>
              <a:rPr lang="en-IN" dirty="0"/>
              <a:t>Gautham Nagaraj</a:t>
            </a:r>
          </a:p>
          <a:p>
            <a:pPr>
              <a:lnSpc>
                <a:spcPct val="115000"/>
              </a:lnSpc>
            </a:pPr>
            <a:r>
              <a:rPr lang="en-IN" dirty="0"/>
              <a:t>Jeremy Reid </a:t>
            </a:r>
          </a:p>
          <a:p>
            <a:pPr>
              <a:lnSpc>
                <a:spcPct val="115000"/>
              </a:lnSpc>
            </a:pPr>
            <a:r>
              <a:rPr lang="en-IN" dirty="0"/>
              <a:t>Joao Ricardo Bertti Targino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9FC-91C4-7E4C-B0DF-F13D8EA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5D7C-6796-A142-AA52-64D0BC472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causing the huge upward trends in the pricing data? Could it be the temperature or a grid outage? </a:t>
            </a:r>
            <a:endParaRPr lang="en-IN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answer this question, let us first look at the pricing data. When is it reaching its highest value?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6A9-CEA9-1F48-8C2B-13EE0DA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03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A6252-9B9A-4B84-B3E1-26EEE2E3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251FB3D0-868F-01BB-53BF-83C3A331C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0934" y="1527402"/>
            <a:ext cx="7541065" cy="390674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6DD6CD-B0CF-2447-D03D-933916B2FC3A}"/>
              </a:ext>
            </a:extLst>
          </p:cNvPr>
          <p:cNvSpPr txBox="1"/>
          <p:nvPr/>
        </p:nvSpPr>
        <p:spPr>
          <a:xfrm>
            <a:off x="513806" y="269966"/>
            <a:ext cx="8647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Trends in pricing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CFF0B7-63AC-9EE1-7D9A-2C70D74C110B}"/>
              </a:ext>
            </a:extLst>
          </p:cNvPr>
          <p:cNvSpPr txBox="1"/>
          <p:nvPr/>
        </p:nvSpPr>
        <p:spPr>
          <a:xfrm>
            <a:off x="0" y="1527402"/>
            <a:ext cx="465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What’s causing the prices to reach $999/MW?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4CFFEC-E059-B959-1243-41BC56E1687A}"/>
              </a:ext>
            </a:extLst>
          </p:cNvPr>
          <p:cNvSpPr txBox="1"/>
          <p:nvPr/>
        </p:nvSpPr>
        <p:spPr>
          <a:xfrm>
            <a:off x="0" y="2020389"/>
            <a:ext cx="46509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turns out that energy providers tend to estimate the price as $999 when they are unable to ‘predict’ what the spot prices will be for the next hour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could re-plot this graph to exclude these extreme values such as 0 or 999 and examine what causes the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83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EDAF59-BE7E-59FC-BE36-E8C785D0C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291" y="1398950"/>
            <a:ext cx="7628709" cy="40264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3611D-6C0D-0909-1880-B1688DC8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D5832-A452-89AD-34A1-C21F3AEFF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1975" y="271326"/>
            <a:ext cx="10515600" cy="579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>
                <a:solidFill>
                  <a:schemeClr val="bg1"/>
                </a:solidFill>
              </a:rPr>
              <a:t>Trends in pricing</a:t>
            </a:r>
            <a:endParaRPr lang="en-IN" sz="3600" b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74AC1-048E-CD2A-C057-663751246D93}"/>
              </a:ext>
            </a:extLst>
          </p:cNvPr>
          <p:cNvSpPr txBox="1"/>
          <p:nvPr/>
        </p:nvSpPr>
        <p:spPr>
          <a:xfrm>
            <a:off x="0" y="1567543"/>
            <a:ext cx="4632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Excluding the extreme similar we can see that the graph looks similar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the values 0 and 999 we can include the other datasets and check if they had an impact on this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40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66ED-EE16-C177-2033-127665DD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Trends in pricing</a:t>
            </a:r>
            <a:endParaRPr lang="en-IN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9EF9D-3BEE-8C9D-69D8-39532CEC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9" y="1537526"/>
            <a:ext cx="3887452" cy="1606268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Query from the master table, which is a join of all the tables and ordering by energy price in descending order we get the following results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F8D53-4886-0C47-C9AA-1830E56E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A3AFE-1541-FAA5-45DC-84D27625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663" y="2832516"/>
            <a:ext cx="2543530" cy="2381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5043EC-1540-59B0-D64F-52CA853D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66" y="2734618"/>
            <a:ext cx="5439534" cy="2391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1CF5C1-0C30-D159-449B-302759004E7D}"/>
              </a:ext>
            </a:extLst>
          </p:cNvPr>
          <p:cNvSpPr txBox="1"/>
          <p:nvPr/>
        </p:nvSpPr>
        <p:spPr>
          <a:xfrm>
            <a:off x="562628" y="3326674"/>
            <a:ext cx="4087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Gas Price is average, the temperature is not the lowest, but the demand is the highest when it comes to the 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21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79A3-E1C7-C3BC-0816-D106FEB5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Trends in Pricing</a:t>
            </a:r>
            <a:endParaRPr lang="en-IN" b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17627B-C537-4431-F750-18E699923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1989" y="1201230"/>
            <a:ext cx="4709679" cy="45689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4FEBD-3882-F3A3-981F-DC49DFA1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93E4C-81A1-D4F3-CD56-10299248460A}"/>
              </a:ext>
            </a:extLst>
          </p:cNvPr>
          <p:cNvSpPr txBox="1"/>
          <p:nvPr/>
        </p:nvSpPr>
        <p:spPr>
          <a:xfrm>
            <a:off x="0" y="1077239"/>
            <a:ext cx="74262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Could outages also be the cause for the rise in the price?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date for the previous table was for January 01,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However the outages data obtained from </a:t>
            </a:r>
            <a:r>
              <a:rPr lang="en-US" dirty="0">
                <a:hlinkClick r:id="rId3"/>
              </a:rPr>
              <a:t>AESO's Annual Market Statistics Report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was no grid outages for that date that could have caused an upward trend in the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Alberta’s website </a:t>
            </a:r>
            <a:r>
              <a:rPr lang="en-US" dirty="0"/>
              <a:t>includes the following for an outage to occur: high winds, freezing rain, flooding, extreme heat and cold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26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4C78-CC80-2C4E-BB74-40019901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517F4-03BD-8FE3-E63F-78DE0DF1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B5398-DAB8-9B66-4B9C-E20F723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83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customXml/itemProps3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</Template>
  <TotalTime>406</TotalTime>
  <Words>325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Electricity Production, Use and Price Analysis</vt:lpstr>
      <vt:lpstr>Question 1</vt:lpstr>
      <vt:lpstr>PowerPoint Presentation</vt:lpstr>
      <vt:lpstr>Trends in pricing</vt:lpstr>
      <vt:lpstr>Trends in pricing</vt:lpstr>
      <vt:lpstr>Trends in Pricing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Gautham Nagaraj</dc:creator>
  <cp:lastModifiedBy>Gautham Nagaraj</cp:lastModifiedBy>
  <cp:revision>1</cp:revision>
  <dcterms:created xsi:type="dcterms:W3CDTF">2025-03-30T19:50:46Z</dcterms:created>
  <dcterms:modified xsi:type="dcterms:W3CDTF">2025-03-31T02:37:35Z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</Properties>
</file>