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6" r:id="rId9"/>
    <p:sldId id="267" r:id="rId10"/>
    <p:sldId id="270" r:id="rId11"/>
    <p:sldId id="271" r:id="rId12"/>
    <p:sldId id="268" r:id="rId13"/>
    <p:sldId id="269" r:id="rId14"/>
    <p:sldId id="265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1F069E9-5665-499F-A902-C1EB3EC8259A}">
          <p14:sldIdLst>
            <p14:sldId id="256"/>
          </p14:sldIdLst>
        </p14:section>
        <p14:section name="Joao" id="{02AE36E1-1A25-4C01-96B8-B0F42AAFEE51}">
          <p14:sldIdLst>
            <p14:sldId id="257"/>
            <p14:sldId id="258"/>
            <p14:sldId id="259"/>
          </p14:sldIdLst>
        </p14:section>
        <p14:section name="Daniela" id="{D5DC165C-0DEE-40FD-A681-C762335AB0F6}">
          <p14:sldIdLst/>
        </p14:section>
        <p14:section name="Gautham" id="{5E5FC6E9-A13C-4A28-AB87-22401281D82C}">
          <p14:sldIdLst>
            <p14:sldId id="266"/>
            <p14:sldId id="267"/>
            <p14:sldId id="270"/>
            <p14:sldId id="271"/>
          </p14:sldIdLst>
        </p14:section>
        <p14:section name="Jeremy" id="{FBBD1CD5-9551-4453-A5FF-4C251DE8DBD7}">
          <p14:sldIdLst/>
        </p14:section>
        <p14:section name="Joao" id="{E37AB5E9-339A-4F7F-9468-EE5E73E0FD7B}">
          <p14:sldIdLst>
            <p14:sldId id="268"/>
            <p14:sldId id="269"/>
          </p14:sldIdLst>
        </p14:section>
        <p14:section name="Still Undefined" id="{F25C19BF-F883-4652-97C0-01358258CD9F}">
          <p14:sldIdLst>
            <p14:sldId id="265"/>
            <p14:sldId id="260"/>
          </p14:sldIdLst>
        </p14:section>
        <p14:section name="Appendix" id="{061086BC-EC7A-4834-9976-7D9788F90D75}">
          <p14:sldIdLst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00"/>
    <a:srgbClr val="FBB031"/>
    <a:srgbClr val="E32726"/>
    <a:srgbClr val="D60057"/>
    <a:srgbClr val="8B857B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D6758-E00D-441F-8B1D-675252661ABA}" v="20" dt="2025-03-26T01:23:53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32" autoAdjust="0"/>
    <p:restoredTop sz="94658"/>
  </p:normalViewPr>
  <p:slideViewPr>
    <p:cSldViewPr snapToGrid="0" snapToObjects="1" showGuides="1">
      <p:cViewPr varScale="1">
        <p:scale>
          <a:sx n="79" d="100"/>
          <a:sy n="79" d="100"/>
        </p:scale>
        <p:origin x="984" y="72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tham Nagaraj" userId="42582a7dfd2e08c3" providerId="LiveId" clId="{34D91838-13E3-4198-A9DC-068FB8D3923A}"/>
    <pc:docChg chg="undo custSel addSld modSld modSection">
      <pc:chgData name="Gautham Nagaraj" userId="42582a7dfd2e08c3" providerId="LiveId" clId="{34D91838-13E3-4198-A9DC-068FB8D3923A}" dt="2025-03-26T21:30:53.157" v="327" actId="14100"/>
      <pc:docMkLst>
        <pc:docMk/>
      </pc:docMkLst>
      <pc:sldChg chg="addSp delSp modSp mod">
        <pc:chgData name="Gautham Nagaraj" userId="42582a7dfd2e08c3" providerId="LiveId" clId="{34D91838-13E3-4198-A9DC-068FB8D3923A}" dt="2025-03-26T20:10:17.608" v="4" actId="1076"/>
        <pc:sldMkLst>
          <pc:docMk/>
          <pc:sldMk cId="2670562210" sldId="267"/>
        </pc:sldMkLst>
        <pc:picChg chg="del">
          <ac:chgData name="Gautham Nagaraj" userId="42582a7dfd2e08c3" providerId="LiveId" clId="{34D91838-13E3-4198-A9DC-068FB8D3923A}" dt="2025-03-26T20:10:09.221" v="0" actId="478"/>
          <ac:picMkLst>
            <pc:docMk/>
            <pc:sldMk cId="2670562210" sldId="267"/>
            <ac:picMk id="6" creationId="{1B4E3A50-80E6-6BF5-4E1B-0B5301EA9F8C}"/>
          </ac:picMkLst>
        </pc:picChg>
        <pc:picChg chg="add mod">
          <ac:chgData name="Gautham Nagaraj" userId="42582a7dfd2e08c3" providerId="LiveId" clId="{34D91838-13E3-4198-A9DC-068FB8D3923A}" dt="2025-03-26T20:10:17.608" v="4" actId="1076"/>
          <ac:picMkLst>
            <pc:docMk/>
            <pc:sldMk cId="2670562210" sldId="267"/>
            <ac:picMk id="7" creationId="{E9A4D5CE-6640-9F2E-7605-E4ADE5D5967F}"/>
          </ac:picMkLst>
        </pc:picChg>
      </pc:sldChg>
      <pc:sldChg chg="addSp delSp modSp new mod">
        <pc:chgData name="Gautham Nagaraj" userId="42582a7dfd2e08c3" providerId="LiveId" clId="{34D91838-13E3-4198-A9DC-068FB8D3923A}" dt="2025-03-26T21:30:30.127" v="323" actId="1076"/>
        <pc:sldMkLst>
          <pc:docMk/>
          <pc:sldMk cId="3698844861" sldId="270"/>
        </pc:sldMkLst>
        <pc:spChg chg="mod">
          <ac:chgData name="Gautham Nagaraj" userId="42582a7dfd2e08c3" providerId="LiveId" clId="{34D91838-13E3-4198-A9DC-068FB8D3923A}" dt="2025-03-26T21:15:06.809" v="71" actId="20577"/>
          <ac:spMkLst>
            <pc:docMk/>
            <pc:sldMk cId="3698844861" sldId="270"/>
            <ac:spMk id="2" creationId="{0E6A89D0-CCAF-3AC6-9CAE-4B4291FDE7F1}"/>
          </ac:spMkLst>
        </pc:spChg>
        <pc:spChg chg="mod">
          <ac:chgData name="Gautham Nagaraj" userId="42582a7dfd2e08c3" providerId="LiveId" clId="{34D91838-13E3-4198-A9DC-068FB8D3923A}" dt="2025-03-26T21:16:48.066" v="257" actId="14100"/>
          <ac:spMkLst>
            <pc:docMk/>
            <pc:sldMk cId="3698844861" sldId="270"/>
            <ac:spMk id="3" creationId="{36B4140C-EDCF-1343-0E39-BE1B5A04CDCF}"/>
          </ac:spMkLst>
        </pc:spChg>
        <pc:picChg chg="add del mod">
          <ac:chgData name="Gautham Nagaraj" userId="42582a7dfd2e08c3" providerId="LiveId" clId="{34D91838-13E3-4198-A9DC-068FB8D3923A}" dt="2025-03-26T21:26:14.378" v="264" actId="478"/>
          <ac:picMkLst>
            <pc:docMk/>
            <pc:sldMk cId="3698844861" sldId="270"/>
            <ac:picMk id="6" creationId="{ECA55F64-4949-8FB7-ACCC-49CA88192E89}"/>
          </ac:picMkLst>
        </pc:picChg>
        <pc:picChg chg="add del mod">
          <ac:chgData name="Gautham Nagaraj" userId="42582a7dfd2e08c3" providerId="LiveId" clId="{34D91838-13E3-4198-A9DC-068FB8D3923A}" dt="2025-03-26T21:26:56.565" v="269" actId="478"/>
          <ac:picMkLst>
            <pc:docMk/>
            <pc:sldMk cId="3698844861" sldId="270"/>
            <ac:picMk id="8" creationId="{07509399-742D-5723-208E-0B61B7C316B6}"/>
          </ac:picMkLst>
        </pc:picChg>
        <pc:picChg chg="add mod">
          <ac:chgData name="Gautham Nagaraj" userId="42582a7dfd2e08c3" providerId="LiveId" clId="{34D91838-13E3-4198-A9DC-068FB8D3923A}" dt="2025-03-26T21:30:27.241" v="322" actId="1076"/>
          <ac:picMkLst>
            <pc:docMk/>
            <pc:sldMk cId="3698844861" sldId="270"/>
            <ac:picMk id="10" creationId="{63B84E74-17D5-1800-4DB5-E42B352E1BF1}"/>
          </ac:picMkLst>
        </pc:picChg>
        <pc:picChg chg="add del mod">
          <ac:chgData name="Gautham Nagaraj" userId="42582a7dfd2e08c3" providerId="LiveId" clId="{34D91838-13E3-4198-A9DC-068FB8D3923A}" dt="2025-03-26T21:27:23.902" v="278" actId="478"/>
          <ac:picMkLst>
            <pc:docMk/>
            <pc:sldMk cId="3698844861" sldId="270"/>
            <ac:picMk id="12" creationId="{175098C2-1FA2-7643-5EA0-331F12F1D357}"/>
          </ac:picMkLst>
        </pc:picChg>
        <pc:picChg chg="add mod">
          <ac:chgData name="Gautham Nagaraj" userId="42582a7dfd2e08c3" providerId="LiveId" clId="{34D91838-13E3-4198-A9DC-068FB8D3923A}" dt="2025-03-26T21:30:30.127" v="323" actId="1076"/>
          <ac:picMkLst>
            <pc:docMk/>
            <pc:sldMk cId="3698844861" sldId="270"/>
            <ac:picMk id="14" creationId="{7613496D-0716-B2A4-F04E-72F14CF3E230}"/>
          </ac:picMkLst>
        </pc:picChg>
      </pc:sldChg>
      <pc:sldChg chg="addSp delSp modSp new mod">
        <pc:chgData name="Gautham Nagaraj" userId="42582a7dfd2e08c3" providerId="LiveId" clId="{34D91838-13E3-4198-A9DC-068FB8D3923A}" dt="2025-03-26T21:30:53.157" v="327" actId="14100"/>
        <pc:sldMkLst>
          <pc:docMk/>
          <pc:sldMk cId="1560842493" sldId="271"/>
        </pc:sldMkLst>
        <pc:spChg chg="del">
          <ac:chgData name="Gautham Nagaraj" userId="42582a7dfd2e08c3" providerId="LiveId" clId="{34D91838-13E3-4198-A9DC-068FB8D3923A}" dt="2025-03-26T21:28:26.113" v="285" actId="21"/>
          <ac:spMkLst>
            <pc:docMk/>
            <pc:sldMk cId="1560842493" sldId="271"/>
            <ac:spMk id="2" creationId="{E3755BCC-5604-042A-0D05-4CEE6D3B67DF}"/>
          </ac:spMkLst>
        </pc:spChg>
        <pc:spChg chg="mod">
          <ac:chgData name="Gautham Nagaraj" userId="42582a7dfd2e08c3" providerId="LiveId" clId="{34D91838-13E3-4198-A9DC-068FB8D3923A}" dt="2025-03-26T21:30:53.157" v="327" actId="14100"/>
          <ac:spMkLst>
            <pc:docMk/>
            <pc:sldMk cId="1560842493" sldId="271"/>
            <ac:spMk id="3" creationId="{C1FF88E1-CB52-DC51-5790-CC2523E6F725}"/>
          </ac:spMkLst>
        </pc:spChg>
        <pc:picChg chg="add mod">
          <ac:chgData name="Gautham Nagaraj" userId="42582a7dfd2e08c3" providerId="LiveId" clId="{34D91838-13E3-4198-A9DC-068FB8D3923A}" dt="2025-03-26T21:30:40.191" v="326" actId="1076"/>
          <ac:picMkLst>
            <pc:docMk/>
            <pc:sldMk cId="1560842493" sldId="271"/>
            <ac:picMk id="6" creationId="{FD9B2CE3-9BE5-5798-4A55-0B03405A4163}"/>
          </ac:picMkLst>
        </pc:picChg>
        <pc:picChg chg="add mod">
          <ac:chgData name="Gautham Nagaraj" userId="42582a7dfd2e08c3" providerId="LiveId" clId="{34D91838-13E3-4198-A9DC-068FB8D3923A}" dt="2025-03-26T21:30:37.962" v="325" actId="1076"/>
          <ac:picMkLst>
            <pc:docMk/>
            <pc:sldMk cId="1560842493" sldId="271"/>
            <ac:picMk id="8" creationId="{4CF35AC5-649F-B75B-95D9-5F651DF7CE34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bertti\OneDrive%20-%20ENMAX%20Corporation\Desktop\Projects\UofC\DATA%20604\generation_data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Generation</a:t>
            </a:r>
            <a:r>
              <a:rPr lang="en-US" b="1" baseline="0" dirty="0"/>
              <a:t> Type (2015-2024)</a:t>
            </a:r>
            <a:endParaRPr lang="en-US" b="1" dirty="0"/>
          </a:p>
        </c:rich>
      </c:tx>
      <c:layout>
        <c:manualLayout>
          <c:xMode val="edge"/>
          <c:yMode val="edge"/>
          <c:x val="1.6396369308250048E-4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5"/>
          <c:order val="0"/>
          <c:tx>
            <c:strRef>
              <c:f>generation_data!$Q$33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generation_data!$R$27:$V$27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generation_data!$R$33:$V$33</c:f>
              <c:numCache>
                <c:formatCode>0.0%</c:formatCode>
                <c:ptCount val="5"/>
                <c:pt idx="0">
                  <c:v>3.8435383236454679E-2</c:v>
                </c:pt>
                <c:pt idx="1">
                  <c:v>3.6711771906294932E-2</c:v>
                </c:pt>
                <c:pt idx="2">
                  <c:v>4.2251656623441103E-2</c:v>
                </c:pt>
                <c:pt idx="3">
                  <c:v>4.0826179108141236E-2</c:v>
                </c:pt>
                <c:pt idx="4">
                  <c:v>3.4938792485153081E-2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78-4F94-B1FC-C548028E1D13}"/>
            </c:ext>
          </c:extLst>
        </c:ser>
        <c:ser>
          <c:idx val="3"/>
          <c:order val="1"/>
          <c:tx>
            <c:strRef>
              <c:f>generation_data!$Q$31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generation_data!$R$27:$V$27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generation_data!$R$31:$V$31</c:f>
              <c:numCache>
                <c:formatCode>0.0%</c:formatCode>
                <c:ptCount val="5"/>
                <c:pt idx="0">
                  <c:v>7.0132932530646817E-4</c:v>
                </c:pt>
                <c:pt idx="1">
                  <c:v>1.2970913916254921E-2</c:v>
                </c:pt>
                <c:pt idx="2">
                  <c:v>0.10128078523948095</c:v>
                </c:pt>
                <c:pt idx="3">
                  <c:v>4.3284514550337182E-2</c:v>
                </c:pt>
                <c:pt idx="4">
                  <c:v>4.2196370595746414E-2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78-4F94-B1FC-C548028E1D13}"/>
            </c:ext>
          </c:extLst>
        </c:ser>
        <c:ser>
          <c:idx val="4"/>
          <c:order val="2"/>
          <c:tx>
            <c:strRef>
              <c:f>generation_data!$Q$32</c:f>
              <c:strCache>
                <c:ptCount val="1"/>
                <c:pt idx="0">
                  <c:v>Hydro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generation_data!$R$27:$V$27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generation_data!$R$32:$V$32</c:f>
              <c:numCache>
                <c:formatCode>0.0%</c:formatCode>
                <c:ptCount val="5"/>
                <c:pt idx="0">
                  <c:v>5.5042220478413034E-2</c:v>
                </c:pt>
                <c:pt idx="1">
                  <c:v>6.3429699754921881E-2</c:v>
                </c:pt>
                <c:pt idx="2">
                  <c:v>5.3216028228419178E-2</c:v>
                </c:pt>
                <c:pt idx="3">
                  <c:v>6.0352057756636893E-2</c:v>
                </c:pt>
                <c:pt idx="4">
                  <c:v>4.5531106169940841E-2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78-4F94-B1FC-C548028E1D13}"/>
            </c:ext>
          </c:extLst>
        </c:ser>
        <c:ser>
          <c:idx val="2"/>
          <c:order val="3"/>
          <c:tx>
            <c:strRef>
              <c:f>generation_data!$Q$30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generation_data!$R$27:$V$27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generation_data!$R$30:$V$30</c:f>
              <c:numCache>
                <c:formatCode>0.0%</c:formatCode>
                <c:ptCount val="5"/>
                <c:pt idx="0">
                  <c:v>1.0136904994622052E-2</c:v>
                </c:pt>
                <c:pt idx="1">
                  <c:v>4.215121205340857E-2</c:v>
                </c:pt>
                <c:pt idx="2">
                  <c:v>0.10033216227024477</c:v>
                </c:pt>
                <c:pt idx="3">
                  <c:v>0.11121484671969893</c:v>
                </c:pt>
                <c:pt idx="4">
                  <c:v>0.13903944324654263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78-4F94-B1FC-C548028E1D13}"/>
            </c:ext>
          </c:extLst>
        </c:ser>
        <c:ser>
          <c:idx val="1"/>
          <c:order val="4"/>
          <c:tx>
            <c:strRef>
              <c:f>generation_data!$Q$29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generation_data!$R$27:$V$27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generation_data!$R$29:$V$29</c:f>
              <c:numCache>
                <c:formatCode>0.0%</c:formatCode>
                <c:ptCount val="5"/>
                <c:pt idx="0">
                  <c:v>0.3165966480758296</c:v>
                </c:pt>
                <c:pt idx="1">
                  <c:v>0.2875454377922671</c:v>
                </c:pt>
                <c:pt idx="2">
                  <c:v>2.6291644270315266E-2</c:v>
                </c:pt>
                <c:pt idx="3">
                  <c:v>1.4184341270421667E-2</c:v>
                </c:pt>
                <c:pt idx="4">
                  <c:v>2.2456904436369413E-2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78-4F94-B1FC-C548028E1D13}"/>
            </c:ext>
          </c:extLst>
        </c:ser>
        <c:ser>
          <c:idx val="0"/>
          <c:order val="5"/>
          <c:tx>
            <c:strRef>
              <c:f>generation_data!$Q$28</c:f>
              <c:strCache>
                <c:ptCount val="1"/>
                <c:pt idx="0">
                  <c:v>Thermal (NG)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generation_data!$R$27:$V$27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generation_data!$R$28:$V$28</c:f>
              <c:numCache>
                <c:formatCode>0.0%</c:formatCode>
                <c:ptCount val="5"/>
                <c:pt idx="0">
                  <c:v>0.57908751388937418</c:v>
                </c:pt>
                <c:pt idx="1">
                  <c:v>0.55719096457685258</c:v>
                </c:pt>
                <c:pt idx="2">
                  <c:v>0.67662772336809873</c:v>
                </c:pt>
                <c:pt idx="3">
                  <c:v>0.73013806059476405</c:v>
                </c:pt>
                <c:pt idx="4">
                  <c:v>0.71583738306624767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378-4F94-B1FC-C548028E1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84319984"/>
        <c:axId val="1584318064"/>
      </c:barChart>
      <c:catAx>
        <c:axId val="158431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4318064"/>
        <c:crosses val="autoZero"/>
        <c:auto val="1"/>
        <c:lblAlgn val="ctr"/>
        <c:lblOffset val="100"/>
        <c:noMultiLvlLbl val="0"/>
      </c:catAx>
      <c:valAx>
        <c:axId val="1584318064"/>
        <c:scaling>
          <c:orientation val="minMax"/>
          <c:max val="1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431998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A694BF-E31B-4194-8173-C73AFFB10EF0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6BBCA28-5276-4D61-AF8B-BC9EFFBBF63D}">
      <dgm:prSet phldrT="[Text]"/>
      <dgm:spPr/>
      <dgm:t>
        <a:bodyPr/>
        <a:lstStyle/>
        <a:p>
          <a:r>
            <a:rPr lang="en-US" dirty="0"/>
            <a:t>Price</a:t>
          </a:r>
          <a:endParaRPr lang="en-IN" dirty="0"/>
        </a:p>
      </dgm:t>
    </dgm:pt>
    <dgm:pt modelId="{F11A2EA6-1902-4B15-906A-E041FAAE7F8C}" type="parTrans" cxnId="{F3FEFC88-284E-422D-A3D4-D5E15CB0070F}">
      <dgm:prSet/>
      <dgm:spPr/>
      <dgm:t>
        <a:bodyPr/>
        <a:lstStyle/>
        <a:p>
          <a:endParaRPr lang="en-IN"/>
        </a:p>
      </dgm:t>
    </dgm:pt>
    <dgm:pt modelId="{754B0487-1229-4D2F-9750-F4C3AA88EB5B}" type="sibTrans" cxnId="{F3FEFC88-284E-422D-A3D4-D5E15CB0070F}">
      <dgm:prSet/>
      <dgm:spPr/>
      <dgm:t>
        <a:bodyPr/>
        <a:lstStyle/>
        <a:p>
          <a:endParaRPr lang="en-IN"/>
        </a:p>
      </dgm:t>
    </dgm:pt>
    <dgm:pt modelId="{03EC52A1-CA8B-48F9-A349-D3FFD6845494}">
      <dgm:prSet phldrT="[Text]"/>
      <dgm:spPr/>
      <dgm:t>
        <a:bodyPr/>
        <a:lstStyle/>
        <a:p>
          <a:r>
            <a:rPr lang="en-US" dirty="0"/>
            <a:t>Demand</a:t>
          </a:r>
          <a:endParaRPr lang="en-IN" dirty="0"/>
        </a:p>
      </dgm:t>
    </dgm:pt>
    <dgm:pt modelId="{D7A36E3A-B9A8-463B-A850-7E05233330AE}" type="parTrans" cxnId="{4BAC8326-47C5-45BB-8F13-1FEA39198D26}">
      <dgm:prSet/>
      <dgm:spPr/>
      <dgm:t>
        <a:bodyPr/>
        <a:lstStyle/>
        <a:p>
          <a:endParaRPr lang="en-IN"/>
        </a:p>
      </dgm:t>
    </dgm:pt>
    <dgm:pt modelId="{AC305EBF-AA98-4C4D-A4F1-4CEA4D72DC82}" type="sibTrans" cxnId="{4BAC8326-47C5-45BB-8F13-1FEA39198D26}">
      <dgm:prSet/>
      <dgm:spPr/>
      <dgm:t>
        <a:bodyPr/>
        <a:lstStyle/>
        <a:p>
          <a:endParaRPr lang="en-IN"/>
        </a:p>
      </dgm:t>
    </dgm:pt>
    <dgm:pt modelId="{50EF196C-85E1-435C-A6CA-E3A52D27105F}">
      <dgm:prSet phldrT="[Text]"/>
      <dgm:spPr/>
      <dgm:t>
        <a:bodyPr/>
        <a:lstStyle/>
        <a:p>
          <a:r>
            <a:rPr lang="en-US" dirty="0"/>
            <a:t>Temperature</a:t>
          </a:r>
          <a:endParaRPr lang="en-IN" dirty="0"/>
        </a:p>
      </dgm:t>
    </dgm:pt>
    <dgm:pt modelId="{26AA57B9-097B-47DD-8A75-EFC05257DD8B}" type="parTrans" cxnId="{B546B745-DB6D-4B1B-A2FC-387C391FC92A}">
      <dgm:prSet/>
      <dgm:spPr/>
      <dgm:t>
        <a:bodyPr/>
        <a:lstStyle/>
        <a:p>
          <a:endParaRPr lang="en-IN"/>
        </a:p>
      </dgm:t>
    </dgm:pt>
    <dgm:pt modelId="{091A238E-0C72-4A3E-B68E-C857C2A4C94F}" type="sibTrans" cxnId="{B546B745-DB6D-4B1B-A2FC-387C391FC92A}">
      <dgm:prSet/>
      <dgm:spPr/>
      <dgm:t>
        <a:bodyPr/>
        <a:lstStyle/>
        <a:p>
          <a:endParaRPr lang="en-IN"/>
        </a:p>
      </dgm:t>
    </dgm:pt>
    <dgm:pt modelId="{20BA2C77-C309-4B7E-9ACA-6C7C31E28F86}">
      <dgm:prSet phldrT="[Text]"/>
      <dgm:spPr/>
      <dgm:t>
        <a:bodyPr/>
        <a:lstStyle/>
        <a:p>
          <a:r>
            <a:rPr lang="en-US" dirty="0"/>
            <a:t>Gas Price</a:t>
          </a:r>
          <a:endParaRPr lang="en-IN" dirty="0"/>
        </a:p>
      </dgm:t>
    </dgm:pt>
    <dgm:pt modelId="{CDED4B29-0C6A-4120-981F-E0EBB120CBBB}" type="parTrans" cxnId="{21889F50-F553-4F79-9AAF-13617B49CA05}">
      <dgm:prSet/>
      <dgm:spPr/>
      <dgm:t>
        <a:bodyPr/>
        <a:lstStyle/>
        <a:p>
          <a:endParaRPr lang="en-IN"/>
        </a:p>
      </dgm:t>
    </dgm:pt>
    <dgm:pt modelId="{9D5B5FEA-B14B-4BEC-8437-2874B7B7BC56}" type="sibTrans" cxnId="{21889F50-F553-4F79-9AAF-13617B49CA05}">
      <dgm:prSet/>
      <dgm:spPr/>
      <dgm:t>
        <a:bodyPr/>
        <a:lstStyle/>
        <a:p>
          <a:endParaRPr lang="en-IN"/>
        </a:p>
      </dgm:t>
    </dgm:pt>
    <dgm:pt modelId="{B307D585-AD02-4431-89ED-E3C2783794C1}">
      <dgm:prSet/>
      <dgm:spPr/>
      <dgm:t>
        <a:bodyPr/>
        <a:lstStyle/>
        <a:p>
          <a:r>
            <a:rPr lang="en-US" dirty="0"/>
            <a:t>Generation</a:t>
          </a:r>
          <a:endParaRPr lang="en-IN" dirty="0"/>
        </a:p>
      </dgm:t>
    </dgm:pt>
    <dgm:pt modelId="{C9733C47-05D5-4AFD-9D0F-6FDD1F3F84A4}" type="parTrans" cxnId="{7674BA46-45B8-469D-83EB-E5B5721C8CA5}">
      <dgm:prSet/>
      <dgm:spPr/>
      <dgm:t>
        <a:bodyPr/>
        <a:lstStyle/>
        <a:p>
          <a:endParaRPr lang="en-IN"/>
        </a:p>
      </dgm:t>
    </dgm:pt>
    <dgm:pt modelId="{227BF6EC-9DD9-4097-98C7-919360F8E26D}" type="sibTrans" cxnId="{7674BA46-45B8-469D-83EB-E5B5721C8CA5}">
      <dgm:prSet/>
      <dgm:spPr/>
      <dgm:t>
        <a:bodyPr/>
        <a:lstStyle/>
        <a:p>
          <a:endParaRPr lang="en-IN"/>
        </a:p>
      </dgm:t>
    </dgm:pt>
    <dgm:pt modelId="{5B49F561-1AFD-4951-B3A0-EFFDBBEE9A0A}">
      <dgm:prSet/>
      <dgm:spPr/>
      <dgm:t>
        <a:bodyPr/>
        <a:lstStyle/>
        <a:p>
          <a:r>
            <a:rPr lang="en-US" dirty="0"/>
            <a:t>Population</a:t>
          </a:r>
          <a:endParaRPr lang="en-IN" dirty="0"/>
        </a:p>
      </dgm:t>
    </dgm:pt>
    <dgm:pt modelId="{229A1F36-2F4F-4260-A9C8-510398B1FF57}" type="parTrans" cxnId="{7F45DFC7-3D8E-41C1-BCE9-79231FC0043B}">
      <dgm:prSet/>
      <dgm:spPr/>
    </dgm:pt>
    <dgm:pt modelId="{F7237934-3951-44C6-B13C-311D776A6FB9}" type="sibTrans" cxnId="{7F45DFC7-3D8E-41C1-BCE9-79231FC0043B}">
      <dgm:prSet/>
      <dgm:spPr/>
    </dgm:pt>
    <dgm:pt modelId="{3E73CF93-6E0B-48EA-80C9-DDDA08E3AF3D}" type="pres">
      <dgm:prSet presAssocID="{09A694BF-E31B-4194-8173-C73AFFB10EF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CBC1EEB-8FBE-4124-8B1F-DACA857EE920}" type="pres">
      <dgm:prSet presAssocID="{96BBCA28-5276-4D61-AF8B-BC9EFFBBF63D}" presName="centerShape" presStyleLbl="node0" presStyleIdx="0" presStyleCnt="1"/>
      <dgm:spPr/>
    </dgm:pt>
    <dgm:pt modelId="{9CC0EA03-7B6E-45FA-9656-1879014DA86F}" type="pres">
      <dgm:prSet presAssocID="{D7A36E3A-B9A8-463B-A850-7E05233330AE}" presName="parTrans" presStyleLbl="bgSibTrans2D1" presStyleIdx="0" presStyleCnt="5"/>
      <dgm:spPr/>
    </dgm:pt>
    <dgm:pt modelId="{DB25EE0D-FB1A-4820-A84F-7BA0DCF701A8}" type="pres">
      <dgm:prSet presAssocID="{03EC52A1-CA8B-48F9-A349-D3FFD6845494}" presName="node" presStyleLbl="node1" presStyleIdx="0" presStyleCnt="5">
        <dgm:presLayoutVars>
          <dgm:bulletEnabled val="1"/>
        </dgm:presLayoutVars>
      </dgm:prSet>
      <dgm:spPr/>
    </dgm:pt>
    <dgm:pt modelId="{C033710C-FBA9-4612-A979-DBBFD2FDAF48}" type="pres">
      <dgm:prSet presAssocID="{26AA57B9-097B-47DD-8A75-EFC05257DD8B}" presName="parTrans" presStyleLbl="bgSibTrans2D1" presStyleIdx="1" presStyleCnt="5"/>
      <dgm:spPr/>
    </dgm:pt>
    <dgm:pt modelId="{A6150D1F-5B97-42C3-91CE-D898E60FE0BB}" type="pres">
      <dgm:prSet presAssocID="{50EF196C-85E1-435C-A6CA-E3A52D27105F}" presName="node" presStyleLbl="node1" presStyleIdx="1" presStyleCnt="5">
        <dgm:presLayoutVars>
          <dgm:bulletEnabled val="1"/>
        </dgm:presLayoutVars>
      </dgm:prSet>
      <dgm:spPr/>
    </dgm:pt>
    <dgm:pt modelId="{9DFCF696-075F-445B-B3E5-C48E6DB8894D}" type="pres">
      <dgm:prSet presAssocID="{CDED4B29-0C6A-4120-981F-E0EBB120CBBB}" presName="parTrans" presStyleLbl="bgSibTrans2D1" presStyleIdx="2" presStyleCnt="5"/>
      <dgm:spPr/>
    </dgm:pt>
    <dgm:pt modelId="{996C32D0-FF0E-45B5-9D6F-67FC5F79E0E0}" type="pres">
      <dgm:prSet presAssocID="{20BA2C77-C309-4B7E-9ACA-6C7C31E28F86}" presName="node" presStyleLbl="node1" presStyleIdx="2" presStyleCnt="5">
        <dgm:presLayoutVars>
          <dgm:bulletEnabled val="1"/>
        </dgm:presLayoutVars>
      </dgm:prSet>
      <dgm:spPr/>
    </dgm:pt>
    <dgm:pt modelId="{7916A645-8AF9-4A21-8463-950CB0F8B5DA}" type="pres">
      <dgm:prSet presAssocID="{C9733C47-05D5-4AFD-9D0F-6FDD1F3F84A4}" presName="parTrans" presStyleLbl="bgSibTrans2D1" presStyleIdx="3" presStyleCnt="5"/>
      <dgm:spPr/>
    </dgm:pt>
    <dgm:pt modelId="{7586EB83-09FF-4C94-BC12-29CF77DDC1AA}" type="pres">
      <dgm:prSet presAssocID="{B307D585-AD02-4431-89ED-E3C2783794C1}" presName="node" presStyleLbl="node1" presStyleIdx="3" presStyleCnt="5">
        <dgm:presLayoutVars>
          <dgm:bulletEnabled val="1"/>
        </dgm:presLayoutVars>
      </dgm:prSet>
      <dgm:spPr/>
    </dgm:pt>
    <dgm:pt modelId="{F4BD996A-18D7-43AF-AFFB-0E14C0F2D55C}" type="pres">
      <dgm:prSet presAssocID="{229A1F36-2F4F-4260-A9C8-510398B1FF57}" presName="parTrans" presStyleLbl="bgSibTrans2D1" presStyleIdx="4" presStyleCnt="5"/>
      <dgm:spPr/>
    </dgm:pt>
    <dgm:pt modelId="{9BCF24D6-1475-4CB3-8721-DF6FE7910013}" type="pres">
      <dgm:prSet presAssocID="{5B49F561-1AFD-4951-B3A0-EFFDBBEE9A0A}" presName="node" presStyleLbl="node1" presStyleIdx="4" presStyleCnt="5">
        <dgm:presLayoutVars>
          <dgm:bulletEnabled val="1"/>
        </dgm:presLayoutVars>
      </dgm:prSet>
      <dgm:spPr/>
    </dgm:pt>
  </dgm:ptLst>
  <dgm:cxnLst>
    <dgm:cxn modelId="{5DAD4B08-ED50-458E-957F-B8F9EB1C3769}" type="presOf" srcId="{26AA57B9-097B-47DD-8A75-EFC05257DD8B}" destId="{C033710C-FBA9-4612-A979-DBBFD2FDAF48}" srcOrd="0" destOrd="0" presId="urn:microsoft.com/office/officeart/2005/8/layout/radial4"/>
    <dgm:cxn modelId="{9C42D30C-0652-4062-8827-B892F6255D7D}" type="presOf" srcId="{229A1F36-2F4F-4260-A9C8-510398B1FF57}" destId="{F4BD996A-18D7-43AF-AFFB-0E14C0F2D55C}" srcOrd="0" destOrd="0" presId="urn:microsoft.com/office/officeart/2005/8/layout/radial4"/>
    <dgm:cxn modelId="{4BAC8326-47C5-45BB-8F13-1FEA39198D26}" srcId="{96BBCA28-5276-4D61-AF8B-BC9EFFBBF63D}" destId="{03EC52A1-CA8B-48F9-A349-D3FFD6845494}" srcOrd="0" destOrd="0" parTransId="{D7A36E3A-B9A8-463B-A850-7E05233330AE}" sibTransId="{AC305EBF-AA98-4C4D-A4F1-4CEA4D72DC82}"/>
    <dgm:cxn modelId="{73C1FC2C-9C6C-4734-880F-200341FFC0A5}" type="presOf" srcId="{20BA2C77-C309-4B7E-9ACA-6C7C31E28F86}" destId="{996C32D0-FF0E-45B5-9D6F-67FC5F79E0E0}" srcOrd="0" destOrd="0" presId="urn:microsoft.com/office/officeart/2005/8/layout/radial4"/>
    <dgm:cxn modelId="{F234CC3B-281A-4449-AB44-3289FAEB550B}" type="presOf" srcId="{96BBCA28-5276-4D61-AF8B-BC9EFFBBF63D}" destId="{2CBC1EEB-8FBE-4124-8B1F-DACA857EE920}" srcOrd="0" destOrd="0" presId="urn:microsoft.com/office/officeart/2005/8/layout/radial4"/>
    <dgm:cxn modelId="{B546B745-DB6D-4B1B-A2FC-387C391FC92A}" srcId="{96BBCA28-5276-4D61-AF8B-BC9EFFBBF63D}" destId="{50EF196C-85E1-435C-A6CA-E3A52D27105F}" srcOrd="1" destOrd="0" parTransId="{26AA57B9-097B-47DD-8A75-EFC05257DD8B}" sibTransId="{091A238E-0C72-4A3E-B68E-C857C2A4C94F}"/>
    <dgm:cxn modelId="{7674BA46-45B8-469D-83EB-E5B5721C8CA5}" srcId="{96BBCA28-5276-4D61-AF8B-BC9EFFBBF63D}" destId="{B307D585-AD02-4431-89ED-E3C2783794C1}" srcOrd="3" destOrd="0" parTransId="{C9733C47-05D5-4AFD-9D0F-6FDD1F3F84A4}" sibTransId="{227BF6EC-9DD9-4097-98C7-919360F8E26D}"/>
    <dgm:cxn modelId="{2F976248-3D87-46CC-BEC6-86F8B820DBF0}" type="presOf" srcId="{C9733C47-05D5-4AFD-9D0F-6FDD1F3F84A4}" destId="{7916A645-8AF9-4A21-8463-950CB0F8B5DA}" srcOrd="0" destOrd="0" presId="urn:microsoft.com/office/officeart/2005/8/layout/radial4"/>
    <dgm:cxn modelId="{21889F50-F553-4F79-9AAF-13617B49CA05}" srcId="{96BBCA28-5276-4D61-AF8B-BC9EFFBBF63D}" destId="{20BA2C77-C309-4B7E-9ACA-6C7C31E28F86}" srcOrd="2" destOrd="0" parTransId="{CDED4B29-0C6A-4120-981F-E0EBB120CBBB}" sibTransId="{9D5B5FEA-B14B-4BEC-8437-2874B7B7BC56}"/>
    <dgm:cxn modelId="{CAE5FB7C-7BB2-487F-AD44-ADDC8B577A01}" type="presOf" srcId="{B307D585-AD02-4431-89ED-E3C2783794C1}" destId="{7586EB83-09FF-4C94-BC12-29CF77DDC1AA}" srcOrd="0" destOrd="0" presId="urn:microsoft.com/office/officeart/2005/8/layout/radial4"/>
    <dgm:cxn modelId="{F3FEFC88-284E-422D-A3D4-D5E15CB0070F}" srcId="{09A694BF-E31B-4194-8173-C73AFFB10EF0}" destId="{96BBCA28-5276-4D61-AF8B-BC9EFFBBF63D}" srcOrd="0" destOrd="0" parTransId="{F11A2EA6-1902-4B15-906A-E041FAAE7F8C}" sibTransId="{754B0487-1229-4D2F-9750-F4C3AA88EB5B}"/>
    <dgm:cxn modelId="{B73193A8-01CD-4393-90B0-6969429E8743}" type="presOf" srcId="{D7A36E3A-B9A8-463B-A850-7E05233330AE}" destId="{9CC0EA03-7B6E-45FA-9656-1879014DA86F}" srcOrd="0" destOrd="0" presId="urn:microsoft.com/office/officeart/2005/8/layout/radial4"/>
    <dgm:cxn modelId="{70A60FAE-7BC4-42A3-8F83-B45FE7C2A9F0}" type="presOf" srcId="{03EC52A1-CA8B-48F9-A349-D3FFD6845494}" destId="{DB25EE0D-FB1A-4820-A84F-7BA0DCF701A8}" srcOrd="0" destOrd="0" presId="urn:microsoft.com/office/officeart/2005/8/layout/radial4"/>
    <dgm:cxn modelId="{37BA8FBA-64AB-4636-AC6A-07592F1E880A}" type="presOf" srcId="{5B49F561-1AFD-4951-B3A0-EFFDBBEE9A0A}" destId="{9BCF24D6-1475-4CB3-8721-DF6FE7910013}" srcOrd="0" destOrd="0" presId="urn:microsoft.com/office/officeart/2005/8/layout/radial4"/>
    <dgm:cxn modelId="{FB8CD5BB-2638-4BE0-B4BA-06EA5E41D29C}" type="presOf" srcId="{CDED4B29-0C6A-4120-981F-E0EBB120CBBB}" destId="{9DFCF696-075F-445B-B3E5-C48E6DB8894D}" srcOrd="0" destOrd="0" presId="urn:microsoft.com/office/officeart/2005/8/layout/radial4"/>
    <dgm:cxn modelId="{7F45DFC7-3D8E-41C1-BCE9-79231FC0043B}" srcId="{96BBCA28-5276-4D61-AF8B-BC9EFFBBF63D}" destId="{5B49F561-1AFD-4951-B3A0-EFFDBBEE9A0A}" srcOrd="4" destOrd="0" parTransId="{229A1F36-2F4F-4260-A9C8-510398B1FF57}" sibTransId="{F7237934-3951-44C6-B13C-311D776A6FB9}"/>
    <dgm:cxn modelId="{58BB7BF7-11AC-4FEC-B35A-E16669570EB7}" type="presOf" srcId="{50EF196C-85E1-435C-A6CA-E3A52D27105F}" destId="{A6150D1F-5B97-42C3-91CE-D898E60FE0BB}" srcOrd="0" destOrd="0" presId="urn:microsoft.com/office/officeart/2005/8/layout/radial4"/>
    <dgm:cxn modelId="{1EBC2CF8-48D6-4254-B2BE-3114C1CE4E81}" type="presOf" srcId="{09A694BF-E31B-4194-8173-C73AFFB10EF0}" destId="{3E73CF93-6E0B-48EA-80C9-DDDA08E3AF3D}" srcOrd="0" destOrd="0" presId="urn:microsoft.com/office/officeart/2005/8/layout/radial4"/>
    <dgm:cxn modelId="{D1D19729-9809-4A8E-BC40-9EF711CF1EC7}" type="presParOf" srcId="{3E73CF93-6E0B-48EA-80C9-DDDA08E3AF3D}" destId="{2CBC1EEB-8FBE-4124-8B1F-DACA857EE920}" srcOrd="0" destOrd="0" presId="urn:microsoft.com/office/officeart/2005/8/layout/radial4"/>
    <dgm:cxn modelId="{506B0BE8-B8C3-4AEE-95A3-CC30BF9F502F}" type="presParOf" srcId="{3E73CF93-6E0B-48EA-80C9-DDDA08E3AF3D}" destId="{9CC0EA03-7B6E-45FA-9656-1879014DA86F}" srcOrd="1" destOrd="0" presId="urn:microsoft.com/office/officeart/2005/8/layout/radial4"/>
    <dgm:cxn modelId="{35C28418-F9ED-42C8-B0BD-23C7FD407E5C}" type="presParOf" srcId="{3E73CF93-6E0B-48EA-80C9-DDDA08E3AF3D}" destId="{DB25EE0D-FB1A-4820-A84F-7BA0DCF701A8}" srcOrd="2" destOrd="0" presId="urn:microsoft.com/office/officeart/2005/8/layout/radial4"/>
    <dgm:cxn modelId="{B02331E8-1135-4B95-81AC-B9FA8C6E10C4}" type="presParOf" srcId="{3E73CF93-6E0B-48EA-80C9-DDDA08E3AF3D}" destId="{C033710C-FBA9-4612-A979-DBBFD2FDAF48}" srcOrd="3" destOrd="0" presId="urn:microsoft.com/office/officeart/2005/8/layout/radial4"/>
    <dgm:cxn modelId="{E68A04CE-7809-40EA-83B3-E5B1CC513FB8}" type="presParOf" srcId="{3E73CF93-6E0B-48EA-80C9-DDDA08E3AF3D}" destId="{A6150D1F-5B97-42C3-91CE-D898E60FE0BB}" srcOrd="4" destOrd="0" presId="urn:microsoft.com/office/officeart/2005/8/layout/radial4"/>
    <dgm:cxn modelId="{17155837-555B-4F1B-B51D-5C4DEB78C0C4}" type="presParOf" srcId="{3E73CF93-6E0B-48EA-80C9-DDDA08E3AF3D}" destId="{9DFCF696-075F-445B-B3E5-C48E6DB8894D}" srcOrd="5" destOrd="0" presId="urn:microsoft.com/office/officeart/2005/8/layout/radial4"/>
    <dgm:cxn modelId="{DCA3214C-EA5C-4985-9C2B-E0F903C77251}" type="presParOf" srcId="{3E73CF93-6E0B-48EA-80C9-DDDA08E3AF3D}" destId="{996C32D0-FF0E-45B5-9D6F-67FC5F79E0E0}" srcOrd="6" destOrd="0" presId="urn:microsoft.com/office/officeart/2005/8/layout/radial4"/>
    <dgm:cxn modelId="{0C64D8EE-A761-4262-BD1C-7B0FCD2CE064}" type="presParOf" srcId="{3E73CF93-6E0B-48EA-80C9-DDDA08E3AF3D}" destId="{7916A645-8AF9-4A21-8463-950CB0F8B5DA}" srcOrd="7" destOrd="0" presId="urn:microsoft.com/office/officeart/2005/8/layout/radial4"/>
    <dgm:cxn modelId="{C7A86A53-19B1-435B-AEF6-D1D0ECCB677E}" type="presParOf" srcId="{3E73CF93-6E0B-48EA-80C9-DDDA08E3AF3D}" destId="{7586EB83-09FF-4C94-BC12-29CF77DDC1AA}" srcOrd="8" destOrd="0" presId="urn:microsoft.com/office/officeart/2005/8/layout/radial4"/>
    <dgm:cxn modelId="{51F8370F-20B3-4CFB-8C8C-DD1B5B98F7B9}" type="presParOf" srcId="{3E73CF93-6E0B-48EA-80C9-DDDA08E3AF3D}" destId="{F4BD996A-18D7-43AF-AFFB-0E14C0F2D55C}" srcOrd="9" destOrd="0" presId="urn:microsoft.com/office/officeart/2005/8/layout/radial4"/>
    <dgm:cxn modelId="{E6719946-58F0-4605-A7B8-2D453920EC1B}" type="presParOf" srcId="{3E73CF93-6E0B-48EA-80C9-DDDA08E3AF3D}" destId="{9BCF24D6-1475-4CB3-8721-DF6FE7910013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C1EEB-8FBE-4124-8B1F-DACA857EE920}">
      <dsp:nvSpPr>
        <dsp:cNvPr id="0" name=""/>
        <dsp:cNvSpPr/>
      </dsp:nvSpPr>
      <dsp:spPr>
        <a:xfrm>
          <a:off x="2679690" y="2577709"/>
          <a:ext cx="1857121" cy="1857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Price</a:t>
          </a:r>
          <a:endParaRPr lang="en-IN" sz="4800" kern="1200" dirty="0"/>
        </a:p>
      </dsp:txBody>
      <dsp:txXfrm>
        <a:off x="2951659" y="2849678"/>
        <a:ext cx="1313183" cy="1313183"/>
      </dsp:txXfrm>
    </dsp:sp>
    <dsp:sp modelId="{9CC0EA03-7B6E-45FA-9656-1879014DA86F}">
      <dsp:nvSpPr>
        <dsp:cNvPr id="0" name=""/>
        <dsp:cNvSpPr/>
      </dsp:nvSpPr>
      <dsp:spPr>
        <a:xfrm rot="10800000">
          <a:off x="882685" y="3241630"/>
          <a:ext cx="1698169" cy="52927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5EE0D-FB1A-4820-A84F-7BA0DCF701A8}">
      <dsp:nvSpPr>
        <dsp:cNvPr id="0" name=""/>
        <dsp:cNvSpPr/>
      </dsp:nvSpPr>
      <dsp:spPr>
        <a:xfrm>
          <a:off x="552" y="2800564"/>
          <a:ext cx="1764265" cy="1411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Demand</a:t>
          </a:r>
          <a:endParaRPr lang="en-IN" sz="2400" kern="1200" dirty="0"/>
        </a:p>
      </dsp:txBody>
      <dsp:txXfrm>
        <a:off x="41891" y="2841903"/>
        <a:ext cx="1681587" cy="1328734"/>
      </dsp:txXfrm>
    </dsp:sp>
    <dsp:sp modelId="{C033710C-FBA9-4612-A979-DBBFD2FDAF48}">
      <dsp:nvSpPr>
        <dsp:cNvPr id="0" name=""/>
        <dsp:cNvSpPr/>
      </dsp:nvSpPr>
      <dsp:spPr>
        <a:xfrm rot="13500000">
          <a:off x="1432294" y="1914758"/>
          <a:ext cx="1698169" cy="52927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50D1F-5B97-42C3-91CE-D898E60FE0BB}">
      <dsp:nvSpPr>
        <dsp:cNvPr id="0" name=""/>
        <dsp:cNvSpPr/>
      </dsp:nvSpPr>
      <dsp:spPr>
        <a:xfrm>
          <a:off x="798852" y="873298"/>
          <a:ext cx="1764265" cy="1411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Temperature</a:t>
          </a:r>
          <a:endParaRPr lang="en-IN" sz="2400" kern="1200" dirty="0"/>
        </a:p>
      </dsp:txBody>
      <dsp:txXfrm>
        <a:off x="840191" y="914637"/>
        <a:ext cx="1681587" cy="1328734"/>
      </dsp:txXfrm>
    </dsp:sp>
    <dsp:sp modelId="{9DFCF696-075F-445B-B3E5-C48E6DB8894D}">
      <dsp:nvSpPr>
        <dsp:cNvPr id="0" name=""/>
        <dsp:cNvSpPr/>
      </dsp:nvSpPr>
      <dsp:spPr>
        <a:xfrm rot="16200000">
          <a:off x="2759166" y="1365149"/>
          <a:ext cx="1698169" cy="52927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C32D0-FF0E-45B5-9D6F-67FC5F79E0E0}">
      <dsp:nvSpPr>
        <dsp:cNvPr id="0" name=""/>
        <dsp:cNvSpPr/>
      </dsp:nvSpPr>
      <dsp:spPr>
        <a:xfrm>
          <a:off x="2726118" y="74998"/>
          <a:ext cx="1764265" cy="1411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Gas Price</a:t>
          </a:r>
          <a:endParaRPr lang="en-IN" sz="2400" kern="1200" dirty="0"/>
        </a:p>
      </dsp:txBody>
      <dsp:txXfrm>
        <a:off x="2767457" y="116337"/>
        <a:ext cx="1681587" cy="1328734"/>
      </dsp:txXfrm>
    </dsp:sp>
    <dsp:sp modelId="{7916A645-8AF9-4A21-8463-950CB0F8B5DA}">
      <dsp:nvSpPr>
        <dsp:cNvPr id="0" name=""/>
        <dsp:cNvSpPr/>
      </dsp:nvSpPr>
      <dsp:spPr>
        <a:xfrm rot="18900000">
          <a:off x="4086039" y="1914758"/>
          <a:ext cx="1698169" cy="52927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6EB83-09FF-4C94-BC12-29CF77DDC1AA}">
      <dsp:nvSpPr>
        <dsp:cNvPr id="0" name=""/>
        <dsp:cNvSpPr/>
      </dsp:nvSpPr>
      <dsp:spPr>
        <a:xfrm>
          <a:off x="4653384" y="873298"/>
          <a:ext cx="1764265" cy="1411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Generation</a:t>
          </a:r>
          <a:endParaRPr lang="en-IN" sz="2400" kern="1200" dirty="0"/>
        </a:p>
      </dsp:txBody>
      <dsp:txXfrm>
        <a:off x="4694723" y="914637"/>
        <a:ext cx="1681587" cy="1328734"/>
      </dsp:txXfrm>
    </dsp:sp>
    <dsp:sp modelId="{F4BD996A-18D7-43AF-AFFB-0E14C0F2D55C}">
      <dsp:nvSpPr>
        <dsp:cNvPr id="0" name=""/>
        <dsp:cNvSpPr/>
      </dsp:nvSpPr>
      <dsp:spPr>
        <a:xfrm>
          <a:off x="4635647" y="3241630"/>
          <a:ext cx="1698169" cy="52927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F24D6-1475-4CB3-8721-DF6FE7910013}">
      <dsp:nvSpPr>
        <dsp:cNvPr id="0" name=""/>
        <dsp:cNvSpPr/>
      </dsp:nvSpPr>
      <dsp:spPr>
        <a:xfrm>
          <a:off x="5451684" y="2800564"/>
          <a:ext cx="1764265" cy="1411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Population</a:t>
          </a:r>
          <a:endParaRPr lang="en-IN" sz="2400" kern="1200" dirty="0"/>
        </a:p>
      </dsp:txBody>
      <dsp:txXfrm>
        <a:off x="5493023" y="2841903"/>
        <a:ext cx="1681587" cy="1328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ACE1-0839-DD4E-8A8D-815B08AED9A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8301-8E47-694C-884E-80E9D526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909" y="1051240"/>
            <a:ext cx="6896023" cy="234268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600"/>
              </a:lnSpc>
              <a:defRPr sz="60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1909" y="3393929"/>
            <a:ext cx="7841294" cy="7149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1909" y="4398461"/>
            <a:ext cx="7841294" cy="112568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/>
              <a:t>Presenter’s title / additional designations</a:t>
            </a:r>
            <a:br>
              <a:rPr lang="en-US" dirty="0"/>
            </a:br>
            <a:r>
              <a:rPr lang="en-US" dirty="0"/>
              <a:t>Faculty of / Department of / additional designations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E4B113-E638-B640-8F48-252058659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1909" y="5530413"/>
            <a:ext cx="6586081" cy="52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0296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32D7-DB76-2847-ADA0-EE213BE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C696-28D5-3D4E-90D5-168D3804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773195"/>
            <a:ext cx="9724372" cy="4115669"/>
          </a:xfrm>
          <a:prstGeom prst="rect">
            <a:avLst/>
          </a:prstGeom>
        </p:spPr>
        <p:txBody>
          <a:bodyPr/>
          <a:lstStyle>
            <a:lvl1pPr>
              <a:buClr>
                <a:srgbClr val="E32726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994-38BD-EA48-95B9-EDE63B92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F3C08-C8EC-DC49-84E7-B1877436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F4FC2F-942D-6942-8D5B-4C7E0E52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3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73EC9B2-3D79-EB42-BD2D-94A59CE5C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7853A-8D09-4041-8FD1-E58DBA8A7F0F}"/>
              </a:ext>
            </a:extLst>
          </p:cNvPr>
          <p:cNvCxnSpPr/>
          <p:nvPr userDrawn="1"/>
        </p:nvCxnSpPr>
        <p:spPr>
          <a:xfrm>
            <a:off x="6096000" y="1551313"/>
            <a:ext cx="0" cy="465342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50DEA-27DF-7C4E-AD5F-60F66ED518A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4A5085-02C7-C249-93B0-AC3B6836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CF9A15B-E143-B248-AA59-A2937022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16D1F-0C29-D446-876E-DD6C096D73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8280" y="1168640"/>
            <a:ext cx="8749432" cy="462142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6200"/>
              </a:lnSpc>
              <a:spcBef>
                <a:spcPts val="0"/>
              </a:spcBef>
              <a:buNone/>
              <a:defRPr sz="6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This slide is for one big, bold statement. Bullet points can’t compete! </a:t>
            </a:r>
          </a:p>
        </p:txBody>
      </p:sp>
    </p:spTree>
    <p:extLst>
      <p:ext uri="{BB962C8B-B14F-4D97-AF65-F5344CB8AC3E}">
        <p14:creationId xmlns:p14="http://schemas.microsoft.com/office/powerpoint/2010/main" val="3997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78279" y="1577649"/>
            <a:ext cx="8418337" cy="19284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800"/>
              </a:lnSpc>
              <a:defRPr sz="3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Thank you for attending! </a:t>
            </a:r>
            <a:br>
              <a:rPr lang="en-US" dirty="0"/>
            </a:br>
            <a:r>
              <a:rPr lang="en-US" dirty="0"/>
              <a:t>and/or other concluding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78279" y="3521318"/>
            <a:ext cx="8418337" cy="7809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For more information go to </a:t>
            </a:r>
            <a:r>
              <a:rPr lang="en-US" dirty="0" err="1"/>
              <a:t>ucalgary.ca</a:t>
            </a:r>
            <a:r>
              <a:rPr lang="en-US" dirty="0"/>
              <a:t>/</a:t>
            </a:r>
            <a:r>
              <a:rPr lang="en-US" dirty="0" err="1"/>
              <a:t>webaddress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8279" y="4317516"/>
            <a:ext cx="8418337" cy="146887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 err="1"/>
              <a:t>presentersemail@ucalgary.ca</a:t>
            </a:r>
            <a:br>
              <a:rPr lang="en-US" dirty="0"/>
            </a:br>
            <a:r>
              <a:rPr lang="en-US" dirty="0"/>
              <a:t>Phone number / Twitter handle / additional contact info</a:t>
            </a:r>
          </a:p>
        </p:txBody>
      </p:sp>
    </p:spTree>
    <p:extLst>
      <p:ext uri="{BB962C8B-B14F-4D97-AF65-F5344CB8AC3E}">
        <p14:creationId xmlns:p14="http://schemas.microsoft.com/office/powerpoint/2010/main" val="179591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4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BE60-5D8F-6C41-A517-E4C3855CFB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Electricity Production, Use and Price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28DA3-9E9C-174C-A096-933EB68D54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 influencing Alberta’s Spot Market Electricity Prices,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Grid Load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Production Mix</a:t>
            </a:r>
            <a:endParaRPr lang="en-US" sz="2000" dirty="0"/>
          </a:p>
          <a:p>
            <a:r>
              <a:rPr lang="en-US" dirty="0"/>
              <a:t>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932DF-6BEC-8349-9E3C-C74C19687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1909" y="4398461"/>
            <a:ext cx="7841294" cy="1697539"/>
          </a:xfrm>
        </p:spPr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Daniela Mañozca Cruz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Gautham Nagaraj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Jeremy Reid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Joao Ricardo Bertti Targino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1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2AD0-B422-9948-BB03-1443DE90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ABD6-B0BD-B94F-9DA7-56F8E322B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371165"/>
            <a:ext cx="9724372" cy="411566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b="0" i="0" dirty="0">
                <a:effectLst/>
                <a:latin typeface="system-ui"/>
              </a:rPr>
              <a:t>Alberta established a deregulated electricity market in 1996 with the Electric Utilities Act (EUA), creating the possibility for private companies to compete for customers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The AESO also collects and evaluates industry public data and will be the primary data source for this project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The </a:t>
            </a:r>
            <a:r>
              <a:rPr lang="en-US" sz="1800" b="1" dirty="0"/>
              <a:t>Balancing Pool </a:t>
            </a:r>
            <a:r>
              <a:rPr lang="en-US" sz="1800" dirty="0"/>
              <a:t>administers a wholesale electricity market or ‘spot market’.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The Power Pool matches the lowest-priced supply with demand by establishing a pool price that is revised hourly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FA3F3-625E-CA46-8A0A-6A0AF37C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65DF-767B-24D1-1E1D-14E4FF0C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85C5-5A29-46EE-605E-6B2194CEA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1800" b="0" i="0" dirty="0">
                <a:effectLst/>
                <a:latin typeface="system-ui"/>
              </a:rPr>
              <a:t>The market has multiple private providers such as ENMAX, ATCO, ENCOR and Direct Energy</a:t>
            </a:r>
          </a:p>
          <a:p>
            <a:pPr algn="just"/>
            <a:r>
              <a:rPr lang="en-US" sz="1800" dirty="0"/>
              <a:t>Companies have the option of generating their power or buying short-term contracts on the spot market, or a mix of both.</a:t>
            </a:r>
          </a:p>
          <a:p>
            <a:pPr algn="just"/>
            <a:r>
              <a:rPr lang="en-US" sz="1800" dirty="0"/>
              <a:t>The power supplied to the spot market is primarily generated by private or public entities.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C625D-9F02-E6D9-A336-9651482E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48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0AB8E-7B40-9F18-0EC7-4E112652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	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0C05-3BC4-DD84-FAA2-902007B1A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871037"/>
            <a:ext cx="9724372" cy="2804160"/>
          </a:xfrm>
        </p:spPr>
        <p:txBody>
          <a:bodyPr/>
          <a:lstStyle/>
          <a:p>
            <a:pPr algn="just"/>
            <a:r>
              <a:rPr lang="en-IN" sz="2000" dirty="0"/>
              <a:t>Study the relationship between a group of variables and spot prices based on different factors such as </a:t>
            </a:r>
            <a:r>
              <a:rPr lang="en-US" sz="2000" dirty="0"/>
              <a:t>weather, population growth, type of generation and demand.</a:t>
            </a:r>
          </a:p>
          <a:p>
            <a:pPr algn="just"/>
            <a:r>
              <a:rPr lang="en-IN" sz="2000" dirty="0"/>
              <a:t>Develop a time-series model that can predict with certain confidence the spot price for next hours.</a:t>
            </a:r>
          </a:p>
          <a:p>
            <a:pPr algn="just"/>
            <a:r>
              <a:rPr lang="en-IN" sz="2000" dirty="0"/>
              <a:t>Understand the different energy sources and the amount of electricity generated from each of these 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5C989-193C-3FDB-0D2E-F1FCBE3D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368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750A-DAA9-5989-0F16-EF0A1E7D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gained from each dataset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B759-C44B-42FC-9EEE-77CADB8D8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2140085"/>
            <a:ext cx="10977100" cy="3748779"/>
          </a:xfrm>
        </p:spPr>
        <p:txBody>
          <a:bodyPr/>
          <a:lstStyle/>
          <a:p>
            <a:pPr algn="just"/>
            <a:r>
              <a:rPr lang="en-US" sz="1800" b="1" dirty="0"/>
              <a:t>Temperature data:</a:t>
            </a:r>
            <a:r>
              <a:rPr lang="en-US" sz="1800" dirty="0"/>
              <a:t> this dataset when joined with the generation data gives us some insights on what the generation value is based on the temperature</a:t>
            </a:r>
          </a:p>
          <a:p>
            <a:pPr algn="just"/>
            <a:r>
              <a:rPr lang="en-IN" sz="1800" dirty="0"/>
              <a:t>We can combine 2 datasets using an </a:t>
            </a:r>
            <a:r>
              <a:rPr lang="en-IN" sz="1800" b="1" i="1" dirty="0"/>
              <a:t>inner join </a:t>
            </a:r>
            <a:r>
              <a:rPr lang="en-IN" sz="1800" dirty="0"/>
              <a:t>based on the date/hour column</a:t>
            </a:r>
          </a:p>
          <a:p>
            <a:pPr algn="just"/>
            <a:r>
              <a:rPr lang="en-IN" sz="1800" dirty="0"/>
              <a:t>Ordering the results by temperature, we can see which days have the highest electricity generated compared to the lowest temperatures</a:t>
            </a:r>
          </a:p>
          <a:p>
            <a:pPr algn="just"/>
            <a:r>
              <a:rPr lang="en-IN" sz="1800" dirty="0"/>
              <a:t>We are expected to see a rise in electricity generated when the temperatures increase, as air-conditioners and humidifiers are turned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76D7A-D9D0-544A-F7AE-BBD35D10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9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D97D-0292-F4F4-E3BC-94BFD5797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887" y="2131137"/>
            <a:ext cx="4663477" cy="5421936"/>
          </a:xfrm>
        </p:spPr>
        <p:txBody>
          <a:bodyPr/>
          <a:lstStyle/>
          <a:p>
            <a:pPr algn="just"/>
            <a:r>
              <a:rPr lang="en-US" sz="1800" dirty="0"/>
              <a:t>This indicates that the relationship </a:t>
            </a:r>
            <a:r>
              <a:rPr lang="en-US" sz="1800" b="1" dirty="0"/>
              <a:t>is not linear </a:t>
            </a:r>
          </a:p>
          <a:p>
            <a:pPr algn="just"/>
            <a:r>
              <a:rPr lang="en-IN" sz="1800" dirty="0"/>
              <a:t>If we were to build a regression model, we would need to look at non-linear models or exclude the temperature variable due to non-linearity</a:t>
            </a:r>
          </a:p>
          <a:p>
            <a:pPr algn="just"/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05CBE-BD42-D6AA-7874-9420A4C76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89FBF-1934-0B57-EF44-BB45263C2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63968"/>
            <a:ext cx="9724372" cy="1033398"/>
          </a:xfrm>
        </p:spPr>
        <p:txBody>
          <a:bodyPr/>
          <a:lstStyle/>
          <a:p>
            <a:r>
              <a:rPr lang="en-US" dirty="0"/>
              <a:t>Temperature vs Generation (MWh)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4D5CE-6640-9F2E-7605-E4ADE5D59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9617"/>
            <a:ext cx="7334504" cy="376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62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89D0-CCAF-3AC6-9CAE-4B4291FDE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Energy generation for Alberta’s Coldest and Warmest months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4140C-EDCF-1343-0E39-BE1B5A04C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9" y="2149813"/>
            <a:ext cx="6003542" cy="3739051"/>
          </a:xfrm>
        </p:spPr>
        <p:txBody>
          <a:bodyPr/>
          <a:lstStyle/>
          <a:p>
            <a:r>
              <a:rPr lang="en-US" sz="1600" dirty="0"/>
              <a:t>Filtering out the rows to include the coldest month that is, September to February </a:t>
            </a:r>
          </a:p>
          <a:p>
            <a:r>
              <a:rPr lang="en-US" sz="1600" dirty="0"/>
              <a:t>We compare the temperature and electricity generated for these </a:t>
            </a:r>
            <a:r>
              <a:rPr lang="en-US" sz="1600" b="1" dirty="0"/>
              <a:t>coldest months</a:t>
            </a:r>
            <a:endParaRPr lang="en-IN" sz="1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DB215-9D70-835E-9997-68320FB1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B84E74-17D5-1800-4DB5-E42B352E1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398193" cy="25892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13496D-0716-B2A4-F04E-72F14CF3E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584" y="3236572"/>
            <a:ext cx="5202847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4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F88E1-CB52-DC51-5790-CC2523E6F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9" y="1196503"/>
            <a:ext cx="6519108" cy="4692362"/>
          </a:xfrm>
        </p:spPr>
        <p:txBody>
          <a:bodyPr/>
          <a:lstStyle/>
          <a:p>
            <a:r>
              <a:rPr lang="en-US" sz="1600" dirty="0"/>
              <a:t>Filtering out the rows to include the warmest month that is, April to July </a:t>
            </a:r>
          </a:p>
          <a:p>
            <a:r>
              <a:rPr lang="en-US" sz="1600" dirty="0"/>
              <a:t>We compare the temperature and electricity generated for these </a:t>
            </a:r>
            <a:r>
              <a:rPr lang="en-US" sz="1600" b="1" dirty="0"/>
              <a:t>warmest months</a:t>
            </a:r>
            <a:endParaRPr lang="en-IN" sz="1600" b="1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E3083-5248-A52E-B7F4-F91BB418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B2CE3-9BE5-5798-4A55-0B03405A4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5953"/>
            <a:ext cx="5563376" cy="2905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F35AC5-649F-B75B-95D9-5F651DF7C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662" y="3245953"/>
            <a:ext cx="522995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4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9F04-3F4A-E9A4-6287-5886EF54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Modelling (On Course)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95856-7EEB-5A8E-8F5E-424159E97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5" y="1497366"/>
            <a:ext cx="7852519" cy="2012421"/>
          </a:xfrm>
        </p:spPr>
        <p:txBody>
          <a:bodyPr/>
          <a:lstStyle/>
          <a:p>
            <a:pPr algn="just"/>
            <a:r>
              <a:rPr lang="en-US" sz="1600" b="1" dirty="0"/>
              <a:t>Demand Prediction: </a:t>
            </a:r>
            <a:r>
              <a:rPr lang="en-US" sz="1600" dirty="0"/>
              <a:t>After combining all the datasets and adjusting with population growth, we could have a good prediction of the Demand – </a:t>
            </a:r>
          </a:p>
          <a:p>
            <a:pPr algn="just"/>
            <a:r>
              <a:rPr lang="en-US" sz="1600" dirty="0"/>
              <a:t>We used Multi Linear Model and obtained an Adjusted R</a:t>
            </a:r>
            <a:r>
              <a:rPr lang="en-US" sz="1600" baseline="30000" dirty="0"/>
              <a:t>2</a:t>
            </a:r>
            <a:r>
              <a:rPr lang="en-US" sz="1600" dirty="0"/>
              <a:t> of 0.699.</a:t>
            </a:r>
            <a:endParaRPr lang="en-US" sz="1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862DE-0874-F1E7-ED0F-E09754AE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26AC8-8C0C-EFFC-F555-F0D91D403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28" y="2683697"/>
            <a:ext cx="5396667" cy="26769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4D7A1D-B3B1-6846-05E8-69372A460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86" y="2681442"/>
            <a:ext cx="5527386" cy="267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9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08B4-1990-3132-9FE7-CA6B8E04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2656A-26B0-6354-B1F0-C8A6FC12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BCF70-17A7-AAF4-74CB-27BBB49DF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5" y="1826550"/>
            <a:ext cx="10446749" cy="2012421"/>
          </a:xfrm>
        </p:spPr>
        <p:txBody>
          <a:bodyPr/>
          <a:lstStyle/>
          <a:p>
            <a:pPr algn="just"/>
            <a:r>
              <a:rPr lang="en-US" sz="1600" b="1" dirty="0"/>
              <a:t>On the Modelling part, </a:t>
            </a:r>
            <a:r>
              <a:rPr lang="en-US" sz="1600" dirty="0"/>
              <a:t>we are not only exploring different types of time-series models but also working towards having an improved Price model. </a:t>
            </a:r>
          </a:p>
          <a:p>
            <a:pPr algn="just"/>
            <a:r>
              <a:rPr lang="en-US" sz="1600" dirty="0"/>
              <a:t>The first iteration (pre population adjustment) presented  an Adjusted R2 of 0.2 but with high Residuals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0103-5FE2-753D-39FC-D669BC6E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18CDB-5ED6-825A-B5F4-8DDFA8910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28" y="2995897"/>
            <a:ext cx="4943436" cy="2586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8863F1-DE48-A7A0-5738-D4633F1C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334" y="2995231"/>
            <a:ext cx="5175504" cy="25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37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36FBB-0917-317F-3569-D789523D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8949-54C8-0831-4F9C-82F54A9B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F52E-87EA-3272-DF23-D7E68639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54B842-C6E7-01F8-ED33-11317B556212}"/>
              </a:ext>
            </a:extLst>
          </p:cNvPr>
          <p:cNvSpPr txBox="1">
            <a:spLocks/>
          </p:cNvSpPr>
          <p:nvPr/>
        </p:nvSpPr>
        <p:spPr>
          <a:xfrm>
            <a:off x="562628" y="1370233"/>
            <a:ext cx="11066744" cy="28041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/>
              <a:t>Several datasets and data points can be used to perform this analysis. To keep it simple and rely only on publicly available information, we decided to use these 6:</a:t>
            </a:r>
          </a:p>
          <a:p>
            <a:pPr algn="just"/>
            <a:endParaRPr lang="en-IN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E3E9CF-20EE-ECF3-EF7F-2E16E79614AD}"/>
              </a:ext>
            </a:extLst>
          </p:cNvPr>
          <p:cNvSpPr/>
          <p:nvPr/>
        </p:nvSpPr>
        <p:spPr>
          <a:xfrm>
            <a:off x="562628" y="2452593"/>
            <a:ext cx="1819656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Demand (Load) </a:t>
            </a:r>
          </a:p>
          <a:p>
            <a:pPr algn="ctr"/>
            <a:r>
              <a:rPr lang="en-US" b="1" dirty="0"/>
              <a:t>in MWh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B68AD2-DA19-9A0F-570F-CD803B4AAA9A}"/>
              </a:ext>
            </a:extLst>
          </p:cNvPr>
          <p:cNvSpPr/>
          <p:nvPr/>
        </p:nvSpPr>
        <p:spPr>
          <a:xfrm>
            <a:off x="562628" y="3268912"/>
            <a:ext cx="1819656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Temperature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A378C8-2695-0610-11C0-B36FD19FDE52}"/>
              </a:ext>
            </a:extLst>
          </p:cNvPr>
          <p:cNvSpPr/>
          <p:nvPr/>
        </p:nvSpPr>
        <p:spPr>
          <a:xfrm>
            <a:off x="562628" y="4085231"/>
            <a:ext cx="1819656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Gas Price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08578A-B443-728B-C205-8A6A3224B6A8}"/>
              </a:ext>
            </a:extLst>
          </p:cNvPr>
          <p:cNvSpPr/>
          <p:nvPr/>
        </p:nvSpPr>
        <p:spPr>
          <a:xfrm>
            <a:off x="562628" y="4901550"/>
            <a:ext cx="1819656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Generation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3AFBBB-EDFC-FD8A-E476-4EE59E5A71CE}"/>
              </a:ext>
            </a:extLst>
          </p:cNvPr>
          <p:cNvSpPr/>
          <p:nvPr/>
        </p:nvSpPr>
        <p:spPr>
          <a:xfrm>
            <a:off x="562628" y="5717870"/>
            <a:ext cx="1819656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Population </a:t>
            </a:r>
          </a:p>
          <a:p>
            <a:pPr algn="ctr"/>
            <a:r>
              <a:rPr lang="en-US" b="1" dirty="0"/>
              <a:t>Growth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F50003-7FF9-6261-9A24-44A198ADF6F7}"/>
              </a:ext>
            </a:extLst>
          </p:cNvPr>
          <p:cNvSpPr txBox="1"/>
          <p:nvPr/>
        </p:nvSpPr>
        <p:spPr>
          <a:xfrm>
            <a:off x="2557869" y="2487556"/>
            <a:ext cx="7354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Alberta’s internal load/Demand consisting of the total hourly demand in MW for the entire Province.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525060-B75D-CEF0-E8F4-96F028F46A7D}"/>
              </a:ext>
            </a:extLst>
          </p:cNvPr>
          <p:cNvSpPr txBox="1"/>
          <p:nvPr/>
        </p:nvSpPr>
        <p:spPr>
          <a:xfrm>
            <a:off x="2557868" y="3290766"/>
            <a:ext cx="7354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Hourly temperature in Calgary (average of 3 stations) that will serve as an input for Demand prediction.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0C6AA4-A930-5585-160D-6E10E0D28536}"/>
              </a:ext>
            </a:extLst>
          </p:cNvPr>
          <p:cNvSpPr txBox="1"/>
          <p:nvPr/>
        </p:nvSpPr>
        <p:spPr>
          <a:xfrm>
            <a:off x="2557869" y="4107085"/>
            <a:ext cx="7354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Since Natural Gas is the main source for 70% of the generation, the gas price will play a key part in projecting this.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E822B-F790-62D3-40DB-4309D8D969D9}"/>
              </a:ext>
            </a:extLst>
          </p:cNvPr>
          <p:cNvSpPr txBox="1"/>
          <p:nvPr/>
        </p:nvSpPr>
        <p:spPr>
          <a:xfrm>
            <a:off x="2557866" y="4920231"/>
            <a:ext cx="7354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Generation data will not only serve as an input for the type (green/non-green), but also for the delta between demand and generation that can cascade into price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F17A31-55C5-AB03-3282-96134E2A08B1}"/>
              </a:ext>
            </a:extLst>
          </p:cNvPr>
          <p:cNvSpPr txBox="1"/>
          <p:nvPr/>
        </p:nvSpPr>
        <p:spPr>
          <a:xfrm>
            <a:off x="2557867" y="5739724"/>
            <a:ext cx="7354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Alberta’s population is one of the fastest growing in Canada. As Electricity is an essential service, we will use this growth to adjust some of our curves and metrics.</a:t>
            </a:r>
          </a:p>
        </p:txBody>
      </p:sp>
    </p:spTree>
    <p:extLst>
      <p:ext uri="{BB962C8B-B14F-4D97-AF65-F5344CB8AC3E}">
        <p14:creationId xmlns:p14="http://schemas.microsoft.com/office/powerpoint/2010/main" val="1150203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F3D9-632A-4572-7B67-69179044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different energy generation sources?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50616-F6CA-6D9D-0300-7150613BA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028" y="1634229"/>
            <a:ext cx="4914628" cy="4115669"/>
          </a:xfrm>
        </p:spPr>
        <p:txBody>
          <a:bodyPr/>
          <a:lstStyle/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1800" b="0" i="0" dirty="0">
                <a:effectLst/>
                <a:latin typeface="system-ui"/>
              </a:rPr>
              <a:t>Generation sources include </a:t>
            </a:r>
            <a:r>
              <a:rPr lang="en-US" sz="1800" b="1" i="0" dirty="0">
                <a:effectLst/>
                <a:latin typeface="system-ui"/>
              </a:rPr>
              <a:t>natural gas plants </a:t>
            </a:r>
            <a:r>
              <a:rPr lang="en-US" sz="1800" b="0" i="0" dirty="0">
                <a:effectLst/>
                <a:latin typeface="system-ui"/>
              </a:rPr>
              <a:t>(simple, combined or cogeneration cycles), </a:t>
            </a:r>
            <a:r>
              <a:rPr lang="en-US" sz="1800" b="1" i="0" dirty="0">
                <a:effectLst/>
                <a:latin typeface="system-ui"/>
              </a:rPr>
              <a:t>wind farms, solar farms</a:t>
            </a:r>
            <a:r>
              <a:rPr lang="en-US" sz="1800" b="0" i="0" dirty="0">
                <a:effectLst/>
                <a:latin typeface="system-ui"/>
              </a:rPr>
              <a:t>, among others.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1800" dirty="0">
                <a:latin typeface="system-ui"/>
              </a:rPr>
              <a:t>Over the past years, green sources such as Wind and Solar have been gaining momentum, but </a:t>
            </a:r>
            <a:r>
              <a:rPr lang="en-US" sz="1800" b="1" dirty="0">
                <a:latin typeface="system-ui"/>
              </a:rPr>
              <a:t>Cogeneration still owns the largest share.</a:t>
            </a:r>
            <a:endParaRPr lang="en-US" sz="1800" b="1" i="0" dirty="0">
              <a:effectLst/>
              <a:latin typeface="system-ui"/>
            </a:endParaRPr>
          </a:p>
          <a:p>
            <a:pPr algn="just"/>
            <a:r>
              <a:rPr lang="en-IN" sz="1800" b="1" dirty="0"/>
              <a:t>Natural Gas plants </a:t>
            </a:r>
            <a:r>
              <a:rPr lang="en-IN" sz="1800" dirty="0"/>
              <a:t>are responsible for almost ¾ of total generation.</a:t>
            </a:r>
          </a:p>
          <a:p>
            <a:pPr algn="just"/>
            <a:r>
              <a:rPr lang="en-IN" sz="1800" b="1" dirty="0"/>
              <a:t>Coal was rapidly phased out </a:t>
            </a:r>
            <a:r>
              <a:rPr lang="en-IN" sz="1800" dirty="0"/>
              <a:t>(from 32% in 2015 to 2% in 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8AD21-9246-FAED-ABF6-D4A8CF6E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F8ED046-7DE7-B2C6-71C8-928D592475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1695995"/>
              </p:ext>
            </p:extLst>
          </p:nvPr>
        </p:nvGraphicFramePr>
        <p:xfrm>
          <a:off x="5558931" y="2320463"/>
          <a:ext cx="63855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1535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58A0-C0D0-59C3-469C-A33F5AAA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284D0-56B0-247B-E853-9F755AF7D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15AAA-0CD0-F9C6-7C80-DC730EB0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4D7C596-CBB8-AF14-38B2-574468B34F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7354709"/>
              </p:ext>
            </p:extLst>
          </p:nvPr>
        </p:nvGraphicFramePr>
        <p:xfrm>
          <a:off x="2032000" y="1628503"/>
          <a:ext cx="7216503" cy="4509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5676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D7B7-61CF-4E04-321E-7E750ADD5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583475"/>
            <a:ext cx="9724372" cy="5305390"/>
          </a:xfrm>
        </p:spPr>
        <p:txBody>
          <a:bodyPr/>
          <a:lstStyle/>
          <a:p>
            <a:r>
              <a:rPr lang="en-US" sz="2400" dirty="0"/>
              <a:t>There are total of 5 datasets:  Demand, temperature, gas price, generation and price.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Demand Dataset - The demand datasets consists of Alberta’s internal load/Demand consisting of the total hourly demand in MW for the entire Province combined with spot price and gas price</a:t>
            </a:r>
          </a:p>
          <a:p>
            <a:r>
              <a:rPr lang="en-US" sz="2400" dirty="0"/>
              <a:t>Visualizing the demand vs price, we can obtain an understanding of how an increase population increases the price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F2A64-15ED-FE2A-F9A7-D98DC7CB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Graphic 4" descr="Business Growth with solid fill">
            <a:extLst>
              <a:ext uri="{FF2B5EF4-FFF2-40B4-BE49-F238E27FC236}">
                <a16:creationId xmlns:a16="http://schemas.microsoft.com/office/drawing/2014/main" id="{A11FA293-6C58-A6C9-9C0E-EFDD9A2AE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63" y="3866023"/>
            <a:ext cx="2094690" cy="2094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202C17-CA81-9901-42FE-FFF1A8A44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093" y="3505284"/>
            <a:ext cx="4217588" cy="276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06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CC814-B9B7-CAF1-D217-814886060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549"/>
            <a:ext cx="8715983" cy="589533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2400" dirty="0"/>
              <a:t>.  Temperature dataset – The temperature</a:t>
            </a:r>
          </a:p>
          <a:p>
            <a:pPr marL="0" indent="0">
              <a:buNone/>
            </a:pPr>
            <a:r>
              <a:rPr lang="en-US" sz="2400" dirty="0"/>
              <a:t>dataset consists of the electricity generated vs </a:t>
            </a:r>
          </a:p>
          <a:p>
            <a:pPr marL="0" indent="0">
              <a:buNone/>
            </a:pPr>
            <a:r>
              <a:rPr lang="en-US" sz="2400" dirty="0"/>
              <a:t>the temperature</a:t>
            </a:r>
          </a:p>
          <a:p>
            <a:r>
              <a:rPr lang="en-US" sz="2400" dirty="0"/>
              <a:t>We can obtain an understanding of how the </a:t>
            </a:r>
          </a:p>
          <a:p>
            <a:pPr marL="0" indent="0">
              <a:buNone/>
            </a:pPr>
            <a:r>
              <a:rPr lang="en-US" sz="2400" dirty="0"/>
              <a:t>rise/fall in temperature increases the</a:t>
            </a:r>
          </a:p>
          <a:p>
            <a:pPr marL="0" indent="0">
              <a:buNone/>
            </a:pPr>
            <a:r>
              <a:rPr lang="en-US" sz="2400" dirty="0"/>
              <a:t>electricity generated/demand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en-US" sz="2400" dirty="0"/>
              <a:t>Gas Price – Cogeneration has been the source</a:t>
            </a:r>
          </a:p>
          <a:p>
            <a:pPr marL="0" indent="0">
              <a:buNone/>
            </a:pPr>
            <a:r>
              <a:rPr lang="en-US" sz="2400" dirty="0"/>
              <a:t>with the highest electricity generated</a:t>
            </a:r>
          </a:p>
          <a:p>
            <a:r>
              <a:rPr lang="en-US" sz="2400" dirty="0"/>
              <a:t>Gas price will place an important role in predicting </a:t>
            </a:r>
          </a:p>
          <a:p>
            <a:pPr marL="0" indent="0">
              <a:buNone/>
            </a:pPr>
            <a:r>
              <a:rPr lang="en-US" sz="2400" dirty="0"/>
              <a:t>the spot price , due to cogeneration</a:t>
            </a:r>
          </a:p>
          <a:p>
            <a:pPr marL="0" indent="0">
              <a:buNone/>
            </a:pPr>
            <a:endParaRPr lang="en-US" sz="2400" dirty="0"/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10DD6-CA8F-9455-74D0-CF686615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CF6B0-0FCB-6739-E346-BB537C94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032" y="3310753"/>
            <a:ext cx="4106746" cy="1996393"/>
          </a:xfrm>
          <a:prstGeom prst="rect">
            <a:avLst/>
          </a:prstGeom>
        </p:spPr>
      </p:pic>
      <p:pic>
        <p:nvPicPr>
          <p:cNvPr id="7" name="Graphic 6" descr="Dollar outline">
            <a:extLst>
              <a:ext uri="{FF2B5EF4-FFF2-40B4-BE49-F238E27FC236}">
                <a16:creationId xmlns:a16="http://schemas.microsoft.com/office/drawing/2014/main" id="{59B6CF66-00AB-911F-6F8B-211212863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6911" y="3759741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F88250-620C-96D1-8862-8E98825FE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613" y="432173"/>
            <a:ext cx="3772414" cy="2237362"/>
          </a:xfrm>
          <a:prstGeom prst="rect">
            <a:avLst/>
          </a:prstGeom>
        </p:spPr>
      </p:pic>
      <p:pic>
        <p:nvPicPr>
          <p:cNvPr id="11" name="Graphic 10" descr="High temperature with solid fill">
            <a:extLst>
              <a:ext uri="{FF2B5EF4-FFF2-40B4-BE49-F238E27FC236}">
                <a16:creationId xmlns:a16="http://schemas.microsoft.com/office/drawing/2014/main" id="{251C15EC-B87D-3C04-7BC6-7BB468F671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06911" y="13781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4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9FD7-70C6-AA1D-B99C-FA2E61596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583661"/>
            <a:ext cx="9724372" cy="530520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IN" sz="2400" dirty="0"/>
              <a:t>Generation – The generation </a:t>
            </a:r>
          </a:p>
          <a:p>
            <a:pPr marL="0" indent="0">
              <a:buNone/>
            </a:pPr>
            <a:r>
              <a:rPr lang="en-IN" sz="2400" dirty="0"/>
              <a:t>of electricity will play a role in </a:t>
            </a:r>
          </a:p>
          <a:p>
            <a:pPr marL="0" indent="0">
              <a:buNone/>
            </a:pPr>
            <a:r>
              <a:rPr lang="en-IN" sz="2400" dirty="0"/>
              <a:t>determining the spot price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There is a strong correlation</a:t>
            </a:r>
          </a:p>
          <a:p>
            <a:pPr marL="0" indent="0">
              <a:buNone/>
            </a:pPr>
            <a:r>
              <a:rPr lang="en-IN" sz="2400" dirty="0"/>
              <a:t>between the demand and the </a:t>
            </a:r>
          </a:p>
          <a:p>
            <a:pPr marL="0" indent="0">
              <a:buNone/>
            </a:pPr>
            <a:r>
              <a:rPr lang="en-IN" sz="2400" dirty="0"/>
              <a:t>generation</a:t>
            </a:r>
          </a:p>
          <a:p>
            <a:endParaRPr lang="en-IN" sz="2400" dirty="0"/>
          </a:p>
          <a:p>
            <a:r>
              <a:rPr lang="en-IN" sz="2400" dirty="0"/>
              <a:t>We can understand the impact</a:t>
            </a:r>
          </a:p>
          <a:p>
            <a:pPr marL="0" indent="0">
              <a:buNone/>
            </a:pPr>
            <a:r>
              <a:rPr lang="en-IN" sz="2400" dirty="0"/>
              <a:t>of the price by visualizing the </a:t>
            </a:r>
          </a:p>
          <a:p>
            <a:pPr marL="0" indent="0">
              <a:buNone/>
            </a:pPr>
            <a:r>
              <a:rPr lang="en-IN" sz="2400" dirty="0"/>
              <a:t>generation vs price data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6F38D-9919-5C8B-F9CC-78759C50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DA897-0E64-79AE-A234-36E17FD9E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023" y="969135"/>
            <a:ext cx="4925776" cy="2902474"/>
          </a:xfrm>
          <a:prstGeom prst="rect">
            <a:avLst/>
          </a:prstGeom>
        </p:spPr>
      </p:pic>
      <p:pic>
        <p:nvPicPr>
          <p:cNvPr id="8" name="Graphic 7" descr="Upward trend with solid fill">
            <a:extLst>
              <a:ext uri="{FF2B5EF4-FFF2-40B4-BE49-F238E27FC236}">
                <a16:creationId xmlns:a16="http://schemas.microsoft.com/office/drawing/2014/main" id="{FD19E575-71D7-1B08-1ADC-D9FE14868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6596" y="1867710"/>
            <a:ext cx="1094362" cy="109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9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4-BRN-460284-PPT-Template-Optimistic" id="{C689A5C7-CA34-6440-ACE5-60117F3D279F}" vid="{357DDF3C-6B06-FF47-B3F3-6E829915C4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4191d5-9b76-4ae3-8401-87ceee92a846">
      <UserInfo>
        <DisplayName>Office Of Advancement Visitors</DisplayName>
        <AccountId>4</AccountId>
        <AccountType/>
      </UserInfo>
      <UserInfo>
        <DisplayName>UCalgary Brand</DisplayName>
        <AccountId>15</AccountId>
        <AccountType/>
      </UserInfo>
    </SharedWithUsers>
    <TaxCatchAll xmlns="7a4191d5-9b76-4ae3-8401-87ceee92a846" xsi:nil="true"/>
    <lcf76f155ced4ddcb4097134ff3c332f xmlns="b9b0194d-1e98-4efc-bad5-9450f4bf7a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D9A0FA515564792FEACC70AB1043E" ma:contentTypeVersion="15" ma:contentTypeDescription="Create a new document." ma:contentTypeScope="" ma:versionID="3387522b3212352fc6bbea455d3cfc53">
  <xsd:schema xmlns:xsd="http://www.w3.org/2001/XMLSchema" xmlns:xs="http://www.w3.org/2001/XMLSchema" xmlns:p="http://schemas.microsoft.com/office/2006/metadata/properties" xmlns:ns2="7a4191d5-9b76-4ae3-8401-87ceee92a846" xmlns:ns3="b9b0194d-1e98-4efc-bad5-9450f4bf7a13" targetNamespace="http://schemas.microsoft.com/office/2006/metadata/properties" ma:root="true" ma:fieldsID="e28e2b4de73025e43726d49ef756c6aa" ns2:_="" ns3:_="">
    <xsd:import namespace="7a4191d5-9b76-4ae3-8401-87ceee92a846"/>
    <xsd:import namespace="b9b0194d-1e98-4efc-bad5-9450f4bf7a1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91d5-9b76-4ae3-8401-87ceee92a8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6da6b-3754-4ea3-9a44-9d844208727a}" ma:internalName="TaxCatchAll" ma:showField="CatchAllData" ma:web="7a4191d5-9b76-4ae3-8401-87ceee92a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0194d-1e98-4efc-bad5-9450f4bf7a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6ABDF2-BD05-4010-80BA-3DB41DBF8678}">
  <ds:schemaRefs>
    <ds:schemaRef ds:uri="http://schemas.microsoft.com/office/2006/metadata/properties"/>
    <ds:schemaRef ds:uri="http://schemas.microsoft.com/office/infopath/2007/PartnerControls"/>
    <ds:schemaRef ds:uri="7a4191d5-9b76-4ae3-8401-87ceee92a846"/>
    <ds:schemaRef ds:uri="b9b0194d-1e98-4efc-bad5-9450f4bf7a13"/>
  </ds:schemaRefs>
</ds:datastoreItem>
</file>

<file path=customXml/itemProps2.xml><?xml version="1.0" encoding="utf-8"?>
<ds:datastoreItem xmlns:ds="http://schemas.openxmlformats.org/officeDocument/2006/customXml" ds:itemID="{B1379BBF-6672-4ABD-B16E-D222A38B6B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FE4E6F-A4E5-40F2-8CE2-36663D7A06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4191d5-9b76-4ae3-8401-87ceee92a846"/>
    <ds:schemaRef ds:uri="b9b0194d-1e98-4efc-bad5-9450f4bf7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Colourful</Template>
  <TotalTime>365</TotalTime>
  <Words>972</Words>
  <Application>Microsoft Office PowerPoint</Application>
  <PresentationFormat>Widescreen</PresentationFormat>
  <Paragraphs>106</Paragraphs>
  <Slides>16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system-ui</vt:lpstr>
      <vt:lpstr>Office Theme</vt:lpstr>
      <vt:lpstr>Electricity Production, Use and Price Analysis</vt:lpstr>
      <vt:lpstr>Introduction</vt:lpstr>
      <vt:lpstr>Background</vt:lpstr>
      <vt:lpstr>Objective  </vt:lpstr>
      <vt:lpstr>Insights gained from each dataset </vt:lpstr>
      <vt:lpstr>Temperature vs Generation (MWh)</vt:lpstr>
      <vt:lpstr>Energy generation for Alberta’s Coldest and Warmest months</vt:lpstr>
      <vt:lpstr>PowerPoint Presentation</vt:lpstr>
      <vt:lpstr>Statistical Modelling (On Course)</vt:lpstr>
      <vt:lpstr>Next Steps</vt:lpstr>
      <vt:lpstr>Datasets</vt:lpstr>
      <vt:lpstr>What are the different energy generation sources? </vt:lpstr>
      <vt:lpstr>The Datasets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Gautham Nagaraj</dc:creator>
  <cp:lastModifiedBy>Gautham Nagaraj</cp:lastModifiedBy>
  <cp:revision>4</cp:revision>
  <dcterms:created xsi:type="dcterms:W3CDTF">2025-03-25T15:59:30Z</dcterms:created>
  <dcterms:modified xsi:type="dcterms:W3CDTF">2025-03-26T21:30:57Z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0x010100A14D9A0FA515564792FEACC70AB1043E</vt:lpwstr>
  </property>
  <property fmtid="{D5CDD505-2E9C-101B-9397-08002B2CF9AE}" pid="3" name="Order">
    <vt:r8>20700</vt:r8>
  </property>
</Properties>
</file>