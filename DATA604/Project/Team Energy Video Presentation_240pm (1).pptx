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media/image2.jpeg" ContentType="image/jpeg"/>
  <Override PartName="/ppt/media/image3.jpeg" ContentType="image/jpeg"/>
  <Override PartName="/ppt/theme/theme2.xml" ContentType="application/vnd.openxmlformats-officedocument.theme+xml"/>
  <Override PartName="/ppt/charts/chart1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CBCB"/>
          </a:solidFill>
        </a:fill>
      </a:tcStyle>
    </a:wholeTbl>
    <a:band2H>
      <a:tcTxStyle b="def" i="def"/>
      <a:tcStyle>
        <a:tcBdr/>
        <a:fill>
          <a:solidFill>
            <a:srgbClr val="FCE7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D2CB"/>
          </a:solidFill>
        </a:fill>
      </a:tcStyle>
    </a:wholeTbl>
    <a:band2H>
      <a:tcTxStyle b="def" i="def"/>
      <a:tcStyle>
        <a:tcBdr/>
        <a:fill>
          <a:solidFill>
            <a:srgbClr val="FFEA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CACC"/>
          </a:solidFill>
        </a:fill>
      </a:tcStyle>
    </a:wholeTbl>
    <a:band2H>
      <a:tcTxStyle b="def" i="def"/>
      <a:tcStyle>
        <a:tcBdr/>
        <a:fill>
          <a:solidFill>
            <a:srgbClr val="EFE6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charts/_rels/chart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.xlsx"/>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title>
      <c:tx>
        <c:rich>
          <a:bodyPr rot="0"/>
          <a:lstStyle/>
          <a:p>
            <a:pPr>
              <a:defRPr b="1" i="0" strike="noStrike" sz="1400" u="none">
                <a:solidFill>
                  <a:srgbClr val="595959"/>
                </a:solidFill>
                <a:latin typeface="Calibri"/>
              </a:defRPr>
            </a:pPr>
            <a:r>
              <a:rPr b="1" i="0" strike="noStrike" sz="1400" u="none">
                <a:solidFill>
                  <a:srgbClr val="595959"/>
                </a:solidFill>
                <a:latin typeface="Calibri"/>
              </a:rPr>
              <a:t>Generation Type (2015-2024)</a:t>
            </a:r>
          </a:p>
        </c:rich>
      </c:tx>
      <c:layout>
        <c:manualLayout>
          <c:xMode val="edge"/>
          <c:yMode val="edge"/>
          <c:x val="0.328142"/>
          <c:y val="0"/>
          <c:w val="0.343716"/>
          <c:h val="0.132417"/>
        </c:manualLayout>
      </c:layout>
      <c:overlay val="1"/>
      <c:spPr>
        <a:noFill/>
        <a:effectLst/>
      </c:spPr>
    </c:title>
    <c:autoTitleDeleted val="1"/>
    <c:plotArea>
      <c:layout>
        <c:manualLayout>
          <c:layoutTarget val="inner"/>
          <c:xMode val="edge"/>
          <c:yMode val="edge"/>
          <c:x val="0.076744"/>
          <c:y val="0.132417"/>
          <c:w val="0.918256"/>
          <c:h val="0.69670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chemeClr val="accent6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Sheet1!$B$1:$F$1</c:f>
              <c:strCache>
                <c:ptCount val="5"/>
                <c:pt idx="0">
                  <c:v>2015-2020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Sheet1!$B$2:$F$2</c:f>
              <c:numCache>
                <c:ptCount val="5"/>
                <c:pt idx="0">
                  <c:v>0.038435</c:v>
                </c:pt>
                <c:pt idx="1">
                  <c:v>0.036712</c:v>
                </c:pt>
                <c:pt idx="2">
                  <c:v>0.042252</c:v>
                </c:pt>
                <c:pt idx="3">
                  <c:v>0.040826</c:v>
                </c:pt>
                <c:pt idx="4">
                  <c:v>0.034939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Solar</c:v>
                </c:pt>
              </c:strCache>
            </c:strRef>
          </c:tx>
          <c:spPr>
            <a:solidFill>
              <a:srgbClr val="8BCEB0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Sheet1!$B$1:$F$1</c:f>
              <c:strCache>
                <c:ptCount val="5"/>
                <c:pt idx="0">
                  <c:v>2015-2020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Sheet1!$B$3:$F$3</c:f>
              <c:numCache>
                <c:ptCount val="5"/>
                <c:pt idx="0">
                  <c:v>0.000701</c:v>
                </c:pt>
                <c:pt idx="1">
                  <c:v>0.012971</c:v>
                </c:pt>
                <c:pt idx="2">
                  <c:v>0.101281</c:v>
                </c:pt>
                <c:pt idx="3">
                  <c:v>0.043285</c:v>
                </c:pt>
                <c:pt idx="4">
                  <c:v>0.042196</c:v>
                </c:pt>
              </c:numCache>
            </c:numRef>
          </c:val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Hydro</c:v>
                </c:pt>
              </c:strCache>
            </c:strRef>
          </c:tx>
          <c:spPr>
            <a:solidFill>
              <a:srgbClr val="0070C0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Sheet1!$B$1:$F$1</c:f>
              <c:strCache>
                <c:ptCount val="5"/>
                <c:pt idx="0">
                  <c:v>2015-2020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Sheet1!$B$4:$F$4</c:f>
              <c:numCache>
                <c:ptCount val="5"/>
                <c:pt idx="0">
                  <c:v>0.055042</c:v>
                </c:pt>
                <c:pt idx="1">
                  <c:v>0.063430</c:v>
                </c:pt>
                <c:pt idx="2">
                  <c:v>0.053216</c:v>
                </c:pt>
                <c:pt idx="3">
                  <c:v>0.060352</c:v>
                </c:pt>
                <c:pt idx="4">
                  <c:v>0.045531</c:v>
                </c:pt>
              </c:numCache>
            </c:numRef>
          </c:val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Wind</c:v>
                </c:pt>
              </c:strCache>
            </c:strRef>
          </c:tx>
          <c:spPr>
            <a:solidFill>
              <a:schemeClr val="accent4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Sheet1!$B$1:$F$1</c:f>
              <c:strCache>
                <c:ptCount val="5"/>
                <c:pt idx="0">
                  <c:v>2015-2020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Sheet1!$B$5:$F$5</c:f>
              <c:numCache>
                <c:ptCount val="5"/>
                <c:pt idx="0">
                  <c:v>0.010137</c:v>
                </c:pt>
                <c:pt idx="1">
                  <c:v>0.042151</c:v>
                </c:pt>
                <c:pt idx="2">
                  <c:v>0.100332</c:v>
                </c:pt>
                <c:pt idx="3">
                  <c:v>0.111215</c:v>
                </c:pt>
                <c:pt idx="4">
                  <c:v>0.139039</c:v>
                </c:pt>
              </c:numCache>
            </c:numRef>
          </c:val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Coal</c:v>
                </c:pt>
              </c:strCache>
            </c:strRef>
          </c:tx>
          <c:spPr>
            <a:solidFill>
              <a:srgbClr val="676255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Sheet1!$B$1:$F$1</c:f>
              <c:strCache>
                <c:ptCount val="5"/>
                <c:pt idx="0">
                  <c:v>2015-2020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Sheet1!$B$6:$F$6</c:f>
              <c:numCache>
                <c:ptCount val="5"/>
                <c:pt idx="0">
                  <c:v>0.316597</c:v>
                </c:pt>
                <c:pt idx="1">
                  <c:v>0.287545</c:v>
                </c:pt>
                <c:pt idx="2">
                  <c:v>0.026292</c:v>
                </c:pt>
                <c:pt idx="3">
                  <c:v>0.014184</c:v>
                </c:pt>
                <c:pt idx="4">
                  <c:v>0.022457</c:v>
                </c:pt>
              </c:numCache>
            </c:numRef>
          </c:val>
        </c:ser>
        <c:ser>
          <c:idx val="5"/>
          <c:order val="5"/>
          <c:tx>
            <c:strRef>
              <c:f>Sheet1!$A$7</c:f>
              <c:strCache>
                <c:ptCount val="1"/>
                <c:pt idx="0">
                  <c:v>Thermal (NG)</c:v>
                </c:pt>
              </c:strCache>
            </c:strRef>
          </c:tx>
          <c:spPr>
            <a:solidFill>
              <a:srgbClr val="C3BFB6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04040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Sheet1!$B$1:$F$1</c:f>
              <c:strCache>
                <c:ptCount val="5"/>
                <c:pt idx="0">
                  <c:v>2015-2020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Sheet1!$B$7:$F$7</c:f>
              <c:numCache>
                <c:ptCount val="5"/>
                <c:pt idx="0">
                  <c:v>0.579088</c:v>
                </c:pt>
                <c:pt idx="1">
                  <c:v>0.557191</c:v>
                </c:pt>
                <c:pt idx="2">
                  <c:v>0.676628</c:v>
                </c:pt>
                <c:pt idx="3">
                  <c:v>0.730138</c:v>
                </c:pt>
                <c:pt idx="4">
                  <c:v>0.715837</c:v>
                </c:pt>
              </c:numCache>
            </c:numRef>
          </c:val>
        </c:ser>
        <c:gapWidth val="150"/>
        <c:overlap val="10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595959"/>
            </a:solidFill>
            <a:prstDash val="solid"/>
            <a:miter lim="800000"/>
          </a:ln>
        </c:spPr>
        <c:txPr>
          <a:bodyPr rot="0"/>
          <a:lstStyle/>
          <a:p>
            <a:pPr>
              <a:defRPr b="0" i="0" strike="noStrike" sz="900" u="none">
                <a:solidFill>
                  <a:srgbClr val="595959"/>
                </a:solidFill>
                <a:latin typeface="Calibri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1"/>
        </c:scaling>
        <c:delete val="0"/>
        <c:axPos val="l"/>
        <c:numFmt formatCode="0.0%" sourceLinked="0"/>
        <c:majorTickMark val="none"/>
        <c:minorTickMark val="none"/>
        <c:tickLblPos val="nextTo"/>
        <c:spPr>
          <a:ln w="12700" cap="flat">
            <a:solidFill>
              <a:srgbClr val="595959"/>
            </a:solidFill>
            <a:prstDash val="solid"/>
            <a:miter lim="800000"/>
          </a:ln>
        </c:spPr>
        <c:txPr>
          <a:bodyPr rot="0"/>
          <a:lstStyle/>
          <a:p>
            <a:pPr>
              <a:defRPr b="0" i="0" strike="noStrike" sz="900" u="none">
                <a:solidFill>
                  <a:srgbClr val="595959"/>
                </a:solidFill>
                <a:latin typeface="Calibri"/>
              </a:defRPr>
            </a:pPr>
          </a:p>
        </c:txPr>
        <c:crossAx val="2094734552"/>
        <c:crosses val="autoZero"/>
        <c:crossBetween val="between"/>
        <c:majorUnit val="0.25"/>
        <c:minorUnit val="0.125"/>
      </c:valAx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0.203863"/>
          <c:y val="0.93761"/>
          <c:w val="0.628113"/>
          <c:h val="0.06239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b="0" i="0" strike="noStrike" sz="900" u="non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1" name="Shape 7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191909" y="1051240"/>
            <a:ext cx="6896024" cy="2342689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>
              <a:lnSpc>
                <a:spcPts val="5600"/>
              </a:lnSpc>
              <a:defRPr b="1" sz="6000">
                <a:solidFill>
                  <a:schemeClr val="accent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191909" y="3393928"/>
            <a:ext cx="7841295" cy="714932"/>
          </a:xfrm>
          <a:prstGeom prst="rect">
            <a:avLst/>
          </a:prstGeom>
        </p:spPr>
        <p:txBody>
          <a:bodyPr anchor="t"/>
          <a:lstStyle>
            <a:lvl1pPr>
              <a:lnSpc>
                <a:spcPts val="2600"/>
              </a:lnSpc>
              <a:defRPr sz="2400">
                <a:solidFill>
                  <a:srgbClr val="000000"/>
                </a:solidFill>
              </a:defRPr>
            </a:lvl1pPr>
            <a:lvl2pPr marL="0" indent="457200">
              <a:lnSpc>
                <a:spcPts val="2600"/>
              </a:lnSpc>
              <a:buSzTx/>
              <a:buNone/>
              <a:defRPr sz="2400">
                <a:solidFill>
                  <a:srgbClr val="000000"/>
                </a:solidFill>
              </a:defRPr>
            </a:lvl2pPr>
            <a:lvl3pPr marL="0" indent="914400">
              <a:lnSpc>
                <a:spcPts val="2600"/>
              </a:lnSpc>
              <a:buSzTx/>
              <a:buNone/>
              <a:defRPr sz="2400">
                <a:solidFill>
                  <a:srgbClr val="000000"/>
                </a:solidFill>
              </a:defRPr>
            </a:lvl3pPr>
            <a:lvl4pPr marL="0" indent="1371600">
              <a:lnSpc>
                <a:spcPts val="2600"/>
              </a:lnSpc>
              <a:buSzTx/>
              <a:buNone/>
              <a:defRPr sz="2400">
                <a:solidFill>
                  <a:srgbClr val="000000"/>
                </a:solidFill>
              </a:defRPr>
            </a:lvl4pPr>
            <a:lvl5pPr marL="0" indent="1828800">
              <a:lnSpc>
                <a:spcPts val="2600"/>
              </a:lnSpc>
              <a:buSzTx/>
              <a:buNone/>
              <a:defRPr sz="24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Text Placeholder 9"/>
          <p:cNvSpPr/>
          <p:nvPr>
            <p:ph type="body" sz="quarter" idx="21" hasCustomPrompt="1"/>
          </p:nvPr>
        </p:nvSpPr>
        <p:spPr>
          <a:xfrm>
            <a:off x="1191908" y="4398460"/>
            <a:ext cx="7841296" cy="1125691"/>
          </a:xfrm>
          <a:prstGeom prst="rect">
            <a:avLst/>
          </a:prstGeom>
        </p:spPr>
        <p:txBody>
          <a:bodyPr anchor="b"/>
          <a:lstStyle>
            <a:lvl1pPr>
              <a:lnSpc>
                <a:spcPts val="2000"/>
              </a:lnSpc>
              <a:defRPr b="0" sz="1800">
                <a:solidFill>
                  <a:srgbClr val="000000"/>
                </a:solidFill>
              </a:defRPr>
            </a:lvl1pPr>
          </a:lstStyle>
          <a:p>
            <a:pPr/>
            <a:r>
              <a:t>Presenter’s Name Presenter’s title / additional designations Faculty of / Department of / additional designations</a:t>
            </a:r>
          </a:p>
        </p:txBody>
      </p:sp>
      <p:sp>
        <p:nvSpPr>
          <p:cNvPr id="14" name="Text Placeholder 11"/>
          <p:cNvSpPr/>
          <p:nvPr>
            <p:ph type="body" sz="quarter" idx="22" hasCustomPrompt="1"/>
          </p:nvPr>
        </p:nvSpPr>
        <p:spPr>
          <a:xfrm>
            <a:off x="1191909" y="5530412"/>
            <a:ext cx="6586081" cy="521875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400">
                <a:solidFill>
                  <a:schemeClr val="accent3"/>
                </a:solidFill>
              </a:defRPr>
            </a:lvl1pPr>
          </a:lstStyle>
          <a:p>
            <a:pPr/>
            <a:r>
              <a:t>Click to add date</a:t>
            </a:r>
          </a:p>
        </p:txBody>
      </p:sp>
      <p:sp>
        <p:nvSpPr>
          <p:cNvPr id="1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Text"/>
          <p:cNvSpPr txBox="1"/>
          <p:nvPr>
            <p:ph type="title"/>
          </p:nvPr>
        </p:nvSpPr>
        <p:spPr>
          <a:xfrm>
            <a:off x="562628" y="463967"/>
            <a:ext cx="9724373" cy="1033399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lnSpc>
                <a:spcPts val="3800"/>
              </a:lnSpc>
              <a:defRPr b="1" sz="3600">
                <a:solidFill>
                  <a:schemeClr val="accent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3" name="Body Level One…"/>
          <p:cNvSpPr txBox="1"/>
          <p:nvPr>
            <p:ph type="body" idx="1"/>
          </p:nvPr>
        </p:nvSpPr>
        <p:spPr>
          <a:xfrm>
            <a:off x="562628" y="1773195"/>
            <a:ext cx="9724373" cy="4115669"/>
          </a:xfrm>
          <a:prstGeom prst="rect">
            <a:avLst/>
          </a:prstGeom>
        </p:spPr>
        <p:txBody>
          <a:bodyPr anchor="t"/>
          <a:lstStyle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E32726"/>
              </a:buClr>
              <a:buSzPct val="100000"/>
              <a:buFont typeface="Arial"/>
              <a:buChar char="•"/>
              <a:defRPr b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spcBef>
                <a:spcPts val="1000"/>
              </a:spcBef>
              <a:buClr>
                <a:srgbClr val="E32726"/>
              </a:buClr>
              <a:buFont typeface="Arial"/>
              <a:defRPr b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spcBef>
                <a:spcPts val="1000"/>
              </a:spcBef>
              <a:buClr>
                <a:srgbClr val="E32726"/>
              </a:buClr>
              <a:buFont typeface="Arial"/>
              <a:defRPr b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spcBef>
                <a:spcPts val="1000"/>
              </a:spcBef>
              <a:buClr>
                <a:srgbClr val="E32726"/>
              </a:buClr>
              <a:buFont typeface="Arial"/>
              <a:defRPr b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spcBef>
                <a:spcPts val="1000"/>
              </a:spcBef>
              <a:buClr>
                <a:srgbClr val="E32726"/>
              </a:buClr>
              <a:buFont typeface="Arial"/>
              <a:defRPr b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" name="Slide Number"/>
          <p:cNvSpPr txBox="1"/>
          <p:nvPr>
            <p:ph type="sldNum" sz="quarter" idx="2"/>
          </p:nvPr>
        </p:nvSpPr>
        <p:spPr>
          <a:xfrm>
            <a:off x="11656750" y="6380538"/>
            <a:ext cx="232877" cy="228511"/>
          </a:xfrm>
          <a:prstGeom prst="rect">
            <a:avLst/>
          </a:prstGeom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ingle photo with tex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7"/>
          <p:cNvSpPr/>
          <p:nvPr>
            <p:ph type="pic" sz="quarter" idx="21"/>
          </p:nvPr>
        </p:nvSpPr>
        <p:spPr>
          <a:xfrm>
            <a:off x="933864" y="1773021"/>
            <a:ext cx="3938588" cy="3938588"/>
          </a:xfrm>
          <a:prstGeom prst="rect">
            <a:avLst/>
          </a:prstGeom>
        </p:spPr>
        <p:txBody>
          <a:bodyPr lIns="91439" rIns="91439" anchor="t">
            <a:noAutofit/>
          </a:bodyPr>
          <a:lstStyle/>
          <a:p>
            <a:pPr/>
          </a:p>
        </p:txBody>
      </p:sp>
      <p:sp>
        <p:nvSpPr>
          <p:cNvPr id="32" name="Body Level One…"/>
          <p:cNvSpPr txBox="1"/>
          <p:nvPr>
            <p:ph type="body" sz="half" idx="1"/>
          </p:nvPr>
        </p:nvSpPr>
        <p:spPr>
          <a:xfrm>
            <a:off x="5347568" y="1773021"/>
            <a:ext cx="6013538" cy="3938588"/>
          </a:xfrm>
          <a:prstGeom prst="rect">
            <a:avLst/>
          </a:prstGeom>
        </p:spPr>
        <p:txBody>
          <a:bodyPr anchor="t"/>
          <a:lstStyle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/>
              <a:buChar char="•"/>
              <a:defRPr b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/>
              <a:defRPr b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/>
              <a:defRPr b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/>
              <a:defRPr b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/>
              <a:defRPr b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" name="Slide Number"/>
          <p:cNvSpPr txBox="1"/>
          <p:nvPr>
            <p:ph type="sldNum" sz="quarter" idx="2"/>
          </p:nvPr>
        </p:nvSpPr>
        <p:spPr>
          <a:xfrm>
            <a:off x="11656750" y="6380538"/>
            <a:ext cx="232877" cy="228511"/>
          </a:xfrm>
          <a:prstGeom prst="rect">
            <a:avLst/>
          </a:prstGeom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34" name="Title Text"/>
          <p:cNvSpPr txBox="1"/>
          <p:nvPr>
            <p:ph type="title"/>
          </p:nvPr>
        </p:nvSpPr>
        <p:spPr>
          <a:xfrm>
            <a:off x="562628" y="463967"/>
            <a:ext cx="9724373" cy="1033399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lnSpc>
                <a:spcPts val="3800"/>
              </a:lnSpc>
              <a:defRPr b="1" sz="3600">
                <a:solidFill>
                  <a:schemeClr val="accent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Title Text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ouble photo with tex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7"/>
          <p:cNvSpPr/>
          <p:nvPr>
            <p:ph type="pic" sz="quarter" idx="21"/>
          </p:nvPr>
        </p:nvSpPr>
        <p:spPr>
          <a:xfrm>
            <a:off x="933864" y="1655241"/>
            <a:ext cx="3982602" cy="2222782"/>
          </a:xfrm>
          <a:prstGeom prst="rect">
            <a:avLst/>
          </a:prstGeom>
        </p:spPr>
        <p:txBody>
          <a:bodyPr lIns="91439" rIns="91439" anchor="t">
            <a:noAutofit/>
          </a:bodyPr>
          <a:lstStyle/>
          <a:p>
            <a:pPr/>
          </a:p>
        </p:txBody>
      </p:sp>
      <p:sp>
        <p:nvSpPr>
          <p:cNvPr id="42" name="Body Level One…"/>
          <p:cNvSpPr txBox="1"/>
          <p:nvPr>
            <p:ph type="body" sz="quarter" idx="1"/>
          </p:nvPr>
        </p:nvSpPr>
        <p:spPr>
          <a:xfrm>
            <a:off x="933864" y="4202481"/>
            <a:ext cx="3995802" cy="1835064"/>
          </a:xfrm>
          <a:prstGeom prst="rect">
            <a:avLst/>
          </a:prstGeom>
        </p:spPr>
        <p:txBody>
          <a:bodyPr anchor="t"/>
          <a:lstStyle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/>
              <a:buChar char="•"/>
              <a:defRPr b="0" sz="2000">
                <a:solidFill>
                  <a:srgbClr val="000000"/>
                </a:solidFill>
              </a:defRPr>
            </a:lvl1pPr>
            <a:lvl2pPr marL="711200" indent="-25400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/>
              <a:defRPr b="0" sz="2000">
                <a:solidFill>
                  <a:srgbClr val="000000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/>
              <a:defRPr b="0" sz="2000">
                <a:solidFill>
                  <a:srgbClr val="000000"/>
                </a:solidFill>
              </a:defRPr>
            </a:lvl3pPr>
            <a:lvl4pPr marL="1698171" indent="-32657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/>
              <a:defRPr b="0" sz="2000">
                <a:solidFill>
                  <a:srgbClr val="000000"/>
                </a:solidFill>
              </a:defRPr>
            </a:lvl4pPr>
            <a:lvl5pPr marL="2155371" indent="-32657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/>
              <a:defRPr b="0" sz="20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" name="Picture Placeholder 7"/>
          <p:cNvSpPr/>
          <p:nvPr>
            <p:ph type="pic" sz="quarter" idx="22"/>
          </p:nvPr>
        </p:nvSpPr>
        <p:spPr>
          <a:xfrm>
            <a:off x="7240719" y="1655241"/>
            <a:ext cx="3982603" cy="2222782"/>
          </a:xfrm>
          <a:prstGeom prst="rect">
            <a:avLst/>
          </a:prstGeom>
        </p:spPr>
        <p:txBody>
          <a:bodyPr lIns="91439" rIns="91439" anchor="t">
            <a:noAutofit/>
          </a:bodyPr>
          <a:lstStyle/>
          <a:p>
            <a:pPr/>
          </a:p>
        </p:txBody>
      </p:sp>
      <p:sp>
        <p:nvSpPr>
          <p:cNvPr id="44" name="Straight Connector 2"/>
          <p:cNvSpPr/>
          <p:nvPr/>
        </p:nvSpPr>
        <p:spPr>
          <a:xfrm flipH="1">
            <a:off x="6096000" y="1551313"/>
            <a:ext cx="1" cy="4653420"/>
          </a:xfrm>
          <a:prstGeom prst="line">
            <a:avLst/>
          </a:prstGeom>
          <a:ln w="6350">
            <a:solidFill>
              <a:srgbClr val="8C857B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xfrm>
            <a:off x="11656750" y="6380538"/>
            <a:ext cx="232877" cy="228511"/>
          </a:xfrm>
          <a:prstGeom prst="rect">
            <a:avLst/>
          </a:prstGeom>
        </p:spPr>
        <p:txBody>
          <a:bodyPr anchor="t"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46" name="Title Text"/>
          <p:cNvSpPr txBox="1"/>
          <p:nvPr>
            <p:ph type="title"/>
          </p:nvPr>
        </p:nvSpPr>
        <p:spPr>
          <a:xfrm>
            <a:off x="562628" y="463967"/>
            <a:ext cx="9724373" cy="1033399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lnSpc>
                <a:spcPts val="3800"/>
              </a:lnSpc>
              <a:defRPr b="1" sz="3600">
                <a:solidFill>
                  <a:schemeClr val="accent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Title Text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slide is for one big, bold statement. Bullet points can’t compete!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clud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hank you for attending! and/or other concluding message"/>
          <p:cNvSpPr txBox="1"/>
          <p:nvPr>
            <p:ph type="title" hasCustomPrompt="1"/>
          </p:nvPr>
        </p:nvSpPr>
        <p:spPr>
          <a:xfrm>
            <a:off x="1578278" y="1577648"/>
            <a:ext cx="8418339" cy="1928469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>
              <a:lnSpc>
                <a:spcPts val="3800"/>
              </a:lnSpc>
              <a:defRPr b="1" sz="3600">
                <a:solidFill>
                  <a:schemeClr val="accent1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Thank you for attending! and/or other concluding message</a:t>
            </a:r>
          </a:p>
        </p:txBody>
      </p:sp>
      <p:sp>
        <p:nvSpPr>
          <p:cNvPr id="62" name="Body Level One…"/>
          <p:cNvSpPr txBox="1"/>
          <p:nvPr>
            <p:ph type="body" sz="quarter" idx="1" hasCustomPrompt="1"/>
          </p:nvPr>
        </p:nvSpPr>
        <p:spPr>
          <a:xfrm>
            <a:off x="1578278" y="3521318"/>
            <a:ext cx="8418339" cy="780998"/>
          </a:xfrm>
          <a:prstGeom prst="rect">
            <a:avLst/>
          </a:prstGeom>
        </p:spPr>
        <p:txBody>
          <a:bodyPr anchor="t"/>
          <a:lstStyle>
            <a:lvl1pPr>
              <a:lnSpc>
                <a:spcPts val="2600"/>
              </a:lnSpc>
              <a:defRPr sz="2400">
                <a:solidFill>
                  <a:srgbClr val="000000"/>
                </a:solidFill>
              </a:defRPr>
            </a:lvl1pPr>
            <a:lvl2pPr marL="0" indent="457200">
              <a:lnSpc>
                <a:spcPts val="2600"/>
              </a:lnSpc>
              <a:buSzTx/>
              <a:buNone/>
              <a:defRPr sz="2400">
                <a:solidFill>
                  <a:srgbClr val="000000"/>
                </a:solidFill>
              </a:defRPr>
            </a:lvl2pPr>
            <a:lvl3pPr marL="0" indent="914400">
              <a:lnSpc>
                <a:spcPts val="2600"/>
              </a:lnSpc>
              <a:buSzTx/>
              <a:buNone/>
              <a:defRPr sz="2400">
                <a:solidFill>
                  <a:srgbClr val="000000"/>
                </a:solidFill>
              </a:defRPr>
            </a:lvl3pPr>
            <a:lvl4pPr marL="0" indent="1371600">
              <a:lnSpc>
                <a:spcPts val="2600"/>
              </a:lnSpc>
              <a:buSzTx/>
              <a:buNone/>
              <a:defRPr sz="2400">
                <a:solidFill>
                  <a:srgbClr val="000000"/>
                </a:solidFill>
              </a:defRPr>
            </a:lvl4pPr>
            <a:lvl5pPr marL="0" indent="1828800">
              <a:lnSpc>
                <a:spcPts val="2600"/>
              </a:lnSpc>
              <a:buSzTx/>
              <a:buNone/>
              <a:defRPr sz="2400">
                <a:solidFill>
                  <a:srgbClr val="000000"/>
                </a:solidFill>
              </a:defRPr>
            </a:lvl5pPr>
          </a:lstStyle>
          <a:p>
            <a:pPr/>
            <a:r>
              <a:t>For more information go to ucalgary.ca/webaddress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Text Placeholder 9"/>
          <p:cNvSpPr/>
          <p:nvPr>
            <p:ph type="body" sz="quarter" idx="21" hasCustomPrompt="1"/>
          </p:nvPr>
        </p:nvSpPr>
        <p:spPr>
          <a:xfrm>
            <a:off x="1578278" y="4317515"/>
            <a:ext cx="8418339" cy="1468880"/>
          </a:xfrm>
          <a:prstGeom prst="rect">
            <a:avLst/>
          </a:prstGeom>
        </p:spPr>
        <p:txBody>
          <a:bodyPr anchor="b"/>
          <a:lstStyle>
            <a:lvl1pPr>
              <a:lnSpc>
                <a:spcPts val="2000"/>
              </a:lnSpc>
              <a:defRPr b="0" sz="1800">
                <a:solidFill>
                  <a:srgbClr val="000000"/>
                </a:solidFill>
              </a:defRPr>
            </a:lvl1pPr>
          </a:lstStyle>
          <a:p>
            <a:pPr/>
            <a:r>
              <a:t>Presenter’s Name presentersemail@ucalgary.ca Phone number / Twitter handle / additional contact info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 hasCustomPrompt="1"/>
          </p:nvPr>
        </p:nvSpPr>
        <p:spPr>
          <a:xfrm>
            <a:off x="1578280" y="1168640"/>
            <a:ext cx="8749432" cy="46214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This slide is for one big, bold statement. Bullet points can’t compete!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609600" y="274637"/>
            <a:ext cx="109728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0" marR="0" indent="0" algn="l" defTabSz="914400" rtl="0" latinLnBrk="0">
        <a:lnSpc>
          <a:spcPts val="62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000" u="none">
          <a:solidFill>
            <a:schemeClr val="accent1"/>
          </a:solidFill>
          <a:uFillTx/>
          <a:latin typeface="+mj-lt"/>
          <a:ea typeface="+mj-ea"/>
          <a:cs typeface="+mj-cs"/>
          <a:sym typeface="Calibri"/>
        </a:defRPr>
      </a:lvl1pPr>
      <a:lvl2pPr marL="1028700" marR="0" indent="-571500" algn="l" defTabSz="914400" rtl="0" latinLnBrk="0">
        <a:lnSpc>
          <a:spcPts val="62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b="1" baseline="0" cap="none" i="0" spc="0" strike="noStrike" sz="6000" u="none">
          <a:solidFill>
            <a:schemeClr val="accent1"/>
          </a:solidFill>
          <a:uFillTx/>
          <a:latin typeface="+mj-lt"/>
          <a:ea typeface="+mj-ea"/>
          <a:cs typeface="+mj-cs"/>
          <a:sym typeface="Calibri"/>
        </a:defRPr>
      </a:lvl2pPr>
      <a:lvl3pPr marL="1600200" marR="0" indent="-685800" algn="l" defTabSz="914400" rtl="0" latinLnBrk="0">
        <a:lnSpc>
          <a:spcPts val="62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b="1" baseline="0" cap="none" i="0" spc="0" strike="noStrike" sz="6000" u="none">
          <a:solidFill>
            <a:schemeClr val="accent1"/>
          </a:solidFill>
          <a:uFillTx/>
          <a:latin typeface="+mj-lt"/>
          <a:ea typeface="+mj-ea"/>
          <a:cs typeface="+mj-cs"/>
          <a:sym typeface="Calibri"/>
        </a:defRPr>
      </a:lvl3pPr>
      <a:lvl4pPr marL="2133600" marR="0" indent="-762000" algn="l" defTabSz="914400" rtl="0" latinLnBrk="0">
        <a:lnSpc>
          <a:spcPts val="62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b="1" baseline="0" cap="none" i="0" spc="0" strike="noStrike" sz="6000" u="none">
          <a:solidFill>
            <a:schemeClr val="accent1"/>
          </a:solidFill>
          <a:uFillTx/>
          <a:latin typeface="+mj-lt"/>
          <a:ea typeface="+mj-ea"/>
          <a:cs typeface="+mj-cs"/>
          <a:sym typeface="Calibri"/>
        </a:defRPr>
      </a:lvl4pPr>
      <a:lvl5pPr marL="2590800" marR="0" indent="-762000" algn="l" defTabSz="914400" rtl="0" latinLnBrk="0">
        <a:lnSpc>
          <a:spcPts val="62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b="1" baseline="0" cap="none" i="0" spc="0" strike="noStrike" sz="6000" u="none">
          <a:solidFill>
            <a:schemeClr val="accent1"/>
          </a:solidFill>
          <a:uFillTx/>
          <a:latin typeface="+mj-lt"/>
          <a:ea typeface="+mj-ea"/>
          <a:cs typeface="+mj-cs"/>
          <a:sym typeface="Calibri"/>
        </a:defRPr>
      </a:lvl5pPr>
      <a:lvl6pPr marL="3048000" marR="0" indent="-762000" algn="l" defTabSz="914400" rtl="0" latinLnBrk="0">
        <a:lnSpc>
          <a:spcPts val="62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b="1" baseline="0" cap="none" i="0" spc="0" strike="noStrike" sz="6000" u="none">
          <a:solidFill>
            <a:schemeClr val="accent1"/>
          </a:solidFill>
          <a:uFillTx/>
          <a:latin typeface="+mj-lt"/>
          <a:ea typeface="+mj-ea"/>
          <a:cs typeface="+mj-cs"/>
          <a:sym typeface="Calibri"/>
        </a:defRPr>
      </a:lvl6pPr>
      <a:lvl7pPr marL="3505200" marR="0" indent="-762000" algn="l" defTabSz="914400" rtl="0" latinLnBrk="0">
        <a:lnSpc>
          <a:spcPts val="62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b="1" baseline="0" cap="none" i="0" spc="0" strike="noStrike" sz="6000" u="none">
          <a:solidFill>
            <a:schemeClr val="accent1"/>
          </a:solidFill>
          <a:uFillTx/>
          <a:latin typeface="+mj-lt"/>
          <a:ea typeface="+mj-ea"/>
          <a:cs typeface="+mj-cs"/>
          <a:sym typeface="Calibri"/>
        </a:defRPr>
      </a:lvl7pPr>
      <a:lvl8pPr marL="3962400" marR="0" indent="-762000" algn="l" defTabSz="914400" rtl="0" latinLnBrk="0">
        <a:lnSpc>
          <a:spcPts val="62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b="1" baseline="0" cap="none" i="0" spc="0" strike="noStrike" sz="6000" u="none">
          <a:solidFill>
            <a:schemeClr val="accent1"/>
          </a:solidFill>
          <a:uFillTx/>
          <a:latin typeface="+mj-lt"/>
          <a:ea typeface="+mj-ea"/>
          <a:cs typeface="+mj-cs"/>
          <a:sym typeface="Calibri"/>
        </a:defRPr>
      </a:lvl8pPr>
      <a:lvl9pPr marL="4419600" marR="0" indent="-762000" algn="l" defTabSz="914400" rtl="0" latinLnBrk="0">
        <a:lnSpc>
          <a:spcPts val="62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b="1" baseline="0" cap="none" i="0" spc="0" strike="noStrike" sz="6000" u="none">
          <a:solidFill>
            <a:schemeClr val="accent1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1"/>
          <p:cNvSpPr txBox="1"/>
          <p:nvPr>
            <p:ph type="ctrTitle"/>
          </p:nvPr>
        </p:nvSpPr>
        <p:spPr>
          <a:xfrm>
            <a:off x="1191909" y="1051239"/>
            <a:ext cx="6896023" cy="2342690"/>
          </a:xfrm>
          <a:prstGeom prst="rect">
            <a:avLst/>
          </a:prstGeom>
        </p:spPr>
        <p:txBody>
          <a:bodyPr/>
          <a:lstStyle/>
          <a:p>
            <a:pPr/>
            <a:r>
              <a:t>Electricity Production, Use and Price Analysis</a:t>
            </a:r>
          </a:p>
        </p:txBody>
      </p:sp>
      <p:sp>
        <p:nvSpPr>
          <p:cNvPr id="74" name="Subtitle 2"/>
          <p:cNvSpPr txBox="1"/>
          <p:nvPr>
            <p:ph type="subTitle" sz="quarter" idx="1"/>
          </p:nvPr>
        </p:nvSpPr>
        <p:spPr>
          <a:xfrm>
            <a:off x="1191908" y="3393928"/>
            <a:ext cx="7841296" cy="714932"/>
          </a:xfrm>
          <a:prstGeom prst="rect">
            <a:avLst/>
          </a:prstGeom>
        </p:spPr>
        <p:txBody>
          <a:bodyPr/>
          <a:lstStyle/>
          <a:p>
            <a:pPr defTabSz="621791">
              <a:lnSpc>
                <a:spcPts val="1700"/>
              </a:lnSpc>
              <a:defRPr sz="1632"/>
            </a:pPr>
            <a:r>
              <a:t>Factors influencing Alberta’s Spot Market Electricity Prices, Grid Load and Production Mix</a:t>
            </a:r>
            <a:endParaRPr sz="1360"/>
          </a:p>
          <a:p>
            <a:pPr defTabSz="621791">
              <a:lnSpc>
                <a:spcPts val="1700"/>
              </a:lnSpc>
              <a:defRPr sz="1632"/>
            </a:pPr>
            <a:r>
              <a:t>	</a:t>
            </a:r>
          </a:p>
        </p:txBody>
      </p:sp>
      <p:sp>
        <p:nvSpPr>
          <p:cNvPr id="75" name="Text Placeholder 3"/>
          <p:cNvSpPr/>
          <p:nvPr>
            <p:ph type="body" idx="21"/>
          </p:nvPr>
        </p:nvSpPr>
        <p:spPr>
          <a:xfrm>
            <a:off x="1191908" y="4398460"/>
            <a:ext cx="7841296" cy="16975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>
              <a:lnSpc>
                <a:spcPct val="115000"/>
              </a:lnSpc>
            </a:pPr>
            <a:r>
              <a:t>Daniela Mañozca Cruz </a:t>
            </a:r>
          </a:p>
          <a:p>
            <a:pPr>
              <a:lnSpc>
                <a:spcPct val="115000"/>
              </a:lnSpc>
            </a:pPr>
            <a:r>
              <a:t>Gautham Nagaraj</a:t>
            </a:r>
          </a:p>
          <a:p>
            <a:pPr>
              <a:lnSpc>
                <a:spcPct val="115000"/>
              </a:lnSpc>
            </a:pPr>
            <a:r>
              <a:t>Jeremy Reid </a:t>
            </a:r>
          </a:p>
          <a:p>
            <a:pPr>
              <a:lnSpc>
                <a:spcPct val="115000"/>
              </a:lnSpc>
            </a:pPr>
            <a:r>
              <a:t>Joao Ricardo Bertti Targino</a:t>
            </a:r>
            <a:endParaRPr sz="24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itle 1"/>
          <p:cNvSpPr txBox="1"/>
          <p:nvPr>
            <p:ph type="title"/>
          </p:nvPr>
        </p:nvSpPr>
        <p:spPr>
          <a:xfrm>
            <a:off x="562627" y="463968"/>
            <a:ext cx="9724374" cy="1033398"/>
          </a:xfrm>
          <a:prstGeom prst="rect">
            <a:avLst/>
          </a:prstGeom>
        </p:spPr>
        <p:txBody>
          <a:bodyPr/>
          <a:lstStyle/>
          <a:p>
            <a:pPr/>
            <a:r>
              <a:t>Introduction</a:t>
            </a:r>
          </a:p>
        </p:txBody>
      </p:sp>
      <p:sp>
        <p:nvSpPr>
          <p:cNvPr id="78" name="Content Placeholder 2"/>
          <p:cNvSpPr txBox="1"/>
          <p:nvPr>
            <p:ph type="body" idx="1"/>
          </p:nvPr>
        </p:nvSpPr>
        <p:spPr>
          <a:xfrm>
            <a:off x="562627" y="1371165"/>
            <a:ext cx="9724374" cy="411567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defRPr sz="1800">
                <a:latin typeface="system-ui"/>
                <a:ea typeface="system-ui"/>
                <a:cs typeface="system-ui"/>
                <a:sym typeface="system-ui"/>
              </a:defRPr>
            </a:pPr>
            <a:r>
              <a:t>Alberta established a deregulated electricity market in 1996 with the Electric Utilities Act (EUA), creating the possibility for private companies to compete for customers</a:t>
            </a:r>
          </a:p>
          <a:p>
            <a:pPr>
              <a:lnSpc>
                <a:spcPct val="150000"/>
              </a:lnSpc>
              <a:spcBef>
                <a:spcPts val="0"/>
              </a:spcBef>
              <a:defRPr sz="1800"/>
            </a:pPr>
            <a:r>
              <a:t>The AESO also collects and evaluates industry public data and will be the primary data source for this project</a:t>
            </a:r>
          </a:p>
          <a:p>
            <a:pPr>
              <a:lnSpc>
                <a:spcPct val="150000"/>
              </a:lnSpc>
              <a:spcBef>
                <a:spcPts val="0"/>
              </a:spcBef>
              <a:defRPr sz="1800"/>
            </a:pPr>
            <a:r>
              <a:t>The </a:t>
            </a:r>
            <a:r>
              <a:rPr b="1"/>
              <a:t>Balancing Pool </a:t>
            </a:r>
            <a:r>
              <a:t>administers a wholesale electricity market or ‘spot market’.</a:t>
            </a:r>
          </a:p>
          <a:p>
            <a:pPr>
              <a:lnSpc>
                <a:spcPct val="150000"/>
              </a:lnSpc>
              <a:spcBef>
                <a:spcPts val="0"/>
              </a:spcBef>
              <a:defRPr sz="1800"/>
            </a:pPr>
            <a:r>
              <a:t>The Power Pool matches the lowest-priced supply with demand by establishing a pool price that is revised hourly</a:t>
            </a:r>
          </a:p>
        </p:txBody>
      </p:sp>
      <p:sp>
        <p:nvSpPr>
          <p:cNvPr id="79" name="Slide Number Placeholder 3"/>
          <p:cNvSpPr txBox="1"/>
          <p:nvPr>
            <p:ph type="sldNum" sz="quarter" idx="2"/>
          </p:nvPr>
        </p:nvSpPr>
        <p:spPr>
          <a:xfrm>
            <a:off x="11721118" y="6380538"/>
            <a:ext cx="168509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itle 1"/>
          <p:cNvSpPr txBox="1"/>
          <p:nvPr>
            <p:ph type="title"/>
          </p:nvPr>
        </p:nvSpPr>
        <p:spPr>
          <a:xfrm>
            <a:off x="562627" y="463968"/>
            <a:ext cx="9724374" cy="1033398"/>
          </a:xfrm>
          <a:prstGeom prst="rect">
            <a:avLst/>
          </a:prstGeom>
        </p:spPr>
        <p:txBody>
          <a:bodyPr/>
          <a:lstStyle/>
          <a:p>
            <a:pPr/>
            <a:r>
              <a:t>Background</a:t>
            </a:r>
          </a:p>
        </p:txBody>
      </p:sp>
      <p:sp>
        <p:nvSpPr>
          <p:cNvPr id="82" name="Content Placeholder 2"/>
          <p:cNvSpPr txBox="1"/>
          <p:nvPr>
            <p:ph type="body" idx="1"/>
          </p:nvPr>
        </p:nvSpPr>
        <p:spPr>
          <a:xfrm>
            <a:off x="562627" y="1773195"/>
            <a:ext cx="9724374" cy="4115670"/>
          </a:xfrm>
          <a:prstGeom prst="rect">
            <a:avLst/>
          </a:prstGeom>
        </p:spPr>
        <p:txBody>
          <a:bodyPr/>
          <a:lstStyle/>
          <a:p>
            <a:pPr algn="just">
              <a:defRPr sz="1800">
                <a:latin typeface="system-ui"/>
                <a:ea typeface="system-ui"/>
                <a:cs typeface="system-ui"/>
                <a:sym typeface="system-ui"/>
              </a:defRPr>
            </a:pPr>
            <a:r>
              <a:t>The market has multiple private providers such as ENMAX, ATCO, ENCOR and Direct Energy</a:t>
            </a:r>
          </a:p>
          <a:p>
            <a:pPr algn="just">
              <a:defRPr sz="1800"/>
            </a:pPr>
            <a:r>
              <a:t>Companies have the option of generating their power or buying short-term contracts on the spot market, or a mix of both.</a:t>
            </a:r>
          </a:p>
          <a:p>
            <a:pPr algn="just">
              <a:defRPr sz="1800"/>
            </a:pPr>
            <a:r>
              <a:t>The power supplied to the spot market is primarily generated by private or public entities.</a:t>
            </a:r>
          </a:p>
        </p:txBody>
      </p:sp>
      <p:sp>
        <p:nvSpPr>
          <p:cNvPr id="83" name="Slide Number Placeholder 3"/>
          <p:cNvSpPr txBox="1"/>
          <p:nvPr>
            <p:ph type="sldNum" sz="quarter" idx="2"/>
          </p:nvPr>
        </p:nvSpPr>
        <p:spPr>
          <a:xfrm>
            <a:off x="11721118" y="6380538"/>
            <a:ext cx="168509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1"/>
          <p:cNvSpPr txBox="1"/>
          <p:nvPr>
            <p:ph type="title"/>
          </p:nvPr>
        </p:nvSpPr>
        <p:spPr>
          <a:xfrm>
            <a:off x="562627" y="463968"/>
            <a:ext cx="9724374" cy="1033398"/>
          </a:xfrm>
          <a:prstGeom prst="rect">
            <a:avLst/>
          </a:prstGeom>
        </p:spPr>
        <p:txBody>
          <a:bodyPr/>
          <a:lstStyle/>
          <a:p>
            <a:pPr/>
            <a:r>
              <a:t>Objective		</a:t>
            </a:r>
          </a:p>
        </p:txBody>
      </p:sp>
      <p:sp>
        <p:nvSpPr>
          <p:cNvPr id="86" name="Content Placeholder 2"/>
          <p:cNvSpPr txBox="1"/>
          <p:nvPr>
            <p:ph type="body" sz="half" idx="1"/>
          </p:nvPr>
        </p:nvSpPr>
        <p:spPr>
          <a:xfrm>
            <a:off x="562627" y="1871036"/>
            <a:ext cx="9724374" cy="2804161"/>
          </a:xfrm>
          <a:prstGeom prst="rect">
            <a:avLst/>
          </a:prstGeom>
        </p:spPr>
        <p:txBody>
          <a:bodyPr/>
          <a:lstStyle/>
          <a:p>
            <a:pPr algn="just">
              <a:defRPr sz="2000"/>
            </a:pPr>
            <a:r>
              <a:t>Study the relationship between a group of variables and spot prices based on different factors such as weather, population growth, type of generation and demand.</a:t>
            </a:r>
          </a:p>
          <a:p>
            <a:pPr algn="just">
              <a:defRPr sz="2000"/>
            </a:pPr>
            <a:r>
              <a:t>Develop a time-series model that can predict with certain confidence the spot price for next hours.</a:t>
            </a:r>
          </a:p>
          <a:p>
            <a:pPr algn="just">
              <a:defRPr sz="2000"/>
            </a:pPr>
            <a:r>
              <a:t>Understand the different energy sources and the amount of electricity generated from each of these sources</a:t>
            </a:r>
          </a:p>
        </p:txBody>
      </p:sp>
      <p:sp>
        <p:nvSpPr>
          <p:cNvPr id="87" name="Slide Number Placeholder 3"/>
          <p:cNvSpPr txBox="1"/>
          <p:nvPr>
            <p:ph type="sldNum" sz="quarter" idx="2"/>
          </p:nvPr>
        </p:nvSpPr>
        <p:spPr>
          <a:xfrm>
            <a:off x="11721118" y="6380538"/>
            <a:ext cx="168509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ontent Placeholder 2"/>
          <p:cNvSpPr txBox="1"/>
          <p:nvPr>
            <p:ph type="body" sz="half" idx="1"/>
          </p:nvPr>
        </p:nvSpPr>
        <p:spPr>
          <a:xfrm>
            <a:off x="7436887" y="2131136"/>
            <a:ext cx="4663478" cy="5421938"/>
          </a:xfrm>
          <a:prstGeom prst="rect">
            <a:avLst/>
          </a:prstGeom>
        </p:spPr>
        <p:txBody>
          <a:bodyPr/>
          <a:lstStyle/>
          <a:p>
            <a:pPr>
              <a:defRPr sz="1800"/>
            </a:pPr>
            <a:r>
              <a:t>Statistical checks are important to understand time series date prior to modelling:</a:t>
            </a:r>
          </a:p>
          <a:p>
            <a:pPr lvl="1" marL="685800" indent="-228600">
              <a:defRPr sz="1800"/>
            </a:pPr>
            <a:r>
              <a:t>Identifying outliers</a:t>
            </a:r>
          </a:p>
          <a:p>
            <a:pPr lvl="1" marL="685800" indent="-228600">
              <a:defRPr sz="1800"/>
            </a:pPr>
            <a:r>
              <a:t>Checking stationarity and heteroskedasticity (constant mean /variance)</a:t>
            </a:r>
          </a:p>
          <a:p>
            <a:pPr lvl="1" marL="685800" indent="-228600">
              <a:defRPr sz="1800"/>
            </a:pPr>
            <a:r>
              <a:t>Seasonality detection</a:t>
            </a:r>
          </a:p>
          <a:p>
            <a:pPr lvl="1" marL="685800" indent="-228600">
              <a:defRPr sz="1800"/>
            </a:pPr>
            <a:r>
              <a:t>Assessing autocorrelation</a:t>
            </a:r>
          </a:p>
          <a:p>
            <a:pPr>
              <a:defRPr sz="1800"/>
            </a:pPr>
            <a:r>
              <a:t>Allows modelling adjustments to be made</a:t>
            </a:r>
          </a:p>
        </p:txBody>
      </p:sp>
      <p:sp>
        <p:nvSpPr>
          <p:cNvPr id="90" name="Slide Number Placeholder 3"/>
          <p:cNvSpPr txBox="1"/>
          <p:nvPr>
            <p:ph type="sldNum" sz="quarter" idx="2"/>
          </p:nvPr>
        </p:nvSpPr>
        <p:spPr>
          <a:xfrm>
            <a:off x="11721118" y="6380538"/>
            <a:ext cx="168509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91" name="Title 1"/>
          <p:cNvSpPr txBox="1"/>
          <p:nvPr>
            <p:ph type="title"/>
          </p:nvPr>
        </p:nvSpPr>
        <p:spPr>
          <a:xfrm>
            <a:off x="562627" y="463967"/>
            <a:ext cx="9724374" cy="1033399"/>
          </a:xfrm>
          <a:prstGeom prst="rect">
            <a:avLst/>
          </a:prstGeom>
        </p:spPr>
        <p:txBody>
          <a:bodyPr/>
          <a:lstStyle/>
          <a:p>
            <a:pPr/>
            <a:r>
              <a:t>System Load and Electricity Price</a:t>
            </a:r>
          </a:p>
        </p:txBody>
      </p:sp>
      <p:pic>
        <p:nvPicPr>
          <p:cNvPr id="92" name="Screenshot 2025-03-26 at 2.14.26 pm.png" descr="Screenshot 2025-03-26 at 2.14.26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7073" y="1244535"/>
            <a:ext cx="5296676" cy="2710248"/>
          </a:xfrm>
          <a:prstGeom prst="rect">
            <a:avLst/>
          </a:prstGeom>
          <a:ln w="12700">
            <a:miter lim="400000"/>
          </a:ln>
        </p:spPr>
      </p:pic>
      <p:pic>
        <p:nvPicPr>
          <p:cNvPr id="93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90365" y="3984446"/>
            <a:ext cx="5296676" cy="26552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ontent Placeholder 2"/>
          <p:cNvSpPr txBox="1"/>
          <p:nvPr>
            <p:ph type="body" sz="half" idx="1"/>
          </p:nvPr>
        </p:nvSpPr>
        <p:spPr>
          <a:xfrm>
            <a:off x="7436887" y="2131136"/>
            <a:ext cx="4663478" cy="5421938"/>
          </a:xfrm>
          <a:prstGeom prst="rect">
            <a:avLst/>
          </a:prstGeom>
        </p:spPr>
        <p:txBody>
          <a:bodyPr/>
          <a:lstStyle/>
          <a:p>
            <a:pPr>
              <a:defRPr sz="1800"/>
            </a:pPr>
            <a:r>
              <a:t>Population is a primary driver of electrical grid load</a:t>
            </a:r>
          </a:p>
          <a:p>
            <a:pPr>
              <a:defRPr sz="1800"/>
            </a:pPr>
            <a:r>
              <a:t>This makes it an important independent variable to explore in understanding electricity demand</a:t>
            </a:r>
          </a:p>
          <a:p>
            <a:pPr>
              <a:defRPr sz="1800"/>
            </a:pPr>
            <a:r>
              <a:t>We are exploring this relationship in order to determine other factors important in predicting load</a:t>
            </a:r>
          </a:p>
          <a:p>
            <a:pPr>
              <a:defRPr sz="1800"/>
            </a:pPr>
            <a:r>
              <a:t>Prediction of price will require a complex model</a:t>
            </a:r>
          </a:p>
        </p:txBody>
      </p:sp>
      <p:sp>
        <p:nvSpPr>
          <p:cNvPr id="96" name="Slide Number Placeholder 3"/>
          <p:cNvSpPr txBox="1"/>
          <p:nvPr>
            <p:ph type="sldNum" sz="quarter" idx="2"/>
          </p:nvPr>
        </p:nvSpPr>
        <p:spPr>
          <a:xfrm>
            <a:off x="11721118" y="6380538"/>
            <a:ext cx="168509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97" name="Title 1"/>
          <p:cNvSpPr txBox="1"/>
          <p:nvPr>
            <p:ph type="title"/>
          </p:nvPr>
        </p:nvSpPr>
        <p:spPr>
          <a:xfrm>
            <a:off x="562627" y="463967"/>
            <a:ext cx="9724374" cy="1033399"/>
          </a:xfrm>
          <a:prstGeom prst="rect">
            <a:avLst/>
          </a:prstGeom>
        </p:spPr>
        <p:txBody>
          <a:bodyPr/>
          <a:lstStyle/>
          <a:p>
            <a:pPr/>
            <a:r>
              <a:t>System Load and Population Data</a:t>
            </a:r>
          </a:p>
        </p:txBody>
      </p:sp>
      <p:pic>
        <p:nvPicPr>
          <p:cNvPr id="9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rcRect l="432" t="0" r="432" b="864"/>
          <a:stretch>
            <a:fillRect/>
          </a:stretch>
        </p:blipFill>
        <p:spPr>
          <a:xfrm>
            <a:off x="349047" y="1712553"/>
            <a:ext cx="6770186" cy="2657538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Text"/>
          <p:cNvSpPr txBox="1"/>
          <p:nvPr/>
        </p:nvSpPr>
        <p:spPr>
          <a:xfrm>
            <a:off x="5855122" y="3259807"/>
            <a:ext cx="481756" cy="33308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/>
          </a:p>
        </p:txBody>
      </p:sp>
      <p:sp>
        <p:nvSpPr>
          <p:cNvPr id="100" name="Findings to date:…"/>
          <p:cNvSpPr/>
          <p:nvPr/>
        </p:nvSpPr>
        <p:spPr>
          <a:xfrm>
            <a:off x="104091" y="4591566"/>
            <a:ext cx="7260204" cy="2099726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Findings to date:</a:t>
            </a:r>
          </a:p>
          <a:p>
            <a:pPr/>
            <a:r>
              <a:t>-Load data shows non-stationarity over annual periods, clear seasonality and autocorrelation with a primary and secondary seasonal pattern.</a:t>
            </a:r>
          </a:p>
          <a:p>
            <a:pPr/>
            <a:r>
              <a:t>-Electricity price data show non-stationarity over 30, 90, and 365 days with clear seasonality, heteroskedasticity, non-uniform residuals and clear autocorrelation (yesterday’s price impacts today’s).</a:t>
            </a:r>
          </a:p>
          <a:p>
            <a:pPr/>
            <a:r>
              <a:t>-Relationship between population and load appears to be non-linear.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1"/>
          <p:cNvSpPr txBox="1"/>
          <p:nvPr>
            <p:ph type="title"/>
          </p:nvPr>
        </p:nvSpPr>
        <p:spPr>
          <a:xfrm>
            <a:off x="562627" y="463968"/>
            <a:ext cx="9724374" cy="1033398"/>
          </a:xfrm>
          <a:prstGeom prst="rect">
            <a:avLst/>
          </a:prstGeom>
        </p:spPr>
        <p:txBody>
          <a:bodyPr/>
          <a:lstStyle/>
          <a:p>
            <a:pPr/>
            <a:r>
              <a:t>Insights gained from each dataset	</a:t>
            </a:r>
          </a:p>
        </p:txBody>
      </p:sp>
      <p:sp>
        <p:nvSpPr>
          <p:cNvPr id="103" name="Content Placeholder 2"/>
          <p:cNvSpPr txBox="1"/>
          <p:nvPr>
            <p:ph type="body" idx="1"/>
          </p:nvPr>
        </p:nvSpPr>
        <p:spPr>
          <a:xfrm>
            <a:off x="562627" y="2140085"/>
            <a:ext cx="10977102" cy="3748780"/>
          </a:xfrm>
          <a:prstGeom prst="rect">
            <a:avLst/>
          </a:prstGeom>
        </p:spPr>
        <p:txBody>
          <a:bodyPr/>
          <a:lstStyle/>
          <a:p>
            <a:pPr algn="just">
              <a:defRPr b="1" sz="1800"/>
            </a:pPr>
            <a:r>
              <a:t>Temperature data:</a:t>
            </a:r>
            <a:r>
              <a:rPr b="0"/>
              <a:t> this dataset when joined with the generation data gives us some insights on what the generation value is based on the temperature</a:t>
            </a:r>
            <a:endParaRPr b="0"/>
          </a:p>
          <a:p>
            <a:pPr algn="just">
              <a:defRPr sz="1800"/>
            </a:pPr>
            <a:r>
              <a:t>We can combine 2 datasets using an </a:t>
            </a:r>
            <a:r>
              <a:rPr b="1" i="1"/>
              <a:t>inner join </a:t>
            </a:r>
            <a:r>
              <a:t>based on the date/hour column</a:t>
            </a:r>
          </a:p>
          <a:p>
            <a:pPr algn="just">
              <a:defRPr sz="1800"/>
            </a:pPr>
            <a:r>
              <a:t>Ordering the results by temperature, we can see which days have the highest electricity generated compared to the lowest temperatures</a:t>
            </a:r>
          </a:p>
          <a:p>
            <a:pPr algn="just">
              <a:defRPr sz="1800"/>
            </a:pPr>
            <a:r>
              <a:t>We are expected to see a rise in electricity generated when the temperatures increase, as air-conditioners and humidifiers are turned on.</a:t>
            </a:r>
          </a:p>
        </p:txBody>
      </p:sp>
      <p:sp>
        <p:nvSpPr>
          <p:cNvPr id="104" name="Slide Number Placeholder 3"/>
          <p:cNvSpPr txBox="1"/>
          <p:nvPr>
            <p:ph type="sldNum" sz="quarter" idx="2"/>
          </p:nvPr>
        </p:nvSpPr>
        <p:spPr>
          <a:xfrm>
            <a:off x="11721118" y="6380538"/>
            <a:ext cx="168509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ontent Placeholder 2"/>
          <p:cNvSpPr txBox="1"/>
          <p:nvPr>
            <p:ph type="body" sz="half" idx="1"/>
          </p:nvPr>
        </p:nvSpPr>
        <p:spPr>
          <a:xfrm>
            <a:off x="7436887" y="2131136"/>
            <a:ext cx="4663478" cy="5421938"/>
          </a:xfrm>
          <a:prstGeom prst="rect">
            <a:avLst/>
          </a:prstGeom>
        </p:spPr>
        <p:txBody>
          <a:bodyPr/>
          <a:lstStyle/>
          <a:p>
            <a:pPr algn="just">
              <a:defRPr sz="1800"/>
            </a:pPr>
            <a:r>
              <a:t>This indicates that the relationship </a:t>
            </a:r>
            <a:r>
              <a:rPr b="1"/>
              <a:t>is not linear </a:t>
            </a:r>
            <a:endParaRPr b="1"/>
          </a:p>
          <a:p>
            <a:pPr algn="just">
              <a:defRPr sz="1800"/>
            </a:pPr>
            <a:r>
              <a:t>If we were to build a regression model, we would need to look at non-linear models or exclude the temperature variable due to non-linearity</a:t>
            </a:r>
          </a:p>
        </p:txBody>
      </p:sp>
      <p:sp>
        <p:nvSpPr>
          <p:cNvPr id="107" name="Slide Number Placeholder 3"/>
          <p:cNvSpPr txBox="1"/>
          <p:nvPr>
            <p:ph type="sldNum" sz="quarter" idx="2"/>
          </p:nvPr>
        </p:nvSpPr>
        <p:spPr>
          <a:xfrm>
            <a:off x="11721118" y="6380538"/>
            <a:ext cx="168509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08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635" y="1544646"/>
            <a:ext cx="7345254" cy="3932611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Title 1"/>
          <p:cNvSpPr txBox="1"/>
          <p:nvPr>
            <p:ph type="title"/>
          </p:nvPr>
        </p:nvSpPr>
        <p:spPr>
          <a:xfrm>
            <a:off x="562627" y="463968"/>
            <a:ext cx="9724374" cy="1033398"/>
          </a:xfrm>
          <a:prstGeom prst="rect">
            <a:avLst/>
          </a:prstGeom>
        </p:spPr>
        <p:txBody>
          <a:bodyPr/>
          <a:lstStyle/>
          <a:p>
            <a:pPr/>
            <a:r>
              <a:t>Temperature vs Generation (MWh)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1"/>
          <p:cNvSpPr txBox="1"/>
          <p:nvPr>
            <p:ph type="title"/>
          </p:nvPr>
        </p:nvSpPr>
        <p:spPr>
          <a:xfrm>
            <a:off x="562627" y="463968"/>
            <a:ext cx="9724374" cy="1033398"/>
          </a:xfrm>
          <a:prstGeom prst="rect">
            <a:avLst/>
          </a:prstGeom>
        </p:spPr>
        <p:txBody>
          <a:bodyPr/>
          <a:lstStyle/>
          <a:p>
            <a:pPr/>
            <a:r>
              <a:t>Statistical Modelling (On Course)</a:t>
            </a:r>
          </a:p>
        </p:txBody>
      </p:sp>
      <p:sp>
        <p:nvSpPr>
          <p:cNvPr id="112" name="Content Placeholder 2"/>
          <p:cNvSpPr txBox="1"/>
          <p:nvPr>
            <p:ph type="body" sz="quarter" idx="1"/>
          </p:nvPr>
        </p:nvSpPr>
        <p:spPr>
          <a:xfrm>
            <a:off x="443754" y="1497365"/>
            <a:ext cx="7852521" cy="2012422"/>
          </a:xfrm>
          <a:prstGeom prst="rect">
            <a:avLst/>
          </a:prstGeom>
        </p:spPr>
        <p:txBody>
          <a:bodyPr/>
          <a:lstStyle/>
          <a:p>
            <a:pPr algn="just">
              <a:defRPr b="1" sz="1600"/>
            </a:pPr>
            <a:r>
              <a:t>Demand Prediction: </a:t>
            </a:r>
            <a:r>
              <a:rPr b="0"/>
              <a:t>After combining all the datasets and adjusting with population growth, we could have a good prediction of the Demand – </a:t>
            </a:r>
            <a:endParaRPr b="0"/>
          </a:p>
          <a:p>
            <a:pPr algn="just">
              <a:defRPr sz="1600"/>
            </a:pPr>
            <a:r>
              <a:t>We used Multi Linear Model and obtained an Adjusted R</a:t>
            </a:r>
            <a:r>
              <a:rPr baseline="30000"/>
              <a:t>2</a:t>
            </a:r>
            <a:r>
              <a:t> of 0.699.</a:t>
            </a:r>
          </a:p>
        </p:txBody>
      </p:sp>
      <p:sp>
        <p:nvSpPr>
          <p:cNvPr id="113" name="Slide Number Placeholder 3"/>
          <p:cNvSpPr txBox="1"/>
          <p:nvPr>
            <p:ph type="sldNum" sz="quarter" idx="2"/>
          </p:nvPr>
        </p:nvSpPr>
        <p:spPr>
          <a:xfrm>
            <a:off x="11721118" y="6380538"/>
            <a:ext cx="168509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5927" y="2683697"/>
            <a:ext cx="5396669" cy="2676938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" name="Picture 9" descr="Picture 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49586" y="2681441"/>
            <a:ext cx="5527386" cy="26791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1"/>
          <p:cNvSpPr txBox="1"/>
          <p:nvPr>
            <p:ph type="title"/>
          </p:nvPr>
        </p:nvSpPr>
        <p:spPr>
          <a:xfrm>
            <a:off x="562627" y="463968"/>
            <a:ext cx="9724374" cy="1033398"/>
          </a:xfrm>
          <a:prstGeom prst="rect">
            <a:avLst/>
          </a:prstGeom>
        </p:spPr>
        <p:txBody>
          <a:bodyPr/>
          <a:lstStyle/>
          <a:p>
            <a:pPr/>
            <a:r>
              <a:t>Next Steps</a:t>
            </a:r>
          </a:p>
        </p:txBody>
      </p:sp>
      <p:sp>
        <p:nvSpPr>
          <p:cNvPr id="118" name="Content Placeholder 2"/>
          <p:cNvSpPr txBox="1"/>
          <p:nvPr>
            <p:ph type="body" sz="half" idx="1"/>
          </p:nvPr>
        </p:nvSpPr>
        <p:spPr>
          <a:xfrm>
            <a:off x="443754" y="1826549"/>
            <a:ext cx="10446751" cy="2012422"/>
          </a:xfrm>
          <a:prstGeom prst="rect">
            <a:avLst/>
          </a:prstGeom>
        </p:spPr>
        <p:txBody>
          <a:bodyPr/>
          <a:lstStyle/>
          <a:p>
            <a:pPr algn="just">
              <a:defRPr b="1" sz="1600"/>
            </a:pPr>
            <a:r>
              <a:t>On the Modelling part, </a:t>
            </a:r>
            <a:r>
              <a:rPr b="0"/>
              <a:t>we are not only exploring different types of time-series models but also working towards having an improved Price model. </a:t>
            </a:r>
            <a:endParaRPr b="0"/>
          </a:p>
          <a:p>
            <a:pPr algn="just">
              <a:defRPr sz="1600"/>
            </a:pPr>
            <a:r>
              <a:t>The first iteration (pre population adjustment) presented  an Adjusted R2 of 0.2 but with high Residuals </a:t>
            </a:r>
          </a:p>
        </p:txBody>
      </p:sp>
      <p:sp>
        <p:nvSpPr>
          <p:cNvPr id="119" name="Slide Number Placeholder 3"/>
          <p:cNvSpPr txBox="1"/>
          <p:nvPr>
            <p:ph type="sldNum" sz="quarter" idx="2"/>
          </p:nvPr>
        </p:nvSpPr>
        <p:spPr>
          <a:xfrm>
            <a:off x="11656750" y="6380538"/>
            <a:ext cx="232877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20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2628" y="2995896"/>
            <a:ext cx="4943436" cy="2586422"/>
          </a:xfrm>
          <a:prstGeom prst="rect">
            <a:avLst/>
          </a:prstGeom>
          <a:ln w="12700">
            <a:miter lim="400000"/>
          </a:ln>
        </p:spPr>
      </p:pic>
      <p:pic>
        <p:nvPicPr>
          <p:cNvPr id="121" name="Picture 8" descr="Picture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64334" y="2995230"/>
            <a:ext cx="5175504" cy="258775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itle 1"/>
          <p:cNvSpPr txBox="1"/>
          <p:nvPr>
            <p:ph type="title"/>
          </p:nvPr>
        </p:nvSpPr>
        <p:spPr>
          <a:xfrm>
            <a:off x="562627" y="463968"/>
            <a:ext cx="9724374" cy="1033398"/>
          </a:xfrm>
          <a:prstGeom prst="rect">
            <a:avLst/>
          </a:prstGeom>
        </p:spPr>
        <p:txBody>
          <a:bodyPr/>
          <a:lstStyle/>
          <a:p>
            <a:pPr/>
            <a:r>
              <a:t>Datasets</a:t>
            </a:r>
          </a:p>
        </p:txBody>
      </p:sp>
      <p:sp>
        <p:nvSpPr>
          <p:cNvPr id="124" name="Slide Number Placeholder 3"/>
          <p:cNvSpPr txBox="1"/>
          <p:nvPr>
            <p:ph type="sldNum" sz="quarter" idx="2"/>
          </p:nvPr>
        </p:nvSpPr>
        <p:spPr>
          <a:xfrm>
            <a:off x="11656750" y="6380538"/>
            <a:ext cx="232877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25" name="Content Placeholder 2"/>
          <p:cNvSpPr txBox="1"/>
          <p:nvPr/>
        </p:nvSpPr>
        <p:spPr>
          <a:xfrm>
            <a:off x="608348" y="1370233"/>
            <a:ext cx="10975304" cy="113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228600" indent="-228600" algn="just">
              <a:lnSpc>
                <a:spcPct val="90000"/>
              </a:lnSpc>
              <a:spcBef>
                <a:spcPts val="1000"/>
              </a:spcBef>
              <a:buClr>
                <a:srgbClr val="E32726"/>
              </a:buClr>
              <a:buSzPct val="100000"/>
              <a:buFont typeface="Arial"/>
              <a:buChar char="•"/>
              <a:defRPr sz="2000"/>
            </a:lvl1pPr>
          </a:lstStyle>
          <a:p>
            <a:pPr/>
            <a:r>
              <a:t>Several datasets and data points can be used to perform this analysis. To keep it simple and rely only on publicly available information, we decided to use these 6:</a:t>
            </a:r>
            <a:endParaRPr sz="2800"/>
          </a:p>
        </p:txBody>
      </p:sp>
      <p:grpSp>
        <p:nvGrpSpPr>
          <p:cNvPr id="128" name="Rectangle: Rounded Corners 5"/>
          <p:cNvGrpSpPr/>
          <p:nvPr/>
        </p:nvGrpSpPr>
        <p:grpSpPr>
          <a:xfrm>
            <a:off x="562628" y="2423463"/>
            <a:ext cx="1819656" cy="625188"/>
            <a:chOff x="0" y="0"/>
            <a:chExt cx="1819655" cy="625187"/>
          </a:xfrm>
        </p:grpSpPr>
        <p:sp>
          <p:nvSpPr>
            <p:cNvPr id="126" name="Rounded Rectangle"/>
            <p:cNvSpPr/>
            <p:nvPr/>
          </p:nvSpPr>
          <p:spPr>
            <a:xfrm>
              <a:off x="0" y="29129"/>
              <a:ext cx="1819656" cy="56692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>
              <a:solidFill>
                <a:srgbClr val="64131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7" name="Demand (Load)…"/>
            <p:cNvSpPr txBox="1"/>
            <p:nvPr/>
          </p:nvSpPr>
          <p:spPr>
            <a:xfrm>
              <a:off x="105655" y="0"/>
              <a:ext cx="1608346" cy="6251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b="1">
                  <a:solidFill>
                    <a:srgbClr val="FFFFFF"/>
                  </a:solidFill>
                </a:defRPr>
              </a:pPr>
              <a:r>
                <a:t>Demand (Load) </a:t>
              </a:r>
            </a:p>
            <a:p>
              <a:pPr algn="ctr">
                <a:defRPr b="1">
                  <a:solidFill>
                    <a:srgbClr val="FFFFFF"/>
                  </a:solidFill>
                </a:defRPr>
              </a:pPr>
              <a:r>
                <a:t>in MWh</a:t>
              </a:r>
            </a:p>
          </p:txBody>
        </p:sp>
      </p:grpSp>
      <p:grpSp>
        <p:nvGrpSpPr>
          <p:cNvPr id="131" name="Rectangle: Rounded Corners 7"/>
          <p:cNvGrpSpPr/>
          <p:nvPr/>
        </p:nvGrpSpPr>
        <p:grpSpPr>
          <a:xfrm>
            <a:off x="562628" y="3268912"/>
            <a:ext cx="1819656" cy="566929"/>
            <a:chOff x="0" y="0"/>
            <a:chExt cx="1819655" cy="566927"/>
          </a:xfrm>
        </p:grpSpPr>
        <p:sp>
          <p:nvSpPr>
            <p:cNvPr id="129" name="Rounded Rectangle"/>
            <p:cNvSpPr/>
            <p:nvPr/>
          </p:nvSpPr>
          <p:spPr>
            <a:xfrm>
              <a:off x="0" y="0"/>
              <a:ext cx="1819656" cy="56692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>
              <a:solidFill>
                <a:srgbClr val="64131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0" name="Temperature"/>
            <p:cNvSpPr txBox="1"/>
            <p:nvPr/>
          </p:nvSpPr>
          <p:spPr>
            <a:xfrm>
              <a:off x="250316" y="116920"/>
              <a:ext cx="1319024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b="1">
                  <a:solidFill>
                    <a:srgbClr val="FFFFFF"/>
                  </a:solidFill>
                </a:defRPr>
              </a:lvl1pPr>
            </a:lstStyle>
            <a:p>
              <a:pPr/>
              <a:r>
                <a:t>Temperature</a:t>
              </a:r>
            </a:p>
          </p:txBody>
        </p:sp>
      </p:grpSp>
      <p:grpSp>
        <p:nvGrpSpPr>
          <p:cNvPr id="134" name="Rectangle: Rounded Corners 8"/>
          <p:cNvGrpSpPr/>
          <p:nvPr/>
        </p:nvGrpSpPr>
        <p:grpSpPr>
          <a:xfrm>
            <a:off x="562628" y="4085230"/>
            <a:ext cx="1819656" cy="566929"/>
            <a:chOff x="0" y="0"/>
            <a:chExt cx="1819655" cy="566927"/>
          </a:xfrm>
        </p:grpSpPr>
        <p:sp>
          <p:nvSpPr>
            <p:cNvPr id="132" name="Rounded Rectangle"/>
            <p:cNvSpPr/>
            <p:nvPr/>
          </p:nvSpPr>
          <p:spPr>
            <a:xfrm>
              <a:off x="0" y="0"/>
              <a:ext cx="1819656" cy="56692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>
              <a:solidFill>
                <a:srgbClr val="64131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3" name="Gas Price"/>
            <p:cNvSpPr txBox="1"/>
            <p:nvPr/>
          </p:nvSpPr>
          <p:spPr>
            <a:xfrm>
              <a:off x="422156" y="116920"/>
              <a:ext cx="975344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b="1">
                  <a:solidFill>
                    <a:srgbClr val="FFFFFF"/>
                  </a:solidFill>
                </a:defRPr>
              </a:lvl1pPr>
            </a:lstStyle>
            <a:p>
              <a:pPr/>
              <a:r>
                <a:t>Gas Price</a:t>
              </a:r>
            </a:p>
          </p:txBody>
        </p:sp>
      </p:grpSp>
      <p:grpSp>
        <p:nvGrpSpPr>
          <p:cNvPr id="137" name="Rectangle: Rounded Corners 9"/>
          <p:cNvGrpSpPr/>
          <p:nvPr/>
        </p:nvGrpSpPr>
        <p:grpSpPr>
          <a:xfrm>
            <a:off x="562628" y="4901550"/>
            <a:ext cx="1819656" cy="566929"/>
            <a:chOff x="0" y="0"/>
            <a:chExt cx="1819655" cy="566927"/>
          </a:xfrm>
        </p:grpSpPr>
        <p:sp>
          <p:nvSpPr>
            <p:cNvPr id="135" name="Rounded Rectangle"/>
            <p:cNvSpPr/>
            <p:nvPr/>
          </p:nvSpPr>
          <p:spPr>
            <a:xfrm>
              <a:off x="0" y="0"/>
              <a:ext cx="1819656" cy="56692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>
              <a:solidFill>
                <a:srgbClr val="64131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6" name="Generation"/>
            <p:cNvSpPr txBox="1"/>
            <p:nvPr/>
          </p:nvSpPr>
          <p:spPr>
            <a:xfrm>
              <a:off x="324544" y="116920"/>
              <a:ext cx="1170568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b="1">
                  <a:solidFill>
                    <a:srgbClr val="FFFFFF"/>
                  </a:solidFill>
                </a:defRPr>
              </a:lvl1pPr>
            </a:lstStyle>
            <a:p>
              <a:pPr/>
              <a:r>
                <a:t>Generation</a:t>
              </a:r>
            </a:p>
          </p:txBody>
        </p:sp>
      </p:grpSp>
      <p:grpSp>
        <p:nvGrpSpPr>
          <p:cNvPr id="140" name="Rectangle: Rounded Corners 10"/>
          <p:cNvGrpSpPr/>
          <p:nvPr/>
        </p:nvGrpSpPr>
        <p:grpSpPr>
          <a:xfrm>
            <a:off x="562628" y="5688740"/>
            <a:ext cx="1819656" cy="625188"/>
            <a:chOff x="0" y="0"/>
            <a:chExt cx="1819655" cy="625187"/>
          </a:xfrm>
        </p:grpSpPr>
        <p:sp>
          <p:nvSpPr>
            <p:cNvPr id="138" name="Rounded Rectangle"/>
            <p:cNvSpPr/>
            <p:nvPr/>
          </p:nvSpPr>
          <p:spPr>
            <a:xfrm>
              <a:off x="0" y="29129"/>
              <a:ext cx="1819656" cy="56692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>
              <a:solidFill>
                <a:srgbClr val="641312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9" name="Population…"/>
            <p:cNvSpPr txBox="1"/>
            <p:nvPr/>
          </p:nvSpPr>
          <p:spPr>
            <a:xfrm>
              <a:off x="314888" y="0"/>
              <a:ext cx="1189880" cy="6251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b="1">
                  <a:solidFill>
                    <a:srgbClr val="FFFFFF"/>
                  </a:solidFill>
                </a:defRPr>
              </a:pPr>
              <a:r>
                <a:t>Population </a:t>
              </a:r>
            </a:p>
            <a:p>
              <a:pPr algn="ctr">
                <a:defRPr b="1">
                  <a:solidFill>
                    <a:srgbClr val="FFFFFF"/>
                  </a:solidFill>
                </a:defRPr>
              </a:pPr>
              <a:r>
                <a:t>Growth</a:t>
              </a:r>
            </a:p>
          </p:txBody>
        </p:sp>
      </p:grpSp>
      <p:sp>
        <p:nvSpPr>
          <p:cNvPr id="141" name="TextBox 11"/>
          <p:cNvSpPr txBox="1"/>
          <p:nvPr/>
        </p:nvSpPr>
        <p:spPr>
          <a:xfrm>
            <a:off x="2603589" y="2487555"/>
            <a:ext cx="7262788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sz="1400"/>
            </a:lvl1pPr>
          </a:lstStyle>
          <a:p>
            <a:pPr/>
            <a:r>
              <a:t>Alberta’s internal load/Demand consisting of the total hourly demand in MW for the entire Province.</a:t>
            </a:r>
          </a:p>
        </p:txBody>
      </p:sp>
      <p:sp>
        <p:nvSpPr>
          <p:cNvPr id="142" name="TextBox 14"/>
          <p:cNvSpPr txBox="1"/>
          <p:nvPr/>
        </p:nvSpPr>
        <p:spPr>
          <a:xfrm>
            <a:off x="2603588" y="3290766"/>
            <a:ext cx="7262788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sz="1400"/>
            </a:lvl1pPr>
          </a:lstStyle>
          <a:p>
            <a:pPr/>
            <a:r>
              <a:t>Hourly temperature in Calgary (average of 3 stations) that will serve as an input for Demand prediction.</a:t>
            </a:r>
          </a:p>
        </p:txBody>
      </p:sp>
      <p:sp>
        <p:nvSpPr>
          <p:cNvPr id="143" name="TextBox 15"/>
          <p:cNvSpPr txBox="1"/>
          <p:nvPr/>
        </p:nvSpPr>
        <p:spPr>
          <a:xfrm>
            <a:off x="2603589" y="4107084"/>
            <a:ext cx="7262788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sz="1400"/>
            </a:lvl1pPr>
          </a:lstStyle>
          <a:p>
            <a:pPr/>
            <a:r>
              <a:t>Since Natural Gas is the main source for 70% of the generation, the gas price will play a key part in projecting this.</a:t>
            </a:r>
          </a:p>
        </p:txBody>
      </p:sp>
      <p:sp>
        <p:nvSpPr>
          <p:cNvPr id="144" name="TextBox 16"/>
          <p:cNvSpPr txBox="1"/>
          <p:nvPr/>
        </p:nvSpPr>
        <p:spPr>
          <a:xfrm>
            <a:off x="2603585" y="4920231"/>
            <a:ext cx="7262789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sz="1400"/>
            </a:lvl1pPr>
          </a:lstStyle>
          <a:p>
            <a:pPr/>
            <a:r>
              <a:t>Generation data will not only serve as an input for the type (green/non-green), but also for the delta between demand and generation that can cascade into price</a:t>
            </a:r>
          </a:p>
        </p:txBody>
      </p:sp>
      <p:sp>
        <p:nvSpPr>
          <p:cNvPr id="145" name="TextBox 17"/>
          <p:cNvSpPr txBox="1"/>
          <p:nvPr/>
        </p:nvSpPr>
        <p:spPr>
          <a:xfrm>
            <a:off x="2603586" y="5739724"/>
            <a:ext cx="7262788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sz="1400"/>
            </a:lvl1pPr>
          </a:lstStyle>
          <a:p>
            <a:pPr/>
            <a:r>
              <a:t>Alberta’s population is one of the fastest growing in Canada. As Electricity is an essential service, we will use this growth to adjust some of our curves and metrics.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itle 1"/>
          <p:cNvSpPr txBox="1"/>
          <p:nvPr>
            <p:ph type="title"/>
          </p:nvPr>
        </p:nvSpPr>
        <p:spPr>
          <a:xfrm>
            <a:off x="562627" y="463968"/>
            <a:ext cx="9724374" cy="103339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What are the different energy generation sources?	</a:t>
            </a:r>
          </a:p>
        </p:txBody>
      </p:sp>
      <p:sp>
        <p:nvSpPr>
          <p:cNvPr id="148" name="Content Placeholder 2"/>
          <p:cNvSpPr txBox="1"/>
          <p:nvPr>
            <p:ph type="body" sz="half" idx="1"/>
          </p:nvPr>
        </p:nvSpPr>
        <p:spPr>
          <a:xfrm>
            <a:off x="334028" y="1634228"/>
            <a:ext cx="4914628" cy="4115670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100000"/>
              </a:lnSpc>
              <a:defRPr sz="1800">
                <a:latin typeface="system-ui"/>
                <a:ea typeface="system-ui"/>
                <a:cs typeface="system-ui"/>
                <a:sym typeface="system-ui"/>
              </a:defRPr>
            </a:pPr>
            <a:r>
              <a:t>Generation sources include </a:t>
            </a:r>
            <a:r>
              <a:rPr b="1"/>
              <a:t>natural gas plants </a:t>
            </a:r>
            <a:r>
              <a:t>(simple, combined or cogeneration cycles), </a:t>
            </a:r>
            <a:r>
              <a:rPr b="1"/>
              <a:t>wind farms, solar farms</a:t>
            </a:r>
            <a:r>
              <a:t>, among others.</a:t>
            </a:r>
          </a:p>
          <a:p>
            <a:pPr algn="just">
              <a:lnSpc>
                <a:spcPct val="100000"/>
              </a:lnSpc>
              <a:defRPr sz="1800">
                <a:latin typeface="system-ui"/>
                <a:ea typeface="system-ui"/>
                <a:cs typeface="system-ui"/>
                <a:sym typeface="system-ui"/>
              </a:defRPr>
            </a:pPr>
            <a:r>
              <a:t>Over the past years, green sources such as Wind and Solar have been gaining momentum, but </a:t>
            </a:r>
            <a:r>
              <a:rPr b="1"/>
              <a:t>Cogeneration still owns the largest share.</a:t>
            </a:r>
            <a:endParaRPr b="1"/>
          </a:p>
          <a:p>
            <a:pPr algn="just">
              <a:defRPr b="1" sz="1800"/>
            </a:pPr>
            <a:r>
              <a:t>Natural Gas plants </a:t>
            </a:r>
            <a:r>
              <a:rPr b="0"/>
              <a:t>are responsible for almost ¾ of total generation.</a:t>
            </a:r>
            <a:endParaRPr b="0"/>
          </a:p>
          <a:p>
            <a:pPr algn="just">
              <a:defRPr b="1" sz="1800"/>
            </a:pPr>
            <a:r>
              <a:t>Coal was rapidly phased out </a:t>
            </a:r>
            <a:r>
              <a:rPr b="0"/>
              <a:t>(from 32% in 2015 to 2% in 2024)</a:t>
            </a:r>
          </a:p>
        </p:txBody>
      </p:sp>
      <p:sp>
        <p:nvSpPr>
          <p:cNvPr id="149" name="Slide Number Placeholder 3"/>
          <p:cNvSpPr txBox="1"/>
          <p:nvPr>
            <p:ph type="sldNum" sz="quarter" idx="2"/>
          </p:nvPr>
        </p:nvSpPr>
        <p:spPr>
          <a:xfrm>
            <a:off x="11656750" y="6380538"/>
            <a:ext cx="232877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aphicFrame>
        <p:nvGraphicFramePr>
          <p:cNvPr id="150" name="Chart 6"/>
          <p:cNvGraphicFramePr/>
          <p:nvPr/>
        </p:nvGraphicFramePr>
        <p:xfrm>
          <a:off x="5498948" y="2542410"/>
          <a:ext cx="6280443" cy="229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itle 1"/>
          <p:cNvSpPr txBox="1"/>
          <p:nvPr>
            <p:ph type="title"/>
          </p:nvPr>
        </p:nvSpPr>
        <p:spPr>
          <a:xfrm>
            <a:off x="562627" y="463968"/>
            <a:ext cx="9724374" cy="1033398"/>
          </a:xfrm>
          <a:prstGeom prst="rect">
            <a:avLst/>
          </a:prstGeom>
        </p:spPr>
        <p:txBody>
          <a:bodyPr/>
          <a:lstStyle/>
          <a:p>
            <a:pPr/>
            <a:r>
              <a:t>The Datasets</a:t>
            </a:r>
          </a:p>
        </p:txBody>
      </p:sp>
      <p:sp>
        <p:nvSpPr>
          <p:cNvPr id="153" name="Content Placeholder 2"/>
          <p:cNvSpPr txBox="1"/>
          <p:nvPr>
            <p:ph type="body" idx="1"/>
          </p:nvPr>
        </p:nvSpPr>
        <p:spPr>
          <a:xfrm>
            <a:off x="562627" y="1773195"/>
            <a:ext cx="9724374" cy="411567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4" name="Slide Number Placeholder 3"/>
          <p:cNvSpPr txBox="1"/>
          <p:nvPr>
            <p:ph type="sldNum" sz="quarter" idx="2"/>
          </p:nvPr>
        </p:nvSpPr>
        <p:spPr>
          <a:xfrm>
            <a:off x="11719568" y="6380538"/>
            <a:ext cx="170059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178" name="Diagram 6"/>
          <p:cNvGrpSpPr/>
          <p:nvPr/>
        </p:nvGrpSpPr>
        <p:grpSpPr>
          <a:xfrm>
            <a:off x="2032552" y="1703500"/>
            <a:ext cx="7215397" cy="4359834"/>
            <a:chOff x="0" y="0"/>
            <a:chExt cx="7215396" cy="4359832"/>
          </a:xfrm>
        </p:grpSpPr>
        <p:grpSp>
          <p:nvGrpSpPr>
            <p:cNvPr id="157" name="Group"/>
            <p:cNvGrpSpPr/>
            <p:nvPr/>
          </p:nvGrpSpPr>
          <p:grpSpPr>
            <a:xfrm>
              <a:off x="2679137" y="2502710"/>
              <a:ext cx="1857123" cy="1857123"/>
              <a:chOff x="0" y="0"/>
              <a:chExt cx="1857122" cy="1857122"/>
            </a:xfrm>
          </p:grpSpPr>
          <p:sp>
            <p:nvSpPr>
              <p:cNvPr id="155" name="Circle"/>
              <p:cNvSpPr/>
              <p:nvPr/>
            </p:nvSpPr>
            <p:spPr>
              <a:xfrm>
                <a:off x="-1" y="-1"/>
                <a:ext cx="1857124" cy="1857124"/>
              </a:xfrm>
              <a:prstGeom prst="ellipse">
                <a:avLst/>
              </a:prstGeom>
              <a:solidFill>
                <a:schemeClr val="accent1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2133600">
                  <a:lnSpc>
                    <a:spcPct val="90000"/>
                  </a:lnSpc>
                  <a:spcBef>
                    <a:spcPts val="700"/>
                  </a:spcBef>
                  <a:defRPr sz="4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56" name="Price"/>
              <p:cNvSpPr txBox="1"/>
              <p:nvPr/>
            </p:nvSpPr>
            <p:spPr>
              <a:xfrm>
                <a:off x="271969" y="590700"/>
                <a:ext cx="1313184" cy="6757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0480" tIns="30480" rIns="30480" bIns="30480" numCol="1" anchor="ctr">
                <a:spAutoFit/>
              </a:bodyPr>
              <a:lstStyle>
                <a:lvl1pPr algn="ctr" defTabSz="2133600">
                  <a:lnSpc>
                    <a:spcPct val="90000"/>
                  </a:lnSpc>
                  <a:spcBef>
                    <a:spcPts val="2000"/>
                  </a:spcBef>
                  <a:defRPr sz="48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Price</a:t>
                </a:r>
              </a:p>
            </p:txBody>
          </p:sp>
        </p:grpSp>
        <p:sp>
          <p:nvSpPr>
            <p:cNvPr id="158" name="Arrow"/>
            <p:cNvSpPr/>
            <p:nvPr/>
          </p:nvSpPr>
          <p:spPr>
            <a:xfrm rot="10800000">
              <a:off x="882132" y="3166632"/>
              <a:ext cx="1698170" cy="529280"/>
            </a:xfrm>
            <a:prstGeom prst="leftArrow">
              <a:avLst>
                <a:gd name="adj1" fmla="val 60000"/>
                <a:gd name="adj2" fmla="val 50000"/>
              </a:avLst>
            </a:prstGeom>
            <a:solidFill>
              <a:srgbClr val="F5ABA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61" name="Group"/>
            <p:cNvGrpSpPr/>
            <p:nvPr/>
          </p:nvGrpSpPr>
          <p:grpSpPr>
            <a:xfrm>
              <a:off x="0" y="2725565"/>
              <a:ext cx="1764265" cy="1411413"/>
              <a:chOff x="0" y="0"/>
              <a:chExt cx="1764264" cy="1411412"/>
            </a:xfrm>
          </p:grpSpPr>
          <p:sp>
            <p:nvSpPr>
              <p:cNvPr id="159" name="Rounded Rectangle"/>
              <p:cNvSpPr/>
              <p:nvPr/>
            </p:nvSpPr>
            <p:spPr>
              <a:xfrm>
                <a:off x="0" y="0"/>
                <a:ext cx="1764265" cy="1411413"/>
              </a:xfrm>
              <a:prstGeom prst="roundRect">
                <a:avLst>
                  <a:gd name="adj" fmla="val 10000"/>
                </a:avLst>
              </a:prstGeom>
              <a:solidFill>
                <a:schemeClr val="accent1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1066800">
                  <a:lnSpc>
                    <a:spcPct val="90000"/>
                  </a:lnSpc>
                  <a:spcBef>
                    <a:spcPts val="700"/>
                  </a:spcBef>
                  <a:defRPr sz="24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60" name="Demand"/>
              <p:cNvSpPr txBox="1"/>
              <p:nvPr/>
            </p:nvSpPr>
            <p:spPr>
              <a:xfrm>
                <a:off x="41338" y="509471"/>
                <a:ext cx="1681589" cy="3924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 defTabSz="1066800">
                  <a:lnSpc>
                    <a:spcPct val="90000"/>
                  </a:lnSpc>
                  <a:spcBef>
                    <a:spcPts val="1000"/>
                  </a:spcBef>
                  <a:defRPr sz="24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Demand</a:t>
                </a:r>
              </a:p>
            </p:txBody>
          </p:sp>
        </p:grpSp>
        <p:sp>
          <p:nvSpPr>
            <p:cNvPr id="162" name="Arrow"/>
            <p:cNvSpPr/>
            <p:nvPr/>
          </p:nvSpPr>
          <p:spPr>
            <a:xfrm rot="13500000">
              <a:off x="1431741" y="1839759"/>
              <a:ext cx="1698170" cy="529280"/>
            </a:xfrm>
            <a:prstGeom prst="leftArrow">
              <a:avLst>
                <a:gd name="adj1" fmla="val 60000"/>
                <a:gd name="adj2" fmla="val 50000"/>
              </a:avLst>
            </a:prstGeom>
            <a:solidFill>
              <a:srgbClr val="F5ABA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65" name="Group"/>
            <p:cNvGrpSpPr/>
            <p:nvPr/>
          </p:nvGrpSpPr>
          <p:grpSpPr>
            <a:xfrm>
              <a:off x="798300" y="798299"/>
              <a:ext cx="1764265" cy="1411413"/>
              <a:chOff x="0" y="0"/>
              <a:chExt cx="1764264" cy="1411412"/>
            </a:xfrm>
          </p:grpSpPr>
          <p:sp>
            <p:nvSpPr>
              <p:cNvPr id="163" name="Rounded Rectangle"/>
              <p:cNvSpPr/>
              <p:nvPr/>
            </p:nvSpPr>
            <p:spPr>
              <a:xfrm>
                <a:off x="0" y="0"/>
                <a:ext cx="1764265" cy="1411413"/>
              </a:xfrm>
              <a:prstGeom prst="roundRect">
                <a:avLst>
                  <a:gd name="adj" fmla="val 10000"/>
                </a:avLst>
              </a:prstGeom>
              <a:solidFill>
                <a:schemeClr val="accent1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1066800">
                  <a:lnSpc>
                    <a:spcPct val="90000"/>
                  </a:lnSpc>
                  <a:spcBef>
                    <a:spcPts val="700"/>
                  </a:spcBef>
                  <a:defRPr sz="24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64" name="Temperature"/>
              <p:cNvSpPr txBox="1"/>
              <p:nvPr/>
            </p:nvSpPr>
            <p:spPr>
              <a:xfrm>
                <a:off x="41338" y="509471"/>
                <a:ext cx="1681589" cy="3924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 defTabSz="1066800">
                  <a:lnSpc>
                    <a:spcPct val="90000"/>
                  </a:lnSpc>
                  <a:spcBef>
                    <a:spcPts val="1000"/>
                  </a:spcBef>
                  <a:defRPr sz="24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Temperature</a:t>
                </a:r>
              </a:p>
            </p:txBody>
          </p:sp>
        </p:grpSp>
        <p:sp>
          <p:nvSpPr>
            <p:cNvPr id="166" name="Arrow"/>
            <p:cNvSpPr/>
            <p:nvPr/>
          </p:nvSpPr>
          <p:spPr>
            <a:xfrm rot="16200000">
              <a:off x="2758614" y="1290151"/>
              <a:ext cx="1698170" cy="529280"/>
            </a:xfrm>
            <a:prstGeom prst="leftArrow">
              <a:avLst>
                <a:gd name="adj1" fmla="val 60000"/>
                <a:gd name="adj2" fmla="val 50000"/>
              </a:avLst>
            </a:prstGeom>
            <a:solidFill>
              <a:srgbClr val="F5ABA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69" name="Group"/>
            <p:cNvGrpSpPr/>
            <p:nvPr/>
          </p:nvGrpSpPr>
          <p:grpSpPr>
            <a:xfrm>
              <a:off x="2725565" y="0"/>
              <a:ext cx="1764266" cy="1411413"/>
              <a:chOff x="0" y="0"/>
              <a:chExt cx="1764264" cy="1411412"/>
            </a:xfrm>
          </p:grpSpPr>
          <p:sp>
            <p:nvSpPr>
              <p:cNvPr id="167" name="Rounded Rectangle"/>
              <p:cNvSpPr/>
              <p:nvPr/>
            </p:nvSpPr>
            <p:spPr>
              <a:xfrm>
                <a:off x="0" y="0"/>
                <a:ext cx="1764265" cy="1411413"/>
              </a:xfrm>
              <a:prstGeom prst="roundRect">
                <a:avLst>
                  <a:gd name="adj" fmla="val 10000"/>
                </a:avLst>
              </a:prstGeom>
              <a:solidFill>
                <a:schemeClr val="accent1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1066800">
                  <a:lnSpc>
                    <a:spcPct val="90000"/>
                  </a:lnSpc>
                  <a:spcBef>
                    <a:spcPts val="700"/>
                  </a:spcBef>
                  <a:defRPr sz="24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68" name="Gas Price"/>
              <p:cNvSpPr txBox="1"/>
              <p:nvPr/>
            </p:nvSpPr>
            <p:spPr>
              <a:xfrm>
                <a:off x="41339" y="509471"/>
                <a:ext cx="1681588" cy="3924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 defTabSz="1066800">
                  <a:lnSpc>
                    <a:spcPct val="90000"/>
                  </a:lnSpc>
                  <a:spcBef>
                    <a:spcPts val="1000"/>
                  </a:spcBef>
                  <a:defRPr sz="24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Gas Price</a:t>
                </a:r>
              </a:p>
            </p:txBody>
          </p:sp>
        </p:grpSp>
        <p:sp>
          <p:nvSpPr>
            <p:cNvPr id="170" name="Arrow"/>
            <p:cNvSpPr/>
            <p:nvPr/>
          </p:nvSpPr>
          <p:spPr>
            <a:xfrm rot="18900000">
              <a:off x="4085486" y="1839759"/>
              <a:ext cx="1698170" cy="529280"/>
            </a:xfrm>
            <a:prstGeom prst="leftArrow">
              <a:avLst>
                <a:gd name="adj1" fmla="val 60000"/>
                <a:gd name="adj2" fmla="val 50000"/>
              </a:avLst>
            </a:prstGeom>
            <a:solidFill>
              <a:srgbClr val="F5ABA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73" name="Group"/>
            <p:cNvGrpSpPr/>
            <p:nvPr/>
          </p:nvGrpSpPr>
          <p:grpSpPr>
            <a:xfrm>
              <a:off x="4652832" y="798299"/>
              <a:ext cx="1764266" cy="1411413"/>
              <a:chOff x="0" y="0"/>
              <a:chExt cx="1764264" cy="1411412"/>
            </a:xfrm>
          </p:grpSpPr>
          <p:sp>
            <p:nvSpPr>
              <p:cNvPr id="171" name="Rounded Rectangle"/>
              <p:cNvSpPr/>
              <p:nvPr/>
            </p:nvSpPr>
            <p:spPr>
              <a:xfrm>
                <a:off x="0" y="0"/>
                <a:ext cx="1764265" cy="1411413"/>
              </a:xfrm>
              <a:prstGeom prst="roundRect">
                <a:avLst>
                  <a:gd name="adj" fmla="val 10000"/>
                </a:avLst>
              </a:prstGeom>
              <a:solidFill>
                <a:schemeClr val="accent1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1066800">
                  <a:lnSpc>
                    <a:spcPct val="90000"/>
                  </a:lnSpc>
                  <a:spcBef>
                    <a:spcPts val="700"/>
                  </a:spcBef>
                  <a:defRPr sz="24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72" name="Generation"/>
              <p:cNvSpPr txBox="1"/>
              <p:nvPr/>
            </p:nvSpPr>
            <p:spPr>
              <a:xfrm>
                <a:off x="41338" y="509471"/>
                <a:ext cx="1681589" cy="3924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 defTabSz="1066800">
                  <a:lnSpc>
                    <a:spcPct val="90000"/>
                  </a:lnSpc>
                  <a:spcBef>
                    <a:spcPts val="1000"/>
                  </a:spcBef>
                  <a:defRPr sz="24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Generation</a:t>
                </a:r>
              </a:p>
            </p:txBody>
          </p:sp>
        </p:grpSp>
        <p:sp>
          <p:nvSpPr>
            <p:cNvPr id="174" name="Arrow"/>
            <p:cNvSpPr/>
            <p:nvPr/>
          </p:nvSpPr>
          <p:spPr>
            <a:xfrm>
              <a:off x="4635094" y="3166632"/>
              <a:ext cx="1698170" cy="529280"/>
            </a:xfrm>
            <a:prstGeom prst="leftArrow">
              <a:avLst>
                <a:gd name="adj1" fmla="val 60000"/>
                <a:gd name="adj2" fmla="val 50000"/>
              </a:avLst>
            </a:prstGeom>
            <a:solidFill>
              <a:srgbClr val="F5ABA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77" name="Group"/>
            <p:cNvGrpSpPr/>
            <p:nvPr/>
          </p:nvGrpSpPr>
          <p:grpSpPr>
            <a:xfrm>
              <a:off x="5451131" y="2725565"/>
              <a:ext cx="1764266" cy="1411413"/>
              <a:chOff x="0" y="0"/>
              <a:chExt cx="1764264" cy="1411412"/>
            </a:xfrm>
          </p:grpSpPr>
          <p:sp>
            <p:nvSpPr>
              <p:cNvPr id="175" name="Rounded Rectangle"/>
              <p:cNvSpPr/>
              <p:nvPr/>
            </p:nvSpPr>
            <p:spPr>
              <a:xfrm>
                <a:off x="0" y="0"/>
                <a:ext cx="1764265" cy="1411413"/>
              </a:xfrm>
              <a:prstGeom prst="roundRect">
                <a:avLst>
                  <a:gd name="adj" fmla="val 10000"/>
                </a:avLst>
              </a:prstGeom>
              <a:solidFill>
                <a:schemeClr val="accent1"/>
              </a:solidFill>
              <a:ln w="12700" cap="flat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1066800">
                  <a:lnSpc>
                    <a:spcPct val="90000"/>
                  </a:lnSpc>
                  <a:spcBef>
                    <a:spcPts val="700"/>
                  </a:spcBef>
                  <a:defRPr sz="24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76" name="Population"/>
              <p:cNvSpPr txBox="1"/>
              <p:nvPr/>
            </p:nvSpPr>
            <p:spPr>
              <a:xfrm>
                <a:off x="41338" y="509471"/>
                <a:ext cx="1681589" cy="3924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 defTabSz="1066800">
                  <a:lnSpc>
                    <a:spcPct val="90000"/>
                  </a:lnSpc>
                  <a:spcBef>
                    <a:spcPts val="1000"/>
                  </a:spcBef>
                  <a:defRPr sz="24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Population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Content Placeholder 2"/>
          <p:cNvSpPr txBox="1"/>
          <p:nvPr>
            <p:ph type="body" idx="1"/>
          </p:nvPr>
        </p:nvSpPr>
        <p:spPr>
          <a:xfrm>
            <a:off x="562627" y="583474"/>
            <a:ext cx="9724374" cy="5305392"/>
          </a:xfrm>
          <a:prstGeom prst="rect">
            <a:avLst/>
          </a:prstGeom>
        </p:spPr>
        <p:txBody>
          <a:bodyPr/>
          <a:lstStyle/>
          <a:p>
            <a:pPr>
              <a:defRPr sz="2400"/>
            </a:pPr>
            <a:r>
              <a:t>There are total of 5 datasets:  Demand, temperature, gas price, generation and price.</a:t>
            </a:r>
          </a:p>
          <a:p>
            <a:pPr marL="457200" indent="-457200">
              <a:buFontTx/>
              <a:buAutoNum type="arabicPeriod" startAt="1"/>
              <a:defRPr sz="2400"/>
            </a:pPr>
            <a:r>
              <a:t>Demand Dataset - The demand datasets consists of Alberta’s internal load/Demand consisting of the total hourly demand in MW for the entire Province combined with spot price and gas price</a:t>
            </a:r>
          </a:p>
          <a:p>
            <a:pPr>
              <a:defRPr sz="2400"/>
            </a:pPr>
            <a:r>
              <a:t>Visualizing the demand vs price, we can obtain an understanding of how an increase population increases the price</a:t>
            </a:r>
          </a:p>
        </p:txBody>
      </p:sp>
      <p:sp>
        <p:nvSpPr>
          <p:cNvPr id="181" name="Slide Number Placeholder 3"/>
          <p:cNvSpPr txBox="1"/>
          <p:nvPr>
            <p:ph type="sldNum" sz="quarter" idx="2"/>
          </p:nvPr>
        </p:nvSpPr>
        <p:spPr>
          <a:xfrm>
            <a:off x="11719568" y="6380538"/>
            <a:ext cx="170059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82" name="Graphic 4" descr="Graphic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3062" y="3866022"/>
            <a:ext cx="2094691" cy="209469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3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59093" y="3505284"/>
            <a:ext cx="4217588" cy="27692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ontent Placeholder 2"/>
          <p:cNvSpPr txBox="1"/>
          <p:nvPr>
            <p:ph type="body" idx="1"/>
          </p:nvPr>
        </p:nvSpPr>
        <p:spPr>
          <a:xfrm>
            <a:off x="0" y="252548"/>
            <a:ext cx="8715983" cy="5895334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2400">
                <a:solidFill>
                  <a:srgbClr val="C21110"/>
                </a:solidFill>
              </a:defRPr>
            </a:pPr>
            <a:r>
              <a:t>2</a:t>
            </a:r>
            <a:r>
              <a:rPr>
                <a:solidFill>
                  <a:srgbClr val="000000"/>
                </a:solidFill>
              </a:rPr>
              <a:t>.  Temperature dataset – The temperature</a:t>
            </a:r>
            <a:endParaRPr>
              <a:solidFill>
                <a:srgbClr val="000000"/>
              </a:solidFill>
            </a:endParaRPr>
          </a:p>
          <a:p>
            <a:pPr marL="0" indent="0">
              <a:buSzTx/>
              <a:buNone/>
              <a:defRPr sz="2400"/>
            </a:pPr>
            <a:r>
              <a:t>dataset consists of the electricity generated vs </a:t>
            </a:r>
          </a:p>
          <a:p>
            <a:pPr marL="0" indent="0">
              <a:buSzTx/>
              <a:buNone/>
              <a:defRPr sz="2400"/>
            </a:pPr>
            <a:r>
              <a:t>the temperature</a:t>
            </a:r>
          </a:p>
          <a:p>
            <a:pPr>
              <a:defRPr sz="2400"/>
            </a:pPr>
            <a:r>
              <a:t>We can obtain an understanding of how the </a:t>
            </a:r>
          </a:p>
          <a:p>
            <a:pPr marL="0" indent="0">
              <a:buSzTx/>
              <a:buNone/>
              <a:defRPr sz="2400"/>
            </a:pPr>
            <a:r>
              <a:t>rise/fall in temperature increases the</a:t>
            </a:r>
          </a:p>
          <a:p>
            <a:pPr marL="0" indent="0">
              <a:buSzTx/>
              <a:buNone/>
              <a:defRPr sz="2400"/>
            </a:pPr>
            <a:r>
              <a:t>electricity generated/demand</a:t>
            </a:r>
          </a:p>
          <a:p>
            <a:pPr>
              <a:defRPr sz="2400"/>
            </a:pPr>
          </a:p>
          <a:p>
            <a:pPr marL="0" indent="0">
              <a:buSzTx/>
              <a:buNone/>
              <a:defRPr sz="2400">
                <a:solidFill>
                  <a:srgbClr val="C21110"/>
                </a:solidFill>
              </a:defRPr>
            </a:pPr>
            <a:r>
              <a:t>3. </a:t>
            </a:r>
            <a:r>
              <a:rPr>
                <a:solidFill>
                  <a:srgbClr val="000000"/>
                </a:solidFill>
              </a:rPr>
              <a:t>Gas Price – Cogeneration has been the source</a:t>
            </a:r>
            <a:endParaRPr>
              <a:solidFill>
                <a:srgbClr val="000000"/>
              </a:solidFill>
            </a:endParaRPr>
          </a:p>
          <a:p>
            <a:pPr marL="0" indent="0">
              <a:buSzTx/>
              <a:buNone/>
              <a:defRPr sz="2400"/>
            </a:pPr>
            <a:r>
              <a:t>with the highest electricity generated</a:t>
            </a:r>
          </a:p>
          <a:p>
            <a:pPr>
              <a:defRPr sz="2400"/>
            </a:pPr>
            <a:r>
              <a:t>Gas price will place an important role in predicting </a:t>
            </a:r>
          </a:p>
          <a:p>
            <a:pPr marL="0" indent="0">
              <a:buSzTx/>
              <a:buNone/>
              <a:defRPr sz="2400"/>
            </a:pPr>
            <a:r>
              <a:t>the spot price , due to cogeneration</a:t>
            </a:r>
          </a:p>
        </p:txBody>
      </p:sp>
      <p:sp>
        <p:nvSpPr>
          <p:cNvPr id="186" name="Slide Number Placeholder 3"/>
          <p:cNvSpPr txBox="1"/>
          <p:nvPr>
            <p:ph type="sldNum" sz="quarter" idx="2"/>
          </p:nvPr>
        </p:nvSpPr>
        <p:spPr>
          <a:xfrm>
            <a:off x="11719568" y="6380538"/>
            <a:ext cx="170059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8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56031" y="3310752"/>
            <a:ext cx="4106747" cy="1996395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Graphic 6" descr="Graphic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706910" y="3759741"/>
            <a:ext cx="914401" cy="914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745613" y="432172"/>
            <a:ext cx="3772414" cy="22373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" name="Graphic 10" descr="Graphic 10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706910" y="1378137"/>
            <a:ext cx="914401" cy="914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Content Placeholder 2"/>
          <p:cNvSpPr txBox="1"/>
          <p:nvPr>
            <p:ph type="body" idx="1"/>
          </p:nvPr>
        </p:nvSpPr>
        <p:spPr>
          <a:xfrm>
            <a:off x="562627" y="583660"/>
            <a:ext cx="9724374" cy="5305206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>
                <a:solidFill>
                  <a:srgbClr val="C21110"/>
                </a:solidFill>
              </a:defRPr>
            </a:pPr>
            <a:r>
              <a:t>4. </a:t>
            </a:r>
            <a:r>
              <a:rPr sz="2400">
                <a:solidFill>
                  <a:srgbClr val="000000"/>
                </a:solidFill>
              </a:rPr>
              <a:t>Generation – The generation </a:t>
            </a:r>
            <a:endParaRPr sz="2400">
              <a:solidFill>
                <a:srgbClr val="000000"/>
              </a:solidFill>
            </a:endParaRPr>
          </a:p>
          <a:p>
            <a:pPr marL="0" indent="0">
              <a:buSzTx/>
              <a:buNone/>
              <a:defRPr sz="2400"/>
            </a:pPr>
            <a:r>
              <a:t>of electricity will play a role in </a:t>
            </a:r>
          </a:p>
          <a:p>
            <a:pPr marL="0" indent="0">
              <a:buSzTx/>
              <a:buNone/>
              <a:defRPr sz="2400"/>
            </a:pPr>
            <a:r>
              <a:t>determining the spot price</a:t>
            </a:r>
          </a:p>
          <a:p>
            <a:pPr marL="0" indent="0">
              <a:buSzTx/>
              <a:buNone/>
              <a:defRPr sz="2400"/>
            </a:pPr>
          </a:p>
          <a:p>
            <a:pPr>
              <a:defRPr sz="2400"/>
            </a:pPr>
            <a:r>
              <a:t>There is a strong correlation</a:t>
            </a:r>
          </a:p>
          <a:p>
            <a:pPr marL="0" indent="0">
              <a:buSzTx/>
              <a:buNone/>
              <a:defRPr sz="2400"/>
            </a:pPr>
            <a:r>
              <a:t>between the demand and the </a:t>
            </a:r>
          </a:p>
          <a:p>
            <a:pPr marL="0" indent="0">
              <a:buSzTx/>
              <a:buNone/>
              <a:defRPr sz="2400"/>
            </a:pPr>
            <a:r>
              <a:t>generation</a:t>
            </a:r>
          </a:p>
          <a:p>
            <a:pPr>
              <a:defRPr sz="2400"/>
            </a:pPr>
          </a:p>
          <a:p>
            <a:pPr>
              <a:defRPr sz="2400"/>
            </a:pPr>
            <a:r>
              <a:t>We can understand the impact</a:t>
            </a:r>
          </a:p>
          <a:p>
            <a:pPr marL="0" indent="0">
              <a:buSzTx/>
              <a:buNone/>
              <a:defRPr sz="2400"/>
            </a:pPr>
            <a:r>
              <a:t>of the price by visualizing the </a:t>
            </a:r>
          </a:p>
          <a:p>
            <a:pPr marL="0" indent="0">
              <a:buSzTx/>
              <a:buNone/>
              <a:defRPr sz="2400"/>
            </a:pPr>
            <a:r>
              <a:t>generation vs price data </a:t>
            </a:r>
          </a:p>
        </p:txBody>
      </p:sp>
      <p:sp>
        <p:nvSpPr>
          <p:cNvPr id="193" name="Slide Number Placeholder 3"/>
          <p:cNvSpPr txBox="1"/>
          <p:nvPr>
            <p:ph type="sldNum" sz="quarter" idx="2"/>
          </p:nvPr>
        </p:nvSpPr>
        <p:spPr>
          <a:xfrm>
            <a:off x="11719568" y="6380538"/>
            <a:ext cx="170059" cy="22851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94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96023" y="969135"/>
            <a:ext cx="4925777" cy="2902475"/>
          </a:xfrm>
          <a:prstGeom prst="rect">
            <a:avLst/>
          </a:prstGeom>
          <a:ln w="12700">
            <a:miter lim="400000"/>
          </a:ln>
        </p:spPr>
      </p:pic>
      <p:pic>
        <p:nvPicPr>
          <p:cNvPr id="195" name="Graphic 7" descr="Graphic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556595" y="1867710"/>
            <a:ext cx="1094363" cy="10943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E2C2A"/>
      </a:accent1>
      <a:accent2>
        <a:srgbClr val="FFA300"/>
      </a:accent2>
      <a:accent3>
        <a:srgbClr val="FF671F"/>
      </a:accent3>
      <a:accent4>
        <a:srgbClr val="46A67B"/>
      </a:accent4>
      <a:accent5>
        <a:srgbClr val="EC0971"/>
      </a:accent5>
      <a:accent6>
        <a:srgbClr val="9C0533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E2C2A"/>
      </a:accent1>
      <a:accent2>
        <a:srgbClr val="FFA300"/>
      </a:accent2>
      <a:accent3>
        <a:srgbClr val="FF671F"/>
      </a:accent3>
      <a:accent4>
        <a:srgbClr val="46A67B"/>
      </a:accent4>
      <a:accent5>
        <a:srgbClr val="EC0971"/>
      </a:accent5>
      <a:accent6>
        <a:srgbClr val="9C0533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