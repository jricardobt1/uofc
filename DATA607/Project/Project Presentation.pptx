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5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68" r:id="rId6"/>
    <p:sldId id="269" r:id="rId7"/>
    <p:sldId id="259" r:id="rId8"/>
    <p:sldId id="270" r:id="rId9"/>
    <p:sldId id="272" r:id="rId10"/>
    <p:sldId id="271" r:id="rId11"/>
    <p:sldId id="274" r:id="rId12"/>
    <p:sldId id="282" r:id="rId13"/>
    <p:sldId id="281" r:id="rId14"/>
    <p:sldId id="283" r:id="rId15"/>
    <p:sldId id="284" r:id="rId16"/>
    <p:sldId id="260" r:id="rId17"/>
    <p:sldId id="275" r:id="rId18"/>
    <p:sldId id="278" r:id="rId19"/>
    <p:sldId id="279" r:id="rId20"/>
    <p:sldId id="28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DE916F0-4B3D-417E-96BA-224DE461F872}">
          <p14:sldIdLst>
            <p14:sldId id="256"/>
          </p14:sldIdLst>
        </p14:section>
        <p14:section name="Angela" id="{9E0DCEE8-7661-49B8-BEEA-59F197C5984F}">
          <p14:sldIdLst>
            <p14:sldId id="268"/>
            <p14:sldId id="269"/>
          </p14:sldIdLst>
        </p14:section>
        <p14:section name="Gautham" id="{3D1F0853-DB96-4B02-AEDE-EBC538493E5B}">
          <p14:sldIdLst>
            <p14:sldId id="259"/>
            <p14:sldId id="270"/>
            <p14:sldId id="272"/>
          </p14:sldIdLst>
        </p14:section>
        <p14:section name="Franco" id="{1CE84FF7-A91E-40C2-871D-236BC18FAB19}">
          <p14:sldIdLst>
            <p14:sldId id="271"/>
            <p14:sldId id="274"/>
          </p14:sldIdLst>
        </p14:section>
        <p14:section name="Joao" id="{D7DB3655-80C2-4311-A33C-C1C77F34EDAE}">
          <p14:sldIdLst>
            <p14:sldId id="282"/>
            <p14:sldId id="281"/>
            <p14:sldId id="283"/>
            <p14:sldId id="284"/>
            <p14:sldId id="260"/>
          </p14:sldIdLst>
        </p14:section>
        <p14:section name="Appendix" id="{9581E69A-80C5-4222-8AC8-579B9CB608B3}">
          <p14:sldIdLst>
            <p14:sldId id="275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D00"/>
    <a:srgbClr val="FBB031"/>
    <a:srgbClr val="E32726"/>
    <a:srgbClr val="D60057"/>
    <a:srgbClr val="8B857B"/>
    <a:srgbClr val="FFD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7386" autoAdjust="0"/>
  </p:normalViewPr>
  <p:slideViewPr>
    <p:cSldViewPr snapToGrid="0" snapToObjects="1" showGuides="1">
      <p:cViewPr>
        <p:scale>
          <a:sx n="125" d="100"/>
          <a:sy n="125" d="100"/>
        </p:scale>
        <p:origin x="1278" y="858"/>
      </p:cViewPr>
      <p:guideLst>
        <p:guide orient="horz" pos="411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tti Targino, Joao Ricardo" userId="53ec9d36-d788-45bf-ac4a-3b0ff5c8065a" providerId="ADAL" clId="{83ECE12C-5AF2-425A-BFDE-15486DEC0913}"/>
    <pc:docChg chg="modSld">
      <pc:chgData name="Bertti Targino, Joao Ricardo" userId="53ec9d36-d788-45bf-ac4a-3b0ff5c8065a" providerId="ADAL" clId="{83ECE12C-5AF2-425A-BFDE-15486DEC0913}" dt="2025-08-11T18:23:20.179" v="14" actId="5793"/>
      <pc:docMkLst>
        <pc:docMk/>
      </pc:docMkLst>
      <pc:sldChg chg="modSp mod">
        <pc:chgData name="Bertti Targino, Joao Ricardo" userId="53ec9d36-d788-45bf-ac4a-3b0ff5c8065a" providerId="ADAL" clId="{83ECE12C-5AF2-425A-BFDE-15486DEC0913}" dt="2025-08-11T18:23:20.179" v="14" actId="5793"/>
        <pc:sldMkLst>
          <pc:docMk/>
          <pc:sldMk cId="2374729735" sldId="256"/>
        </pc:sldMkLst>
        <pc:spChg chg="mod">
          <ac:chgData name="Bertti Targino, Joao Ricardo" userId="53ec9d36-d788-45bf-ac4a-3b0ff5c8065a" providerId="ADAL" clId="{83ECE12C-5AF2-425A-BFDE-15486DEC0913}" dt="2025-08-11T18:23:20.179" v="14" actId="5793"/>
          <ac:spMkLst>
            <pc:docMk/>
            <pc:sldMk cId="2374729735" sldId="256"/>
            <ac:spMk id="5" creationId="{B037332F-F808-E64C-8515-C367CB073A25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enmaxcorp-my.sharepoint.com/personal/jbertti_enmax_com/Documents/Desktop/Projects/UofC/DATA%20607/Project/Book3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enmaxcorp-my.sharepoint.com/personal/jbertti_enmax_com/Documents/Desktop/Projects/UofC/DATA%20607/Project/Book3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enmaxcorp-my.sharepoint.com/personal/jbertti_enmax_com/Documents/Desktop/Projects/UofC/DATA%20607/Project/Book3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enmaxcorp-my.sharepoint.com/personal/jbertti_enmax_com/Documents/Desktop/Projects/UofC/DATA%20607/Project/Book3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enmaxcorp-my.sharepoint.com/personal/jbertti_enmax_com/Documents/Desktop/Projects/UofC/DATA%20607/Project/Book3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509236692635643"/>
          <c:y val="0.17171296296296296"/>
          <c:w val="0.78225638461858948"/>
          <c:h val="0.79578842890850765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'Light GBM'!$A$12:$A$16</c:f>
              <c:strCache>
                <c:ptCount val="5"/>
                <c:pt idx="0">
                  <c:v>Monthly Charge</c:v>
                </c:pt>
                <c:pt idx="1">
                  <c:v>Number of Referrals</c:v>
                </c:pt>
                <c:pt idx="2">
                  <c:v>Contract</c:v>
                </c:pt>
                <c:pt idx="3">
                  <c:v>Tenure in Months</c:v>
                </c:pt>
                <c:pt idx="4">
                  <c:v>Age</c:v>
                </c:pt>
              </c:strCache>
            </c:strRef>
          </c:cat>
          <c:val>
            <c:numRef>
              <c:f>'Light GBM'!$B$12:$B$16</c:f>
              <c:numCache>
                <c:formatCode>#,##0</c:formatCode>
                <c:ptCount val="5"/>
                <c:pt idx="0">
                  <c:v>174</c:v>
                </c:pt>
                <c:pt idx="1">
                  <c:v>166</c:v>
                </c:pt>
                <c:pt idx="2">
                  <c:v>126</c:v>
                </c:pt>
                <c:pt idx="3">
                  <c:v>116</c:v>
                </c:pt>
                <c:pt idx="4">
                  <c:v>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58-4821-80DE-1A6EAEA842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76867775"/>
        <c:axId val="476868255"/>
      </c:barChart>
      <c:catAx>
        <c:axId val="47686777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868255"/>
        <c:crosses val="autoZero"/>
        <c:auto val="1"/>
        <c:lblAlgn val="ctr"/>
        <c:lblOffset val="100"/>
        <c:noMultiLvlLbl val="0"/>
      </c:catAx>
      <c:valAx>
        <c:axId val="476868255"/>
        <c:scaling>
          <c:orientation val="minMax"/>
        </c:scaling>
        <c:delete val="0"/>
        <c:axPos val="t"/>
        <c:numFmt formatCode="#,##0" sourceLinked="1"/>
        <c:majorTickMark val="none"/>
        <c:minorTickMark val="none"/>
        <c:tickLblPos val="none"/>
        <c:spPr>
          <a:noFill/>
          <a:ln>
            <a:solidFill>
              <a:schemeClr val="bg2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8677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406798787558729"/>
          <c:y val="5.1578130336241423E-2"/>
          <c:w val="0.75328085896488972"/>
          <c:h val="0.8895604748155278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LR!$A$12:$A$16</c:f>
              <c:strCache>
                <c:ptCount val="5"/>
                <c:pt idx="0">
                  <c:v>Contract_TwoYear</c:v>
                </c:pt>
                <c:pt idx="1">
                  <c:v>Number of Referrals</c:v>
                </c:pt>
                <c:pt idx="2">
                  <c:v>Monthly Charge</c:v>
                </c:pt>
                <c:pt idx="3">
                  <c:v>Dependents_Yes</c:v>
                </c:pt>
                <c:pt idx="4">
                  <c:v>Phone Service_Yes</c:v>
                </c:pt>
              </c:strCache>
            </c:strRef>
          </c:cat>
          <c:val>
            <c:numRef>
              <c:f>LR!$B$12:$B$16</c:f>
              <c:numCache>
                <c:formatCode>#,##0.00</c:formatCode>
                <c:ptCount val="5"/>
                <c:pt idx="0">
                  <c:v>2.65</c:v>
                </c:pt>
                <c:pt idx="1">
                  <c:v>1.75</c:v>
                </c:pt>
                <c:pt idx="2">
                  <c:v>1.68</c:v>
                </c:pt>
                <c:pt idx="3">
                  <c:v>1.59</c:v>
                </c:pt>
                <c:pt idx="4">
                  <c:v>1.49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01-49A7-AAC9-3D64CE2270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76867775"/>
        <c:axId val="476868255"/>
      </c:barChart>
      <c:catAx>
        <c:axId val="47686777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868255"/>
        <c:crosses val="autoZero"/>
        <c:auto val="1"/>
        <c:lblAlgn val="ctr"/>
        <c:lblOffset val="100"/>
        <c:noMultiLvlLbl val="0"/>
      </c:catAx>
      <c:valAx>
        <c:axId val="476868255"/>
        <c:scaling>
          <c:orientation val="minMax"/>
        </c:scaling>
        <c:delete val="0"/>
        <c:axPos val="t"/>
        <c:numFmt formatCode="#,##0.00" sourceLinked="1"/>
        <c:majorTickMark val="none"/>
        <c:minorTickMark val="none"/>
        <c:tickLblPos val="none"/>
        <c:spPr>
          <a:noFill/>
          <a:ln>
            <a:solidFill>
              <a:schemeClr val="bg2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8677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658391914297426"/>
          <c:y val="0.17171296296296296"/>
          <c:w val="0.81150962991514175"/>
          <c:h val="0.81030876348789738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DT!$A$12:$A$16</c:f>
              <c:strCache>
                <c:ptCount val="5"/>
                <c:pt idx="0">
                  <c:v>Contract</c:v>
                </c:pt>
                <c:pt idx="1">
                  <c:v>Monthly Charge</c:v>
                </c:pt>
                <c:pt idx="2">
                  <c:v>Number of Referrals</c:v>
                </c:pt>
                <c:pt idx="3">
                  <c:v>CLTV</c:v>
                </c:pt>
                <c:pt idx="4">
                  <c:v>Senior Citizen</c:v>
                </c:pt>
              </c:strCache>
            </c:strRef>
          </c:cat>
          <c:val>
            <c:numRef>
              <c:f>DT!$B$12:$B$16</c:f>
              <c:numCache>
                <c:formatCode>0.0%</c:formatCode>
                <c:ptCount val="5"/>
                <c:pt idx="0">
                  <c:v>0.20641100000000001</c:v>
                </c:pt>
                <c:pt idx="1">
                  <c:v>0.10188800000000001</c:v>
                </c:pt>
                <c:pt idx="2">
                  <c:v>7.2062000000000001E-2</c:v>
                </c:pt>
                <c:pt idx="3">
                  <c:v>6.6476999999999994E-2</c:v>
                </c:pt>
                <c:pt idx="4">
                  <c:v>5.8968E-2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37-47DE-9312-270A51FFB4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76867775"/>
        <c:axId val="476868255"/>
      </c:barChart>
      <c:catAx>
        <c:axId val="47686777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868255"/>
        <c:crosses val="autoZero"/>
        <c:auto val="1"/>
        <c:lblAlgn val="ctr"/>
        <c:lblOffset val="100"/>
        <c:noMultiLvlLbl val="0"/>
      </c:catAx>
      <c:valAx>
        <c:axId val="476868255"/>
        <c:scaling>
          <c:orientation val="minMax"/>
        </c:scaling>
        <c:delete val="0"/>
        <c:axPos val="t"/>
        <c:numFmt formatCode="0.0%" sourceLinked="1"/>
        <c:majorTickMark val="none"/>
        <c:minorTickMark val="none"/>
        <c:tickLblPos val="none"/>
        <c:spPr>
          <a:noFill/>
          <a:ln>
            <a:solidFill>
              <a:schemeClr val="bg2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8677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877786037234855"/>
          <c:y val="6.9861111111111124E-2"/>
          <c:w val="0.82122213962765145"/>
          <c:h val="0.85660505978419366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XG!$A$12:$A$16</c:f>
              <c:strCache>
                <c:ptCount val="5"/>
                <c:pt idx="0">
                  <c:v>Contract</c:v>
                </c:pt>
                <c:pt idx="1">
                  <c:v>InternetType</c:v>
                </c:pt>
                <c:pt idx="2">
                  <c:v>Number of Referrals</c:v>
                </c:pt>
                <c:pt idx="3">
                  <c:v>Dependents</c:v>
                </c:pt>
                <c:pt idx="4">
                  <c:v>Referred a Friend</c:v>
                </c:pt>
              </c:strCache>
            </c:strRef>
          </c:cat>
          <c:val>
            <c:numRef>
              <c:f>XG!$B$12:$B$16</c:f>
              <c:numCache>
                <c:formatCode>0.0%</c:formatCode>
                <c:ptCount val="5"/>
                <c:pt idx="0">
                  <c:v>0.26775900000000002</c:v>
                </c:pt>
                <c:pt idx="1">
                  <c:v>9.0783000000000003E-2</c:v>
                </c:pt>
                <c:pt idx="2">
                  <c:v>5.5176999999999997E-2</c:v>
                </c:pt>
                <c:pt idx="3">
                  <c:v>5.3803999999999998E-2</c:v>
                </c:pt>
                <c:pt idx="4">
                  <c:v>4.2699000000000001E-2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92-4122-9631-665A3FF140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76867775"/>
        <c:axId val="476868255"/>
      </c:barChart>
      <c:catAx>
        <c:axId val="47686777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868255"/>
        <c:crosses val="autoZero"/>
        <c:auto val="1"/>
        <c:lblAlgn val="ctr"/>
        <c:lblOffset val="100"/>
        <c:noMultiLvlLbl val="0"/>
      </c:catAx>
      <c:valAx>
        <c:axId val="476868255"/>
        <c:scaling>
          <c:orientation val="minMax"/>
        </c:scaling>
        <c:delete val="0"/>
        <c:axPos val="t"/>
        <c:numFmt formatCode="0.0%" sourceLinked="1"/>
        <c:majorTickMark val="none"/>
        <c:minorTickMark val="none"/>
        <c:tickLblPos val="none"/>
        <c:spPr>
          <a:noFill/>
          <a:ln>
            <a:solidFill>
              <a:schemeClr val="bg2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8677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131370731436347"/>
          <c:y val="7.7016059545587101E-2"/>
          <c:w val="0.79603504423058236"/>
          <c:h val="0.78000560062567947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RF!$A$12:$A$16</c:f>
              <c:strCache>
                <c:ptCount val="5"/>
                <c:pt idx="0">
                  <c:v>Contract</c:v>
                </c:pt>
                <c:pt idx="1">
                  <c:v>Tenure in Months</c:v>
                </c:pt>
                <c:pt idx="2">
                  <c:v>Number of Referrals</c:v>
                </c:pt>
                <c:pt idx="3">
                  <c:v>Monthly Charge</c:v>
                </c:pt>
                <c:pt idx="4">
                  <c:v>Total Charges</c:v>
                </c:pt>
              </c:strCache>
            </c:strRef>
          </c:cat>
          <c:val>
            <c:numRef>
              <c:f>RF!$B$12:$B$16</c:f>
              <c:numCache>
                <c:formatCode>0.0%</c:formatCode>
                <c:ptCount val="5"/>
                <c:pt idx="0">
                  <c:v>0.16741900000000001</c:v>
                </c:pt>
                <c:pt idx="1">
                  <c:v>0.101189</c:v>
                </c:pt>
                <c:pt idx="2">
                  <c:v>9.1889999999999999E-2</c:v>
                </c:pt>
                <c:pt idx="3">
                  <c:v>7.8778000000000001E-2</c:v>
                </c:pt>
                <c:pt idx="4">
                  <c:v>5.5236E-2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7F-4104-BAE4-56E9362FD5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476867775"/>
        <c:axId val="476868255"/>
      </c:barChart>
      <c:catAx>
        <c:axId val="476867775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2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868255"/>
        <c:crosses val="autoZero"/>
        <c:auto val="1"/>
        <c:lblAlgn val="ctr"/>
        <c:lblOffset val="100"/>
        <c:noMultiLvlLbl val="0"/>
      </c:catAx>
      <c:valAx>
        <c:axId val="476868255"/>
        <c:scaling>
          <c:orientation val="minMax"/>
        </c:scaling>
        <c:delete val="0"/>
        <c:axPos val="t"/>
        <c:numFmt formatCode="0.0%" sourceLinked="1"/>
        <c:majorTickMark val="none"/>
        <c:minorTickMark val="none"/>
        <c:tickLblPos val="none"/>
        <c:spPr>
          <a:noFill/>
          <a:ln>
            <a:solidFill>
              <a:schemeClr val="bg2">
                <a:lumMod val="50000"/>
              </a:schemeClr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686777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2CACE1-0839-DD4E-8A8D-815B08AED9A4}" type="datetimeFigureOut">
              <a:rPr lang="en-US" smtClean="0"/>
              <a:t>2025-08-11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B58301-8E47-694C-884E-80E9D5260C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921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F9A73-227E-EF8E-F6B3-B453F613A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71505-264F-CAF1-4767-658DAFD01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D982E7-B8CE-0226-5C6B-20CCA6CFF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project, we investigated whether we can accurately predict which telecom customers are likely to churn using machine learning classification models.</a:t>
            </a:r>
          </a:p>
          <a:p>
            <a:r>
              <a:rPr lang="en-US" dirty="0"/>
              <a:t>This is important because acquiring new customers is expensive - often five times more costly than retaining existing ones.</a:t>
            </a:r>
          </a:p>
          <a:p>
            <a:r>
              <a:rPr lang="en-US" dirty="0"/>
              <a:t>If we can identify customers at risk of leaving, companies can take proactive measures, such as targeted offers or service improvements, to prevent churn.</a:t>
            </a:r>
          </a:p>
          <a:p>
            <a:r>
              <a:rPr lang="en-US" dirty="0"/>
              <a:t>This is especially relevant in telecommunications, where customers can switch providers easily due to competitive pricing and minimal switching barriers. A well-performing churn prediction model can therefore directly improve return on investment and reduce revenue loss.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37625-9A28-BB72-2506-D30EEE190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939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8A762-736B-42D3-4291-2F6FD9D95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53F19-C774-CD19-3536-EFEC1ED16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6F234C-E97E-202C-C015-EED21CA62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project, we investigated whether we can accurately predict which telecom customers are likely to churn using machine learning classification models.</a:t>
            </a:r>
          </a:p>
          <a:p>
            <a:r>
              <a:rPr lang="en-US" dirty="0"/>
              <a:t>This is important because acquiring new customers is expensive - often five times more costly than retaining existing ones.</a:t>
            </a:r>
          </a:p>
          <a:p>
            <a:r>
              <a:rPr lang="en-US" dirty="0"/>
              <a:t>If we can identify customers at risk of leaving, companies can take proactive measures, such as targeted offers or service improvements, to prevent churn.</a:t>
            </a:r>
          </a:p>
          <a:p>
            <a:r>
              <a:rPr lang="en-US" dirty="0"/>
              <a:t>This is especially relevant in telecommunications, where customers can switch providers easily due to competitive pricing and minimal switching barriers. A well-performing churn prediction model can therefore directly improve return on investment and reduce revenue loss.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53C5A-4080-9B2D-8EA5-CDC8903789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075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address our research question, we used the publicly available Telco Customer Churn dataset from Kaggle. </a:t>
            </a:r>
          </a:p>
          <a:p>
            <a:r>
              <a:rPr lang="en-US" dirty="0"/>
              <a:t>It contains records for over 7,000 customers from a U.S. telecommunications company, with 50 different features describing each customer.</a:t>
            </a:r>
          </a:p>
          <a:p>
            <a:endParaRPr lang="en-US" dirty="0"/>
          </a:p>
          <a:p>
            <a:r>
              <a:rPr lang="en-US" dirty="0"/>
              <a:t>These features include both numerical variables like tenure, monthly charges,</a:t>
            </a:r>
          </a:p>
          <a:p>
            <a:r>
              <a:rPr lang="en-US" dirty="0"/>
              <a:t>categorical variables like contract type, payment method, and internet service type. </a:t>
            </a:r>
          </a:p>
          <a:p>
            <a:endParaRPr lang="en-US" dirty="0"/>
          </a:p>
          <a:p>
            <a:r>
              <a:rPr lang="en-US" dirty="0"/>
              <a:t>Our target variable is binary — whether the customer churned or not.</a:t>
            </a:r>
          </a:p>
          <a:p>
            <a:endParaRPr lang="en-US" dirty="0"/>
          </a:p>
          <a:p>
            <a:r>
              <a:rPr lang="en-US" dirty="0"/>
              <a:t>An important characteristic of this dataset is class imbalance: only about a quarter of customers in the data have churned. </a:t>
            </a:r>
          </a:p>
          <a:p>
            <a:r>
              <a:rPr lang="en-US" dirty="0"/>
              <a:t>This imbalance has implications for how we train and evaluate our models, since accuracy alone could be misleading.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218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DF4C3-B5F9-B57E-432C-D4A8A489E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74BA57-2B33-C15A-7CDC-168A1EC5C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9793F-0C24-F7F7-A953-92AA3C849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address our research question, we used the publicly available Telco Customer Churn dataset from Kaggle. </a:t>
            </a:r>
          </a:p>
          <a:p>
            <a:r>
              <a:rPr lang="en-US" dirty="0"/>
              <a:t>It contains records for over 7,000 customers from a U.S. telecommunications company, with 50 different features describing each customer.</a:t>
            </a:r>
          </a:p>
          <a:p>
            <a:endParaRPr lang="en-US" dirty="0"/>
          </a:p>
          <a:p>
            <a:r>
              <a:rPr lang="en-US" dirty="0"/>
              <a:t>These features include both numerical variables like tenure, monthly charges,</a:t>
            </a:r>
          </a:p>
          <a:p>
            <a:r>
              <a:rPr lang="en-US" dirty="0"/>
              <a:t>categorical variables like contract type, payment method, and internet service type. </a:t>
            </a:r>
          </a:p>
          <a:p>
            <a:endParaRPr lang="en-US" dirty="0"/>
          </a:p>
          <a:p>
            <a:r>
              <a:rPr lang="en-US" dirty="0"/>
              <a:t>Our target variable is binary — whether the customer churned or not.</a:t>
            </a:r>
          </a:p>
          <a:p>
            <a:endParaRPr lang="en-US" dirty="0"/>
          </a:p>
          <a:p>
            <a:r>
              <a:rPr lang="en-US" dirty="0"/>
              <a:t>An important characteristic of this dataset is class imbalance: only about a quarter of customers in the data have churned. </a:t>
            </a:r>
          </a:p>
          <a:p>
            <a:r>
              <a:rPr lang="en-US" dirty="0"/>
              <a:t>This imbalance has implications for how we train and evaluate our models, since accuracy alone could be misleading.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09934-7BAE-1F40-E8DC-F949E0E19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1633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BAC4A-23FF-A5BA-AB8A-F60B9BC00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DBFE2D-AB52-F12F-D6AF-E88060020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CA62D-629D-DFA1-D6E5-8B8AE94CD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address our research question, we used the publicly available Telco Customer Churn dataset from Kaggle. </a:t>
            </a:r>
          </a:p>
          <a:p>
            <a:r>
              <a:rPr lang="en-US" dirty="0"/>
              <a:t>It contains records for over 7,000 customers from a U.S. telecommunications company, with 50 different features describing each customer.</a:t>
            </a:r>
          </a:p>
          <a:p>
            <a:endParaRPr lang="en-US" dirty="0"/>
          </a:p>
          <a:p>
            <a:r>
              <a:rPr lang="en-US" dirty="0"/>
              <a:t>These features include both numerical variables like tenure, monthly charges,</a:t>
            </a:r>
          </a:p>
          <a:p>
            <a:r>
              <a:rPr lang="en-US" dirty="0"/>
              <a:t>categorical variables like contract type, payment method, and internet service type. </a:t>
            </a:r>
          </a:p>
          <a:p>
            <a:endParaRPr lang="en-US" dirty="0"/>
          </a:p>
          <a:p>
            <a:r>
              <a:rPr lang="en-US" dirty="0"/>
              <a:t>Our target variable is binary — whether the customer churned or not.</a:t>
            </a:r>
          </a:p>
          <a:p>
            <a:endParaRPr lang="en-US" dirty="0"/>
          </a:p>
          <a:p>
            <a:r>
              <a:rPr lang="en-US" dirty="0"/>
              <a:t>An important characteristic of this dataset is class imbalance: only about a quarter of customers in the data have churned. </a:t>
            </a:r>
          </a:p>
          <a:p>
            <a:r>
              <a:rPr lang="en-US" dirty="0"/>
              <a:t>This imbalance has implications for how we train and evaluate our models, since accuracy alone could be misleading.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8C9F7-4B62-A89F-6F17-924F5C2321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67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82B37-BC4D-C4DA-29F5-C1F776ED0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D839A-BD41-8536-7BE7-471C534CCA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2773E-200B-76DF-4DB0-25CA8FF92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address our research question, we used the publicly available Telco Customer Churn dataset from Kaggle. </a:t>
            </a:r>
          </a:p>
          <a:p>
            <a:r>
              <a:rPr lang="en-US" dirty="0"/>
              <a:t>It contains records for over 7,000 customers from a U.S. telecommunications company, with 50 different features describing each customer.</a:t>
            </a:r>
          </a:p>
          <a:p>
            <a:endParaRPr lang="en-US" dirty="0"/>
          </a:p>
          <a:p>
            <a:r>
              <a:rPr lang="en-US" dirty="0"/>
              <a:t>These features include both numerical variables like tenure, monthly charges,</a:t>
            </a:r>
          </a:p>
          <a:p>
            <a:r>
              <a:rPr lang="en-US" dirty="0"/>
              <a:t>categorical variables like contract type, payment method, and internet service type. </a:t>
            </a:r>
          </a:p>
          <a:p>
            <a:endParaRPr lang="en-US" dirty="0"/>
          </a:p>
          <a:p>
            <a:r>
              <a:rPr lang="en-US" dirty="0"/>
              <a:t>Our target variable is binary — whether the customer churned or not.</a:t>
            </a:r>
          </a:p>
          <a:p>
            <a:endParaRPr lang="en-US" dirty="0"/>
          </a:p>
          <a:p>
            <a:r>
              <a:rPr lang="en-US" dirty="0"/>
              <a:t>An important characteristic of this dataset is class imbalance: only about a quarter of customers in the data have churned. </a:t>
            </a:r>
          </a:p>
          <a:p>
            <a:r>
              <a:rPr lang="en-US" dirty="0"/>
              <a:t>This imbalance has implications for how we train and evaluate our models, since accuracy alone could be misleading.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1CD59-4098-8BFB-DEC4-D67A6A745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125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B42BB-D489-62AF-46CE-3F586A6EC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553E70-EA81-DFEF-9308-5321FD8AE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39935-1324-76EB-4E5A-7FD393E79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address our research question, we used the publicly available Telco Customer Churn dataset from Kaggle. </a:t>
            </a:r>
          </a:p>
          <a:p>
            <a:r>
              <a:rPr lang="en-US" dirty="0"/>
              <a:t>It contains records for over 7,000 customers from a U.S. telecommunications company, with 50 different features describing each customer.</a:t>
            </a:r>
          </a:p>
          <a:p>
            <a:endParaRPr lang="en-US" dirty="0"/>
          </a:p>
          <a:p>
            <a:r>
              <a:rPr lang="en-US" dirty="0"/>
              <a:t>These features include both numerical variables like tenure, monthly charges,</a:t>
            </a:r>
          </a:p>
          <a:p>
            <a:r>
              <a:rPr lang="en-US" dirty="0"/>
              <a:t>categorical variables like contract type, payment method, and internet service type. </a:t>
            </a:r>
          </a:p>
          <a:p>
            <a:endParaRPr lang="en-US" dirty="0"/>
          </a:p>
          <a:p>
            <a:r>
              <a:rPr lang="en-US" dirty="0"/>
              <a:t>Our target variable is binary — whether the customer churned or not.</a:t>
            </a:r>
          </a:p>
          <a:p>
            <a:endParaRPr lang="en-US" dirty="0"/>
          </a:p>
          <a:p>
            <a:r>
              <a:rPr lang="en-US" dirty="0"/>
              <a:t>An important characteristic of this dataset is class imbalance: only about a quarter of customers in the data have churned. </a:t>
            </a:r>
          </a:p>
          <a:p>
            <a:r>
              <a:rPr lang="en-US" dirty="0"/>
              <a:t>This imbalance has implications for how we train and evaluate our models, since accuracy alone could be misleading.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FFB0F-72E4-7F7A-8BFE-AF988AAF59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4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003B3-CEB2-D828-EB60-4E52DE0A2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3AD901-E438-21F3-20BF-94986254A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F5D110-C7E8-ACC1-15DC-EB98B5E7C4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address our research question, we used the publicly available Telco Customer Churn dataset from Kaggle. </a:t>
            </a:r>
          </a:p>
          <a:p>
            <a:r>
              <a:rPr lang="en-US" dirty="0"/>
              <a:t>It contains records for over 7,000 customers from a U.S. telecommunications company, with 50 different features describing each customer.</a:t>
            </a:r>
          </a:p>
          <a:p>
            <a:endParaRPr lang="en-US" dirty="0"/>
          </a:p>
          <a:p>
            <a:r>
              <a:rPr lang="en-US" dirty="0"/>
              <a:t>These features include both numerical variables like tenure, monthly charges,</a:t>
            </a:r>
          </a:p>
          <a:p>
            <a:r>
              <a:rPr lang="en-US" dirty="0"/>
              <a:t>categorical variables like contract type, payment method, and internet service type. </a:t>
            </a:r>
          </a:p>
          <a:p>
            <a:endParaRPr lang="en-US" dirty="0"/>
          </a:p>
          <a:p>
            <a:r>
              <a:rPr lang="en-US" dirty="0"/>
              <a:t>Our target variable is binary — whether the customer churned or not.</a:t>
            </a:r>
          </a:p>
          <a:p>
            <a:endParaRPr lang="en-US" dirty="0"/>
          </a:p>
          <a:p>
            <a:r>
              <a:rPr lang="en-US" dirty="0"/>
              <a:t>An important characteristic of this dataset is class imbalance: only about a quarter of customers in the data have churned. </a:t>
            </a:r>
          </a:p>
          <a:p>
            <a:r>
              <a:rPr lang="en-US" dirty="0"/>
              <a:t>This imbalance has implications for how we train and evaluate our models, since accuracy alone could be misleading.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55162-F323-9D10-3555-1E94917C8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8018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F32E7-7245-DFC8-202D-9A99C9BC9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C5FFF-CDC6-AE9E-D073-68D873F023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04E356-95BD-3433-C13F-9FAC90F93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address our research question, we used the publicly available Telco Customer Churn dataset from Kaggle. </a:t>
            </a:r>
          </a:p>
          <a:p>
            <a:r>
              <a:rPr lang="en-US" dirty="0"/>
              <a:t>It contains records for over 7,000 customers from a U.S. telecommunications company, with 50 different features describing each customer.</a:t>
            </a:r>
          </a:p>
          <a:p>
            <a:endParaRPr lang="en-US" dirty="0"/>
          </a:p>
          <a:p>
            <a:r>
              <a:rPr lang="en-US" dirty="0"/>
              <a:t>These features include both numerical variables like tenure, monthly charges,</a:t>
            </a:r>
          </a:p>
          <a:p>
            <a:r>
              <a:rPr lang="en-US" dirty="0"/>
              <a:t>categorical variables like contract type, payment method, and internet service type. </a:t>
            </a:r>
          </a:p>
          <a:p>
            <a:endParaRPr lang="en-US" dirty="0"/>
          </a:p>
          <a:p>
            <a:r>
              <a:rPr lang="en-US" dirty="0"/>
              <a:t>Our target variable is binary — whether the customer churned or not.</a:t>
            </a:r>
          </a:p>
          <a:p>
            <a:endParaRPr lang="en-US" dirty="0"/>
          </a:p>
          <a:p>
            <a:r>
              <a:rPr lang="en-US" dirty="0"/>
              <a:t>An important characteristic of this dataset is class imbalance: only about a quarter of customers in the data have churned. </a:t>
            </a:r>
          </a:p>
          <a:p>
            <a:r>
              <a:rPr lang="en-US" dirty="0"/>
              <a:t>This imbalance has implications for how we train and evaluate our models, since accuracy alone could be misleading.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86715-9C8A-56EA-F341-4C79CEFB3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0949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74FE5-A898-0A12-88D5-608A96F49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16DE9-F283-22EC-F45B-6422F3C03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372FB-868C-0867-0656-D26354E02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address our research question, we used the publicly available Telco Customer Churn dataset from Kaggle. </a:t>
            </a:r>
          </a:p>
          <a:p>
            <a:r>
              <a:rPr lang="en-US" dirty="0"/>
              <a:t>It contains records for over 7,000 customers from a U.S. telecommunications company, with 50 different features describing each customer.</a:t>
            </a:r>
          </a:p>
          <a:p>
            <a:endParaRPr lang="en-US" dirty="0"/>
          </a:p>
          <a:p>
            <a:r>
              <a:rPr lang="en-US" dirty="0"/>
              <a:t>These features include both numerical variables like tenure, monthly charges,</a:t>
            </a:r>
          </a:p>
          <a:p>
            <a:r>
              <a:rPr lang="en-US" dirty="0"/>
              <a:t>categorical variables like contract type, payment method, and internet service type. </a:t>
            </a:r>
          </a:p>
          <a:p>
            <a:endParaRPr lang="en-US" dirty="0"/>
          </a:p>
          <a:p>
            <a:r>
              <a:rPr lang="en-US" dirty="0"/>
              <a:t>Our target variable is binary — whether the customer churned or not.</a:t>
            </a:r>
          </a:p>
          <a:p>
            <a:endParaRPr lang="en-US" dirty="0"/>
          </a:p>
          <a:p>
            <a:r>
              <a:rPr lang="en-US" dirty="0"/>
              <a:t>An important characteristic of this dataset is class imbalance: only about a quarter of customers in the data have churned. </a:t>
            </a:r>
          </a:p>
          <a:p>
            <a:r>
              <a:rPr lang="en-US" dirty="0"/>
              <a:t>This imbalance has implications for how we train and evaluate our models, since accuracy alone could be misleading.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1D8113-A525-326F-EF2B-E2293917E0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055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3AE33-8B4C-047A-6EC4-E806D00BC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E9AF5-9403-3FEB-BAA5-B722C49163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53A11-5740-A7E3-FAE8-412E87141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address our research question, we used the publicly available Telco Customer Churn dataset from Kaggle. </a:t>
            </a:r>
          </a:p>
          <a:p>
            <a:r>
              <a:rPr lang="en-US" dirty="0"/>
              <a:t>It contains records for over 7,000 customers from a U.S. telecommunications company, with 50 different features describing each customer.</a:t>
            </a:r>
          </a:p>
          <a:p>
            <a:endParaRPr lang="en-US" dirty="0"/>
          </a:p>
          <a:p>
            <a:r>
              <a:rPr lang="en-US" dirty="0"/>
              <a:t>These features include both numerical variables like tenure, monthly charges,</a:t>
            </a:r>
          </a:p>
          <a:p>
            <a:r>
              <a:rPr lang="en-US" dirty="0"/>
              <a:t>categorical variables like contract type, payment method, and internet service type. </a:t>
            </a:r>
          </a:p>
          <a:p>
            <a:endParaRPr lang="en-US" dirty="0"/>
          </a:p>
          <a:p>
            <a:r>
              <a:rPr lang="en-US" dirty="0"/>
              <a:t>Our target variable is binary — whether the customer churned or not.</a:t>
            </a:r>
          </a:p>
          <a:p>
            <a:endParaRPr lang="en-US" dirty="0"/>
          </a:p>
          <a:p>
            <a:r>
              <a:rPr lang="en-US" dirty="0"/>
              <a:t>An important characteristic of this dataset is class imbalance: only about a quarter of customers in the data have churned. </a:t>
            </a:r>
          </a:p>
          <a:p>
            <a:r>
              <a:rPr lang="en-US" dirty="0"/>
              <a:t>This imbalance has implications for how we train and evaluate our models, since accuracy alone could be misleading.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F21CC-E372-1CBC-74F1-8BBAC3532B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322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6C3BA-6504-E1B7-824B-202553B3B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6AACDD-7414-3CBE-51C5-D71E2F5FE1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EE0752-A529-2C57-18F2-DEDFBBBE50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address our research question, we used the publicly available Telco Customer Churn dataset from Kaggle. </a:t>
            </a:r>
          </a:p>
          <a:p>
            <a:r>
              <a:rPr lang="en-US" dirty="0"/>
              <a:t>It contains records for over 7,000 customers from a U.S. telecommunications company, with 50 different features describing each customer.</a:t>
            </a:r>
          </a:p>
          <a:p>
            <a:endParaRPr lang="en-US" dirty="0"/>
          </a:p>
          <a:p>
            <a:r>
              <a:rPr lang="en-US" dirty="0"/>
              <a:t>These features include both numerical variables like tenure, monthly charges,</a:t>
            </a:r>
          </a:p>
          <a:p>
            <a:r>
              <a:rPr lang="en-US" dirty="0"/>
              <a:t>categorical variables like contract type, payment method, and internet service type. </a:t>
            </a:r>
          </a:p>
          <a:p>
            <a:endParaRPr lang="en-US" dirty="0"/>
          </a:p>
          <a:p>
            <a:r>
              <a:rPr lang="en-US" dirty="0"/>
              <a:t>Our target variable is binary — whether the customer churned or not.</a:t>
            </a:r>
          </a:p>
          <a:p>
            <a:endParaRPr lang="en-US" dirty="0"/>
          </a:p>
          <a:p>
            <a:r>
              <a:rPr lang="en-US" dirty="0"/>
              <a:t>An important characteristic of this dataset is class imbalance: only about a quarter of customers in the data have churned. </a:t>
            </a:r>
          </a:p>
          <a:p>
            <a:r>
              <a:rPr lang="en-US" dirty="0"/>
              <a:t>This imbalance has implications for how we train and evaluate our models, since accuracy alone could be misleading.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F2D9FC-8330-225F-E205-DB6A036F38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575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43016-817C-F46D-EF63-4002B2758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036E2-BBC7-ED2C-BEB4-F8BE3E07D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DB5852-42CC-7C1F-9ACE-43A7FF044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address our research question, we used the publicly available Telco Customer Churn dataset from Kaggle. </a:t>
            </a:r>
          </a:p>
          <a:p>
            <a:r>
              <a:rPr lang="en-US" dirty="0"/>
              <a:t>It contains records for over 7,000 customers from a U.S. telecommunications company, with 50 different features describing each customer.</a:t>
            </a:r>
          </a:p>
          <a:p>
            <a:endParaRPr lang="en-US" dirty="0"/>
          </a:p>
          <a:p>
            <a:r>
              <a:rPr lang="en-US" dirty="0"/>
              <a:t>These features include both numerical variables like tenure, monthly charges,</a:t>
            </a:r>
          </a:p>
          <a:p>
            <a:r>
              <a:rPr lang="en-US" dirty="0"/>
              <a:t>categorical variables like contract type, payment method, and internet service type. </a:t>
            </a:r>
          </a:p>
          <a:p>
            <a:endParaRPr lang="en-US" dirty="0"/>
          </a:p>
          <a:p>
            <a:r>
              <a:rPr lang="en-US" dirty="0"/>
              <a:t>Our target variable is binary — whether the customer churned or not.</a:t>
            </a:r>
          </a:p>
          <a:p>
            <a:endParaRPr lang="en-US" dirty="0"/>
          </a:p>
          <a:p>
            <a:r>
              <a:rPr lang="en-US" dirty="0"/>
              <a:t>An important characteristic of this dataset is class imbalance: only about a quarter of customers in the data have churned. </a:t>
            </a:r>
          </a:p>
          <a:p>
            <a:r>
              <a:rPr lang="en-US" dirty="0"/>
              <a:t>This imbalance has implications for how we train and evaluate our models, since accuracy alone could be misleading.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8D6C4-55D0-FFB6-B025-89997248A3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991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2CD93-A4C6-0F8A-61D7-F7DD55D8C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40B8E5-8709-FADB-27B5-017E194987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0FFDB-EB10-3A71-D36F-31CFF4EF6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address our research question, we used the publicly available Telco Customer Churn dataset from Kaggle. </a:t>
            </a:r>
          </a:p>
          <a:p>
            <a:r>
              <a:rPr lang="en-US" dirty="0"/>
              <a:t>It contains records for over 7,000 customers from a U.S. telecommunications company, with 50 different features describing each customer.</a:t>
            </a:r>
          </a:p>
          <a:p>
            <a:endParaRPr lang="en-US" dirty="0"/>
          </a:p>
          <a:p>
            <a:r>
              <a:rPr lang="en-US" dirty="0"/>
              <a:t>These features include both numerical variables like tenure, monthly charges,</a:t>
            </a:r>
          </a:p>
          <a:p>
            <a:r>
              <a:rPr lang="en-US" dirty="0"/>
              <a:t>categorical variables like contract type, payment method, and internet service type. </a:t>
            </a:r>
          </a:p>
          <a:p>
            <a:endParaRPr lang="en-US" dirty="0"/>
          </a:p>
          <a:p>
            <a:r>
              <a:rPr lang="en-US" dirty="0"/>
              <a:t>Our target variable is binary — whether the customer churned or not.</a:t>
            </a:r>
          </a:p>
          <a:p>
            <a:endParaRPr lang="en-US" dirty="0"/>
          </a:p>
          <a:p>
            <a:r>
              <a:rPr lang="en-US" dirty="0"/>
              <a:t>An important characteristic of this dataset is class imbalance: only about a quarter of customers in the data have churned. </a:t>
            </a:r>
          </a:p>
          <a:p>
            <a:r>
              <a:rPr lang="en-US" dirty="0"/>
              <a:t>This imbalance has implications for how we train and evaluate our models, since accuracy alone could be misleading.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DFB40F-B2CB-76E9-F9A7-A4BB65F3F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060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76ABB-16CD-7D0C-5DCD-94F7181C1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724287-0289-FDB1-9207-A120ECDC2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46217-D7F0-3A32-7113-B6C2D00620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address our research question, we used the publicly available Telco Customer Churn dataset from Kaggle. </a:t>
            </a:r>
          </a:p>
          <a:p>
            <a:r>
              <a:rPr lang="en-US" dirty="0"/>
              <a:t>It contains records for over 7,000 customers from a U.S. telecommunications company, with 50 different features describing each customer.</a:t>
            </a:r>
          </a:p>
          <a:p>
            <a:endParaRPr lang="en-US" dirty="0"/>
          </a:p>
          <a:p>
            <a:r>
              <a:rPr lang="en-US" dirty="0"/>
              <a:t>These features include both numerical variables like tenure, monthly charges,</a:t>
            </a:r>
          </a:p>
          <a:p>
            <a:r>
              <a:rPr lang="en-US" dirty="0"/>
              <a:t>categorical variables like contract type, payment method, and internet service type. </a:t>
            </a:r>
          </a:p>
          <a:p>
            <a:endParaRPr lang="en-US" dirty="0"/>
          </a:p>
          <a:p>
            <a:r>
              <a:rPr lang="en-US" dirty="0"/>
              <a:t>Our target variable is binary — whether the customer churned or not.</a:t>
            </a:r>
          </a:p>
          <a:p>
            <a:endParaRPr lang="en-US" dirty="0"/>
          </a:p>
          <a:p>
            <a:r>
              <a:rPr lang="en-US" dirty="0"/>
              <a:t>An important characteristic of this dataset is class imbalance: only about a quarter of customers in the data have churned. </a:t>
            </a:r>
          </a:p>
          <a:p>
            <a:r>
              <a:rPr lang="en-US" dirty="0"/>
              <a:t>This imbalance has implications for how we train and evaluate our models, since accuracy alone could be misleading.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123CA-A0C8-4ABF-912B-837FD1BC0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B58301-8E47-694C-884E-80E9D5260CC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776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78C2-47AD-C340-9456-D9F9B3D30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178" y="720246"/>
            <a:ext cx="9144000" cy="23450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5600"/>
              </a:lnSpc>
              <a:defRPr sz="5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038AA-9B5A-234E-B6E1-FE9722AB0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7178" y="3080490"/>
            <a:ext cx="9144000" cy="106562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rgbClr val="FFCD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FD472B-32E4-8A46-90E5-97757DC24E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178" y="4158641"/>
            <a:ext cx="6586603" cy="186370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  <a:br>
              <a:rPr lang="en-US" dirty="0"/>
            </a:br>
            <a:r>
              <a:rPr lang="en-US" dirty="0"/>
              <a:t>Presenter’s title / additional designations</a:t>
            </a:r>
            <a:br>
              <a:rPr lang="en-US" dirty="0"/>
            </a:br>
            <a:r>
              <a:rPr lang="en-US" dirty="0"/>
              <a:t>Faculty of / Department of / additional designations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5E4B113-E638-B640-8F48-252058659E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700" y="6022975"/>
            <a:ext cx="6586081" cy="52187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rgbClr val="FFCD00"/>
                </a:solidFill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</p:spTree>
    <p:extLst>
      <p:ext uri="{BB962C8B-B14F-4D97-AF65-F5344CB8AC3E}">
        <p14:creationId xmlns:p14="http://schemas.microsoft.com/office/powerpoint/2010/main" val="3980296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A32D7-DB76-2847-ADA0-EE213BEBB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3841"/>
            <a:ext cx="10515600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7C696-28D5-3D4E-90D5-168D38046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1537526"/>
            <a:ext cx="10515600" cy="4351338"/>
          </a:xfrm>
          <a:prstGeom prst="rect">
            <a:avLst/>
          </a:prstGeom>
        </p:spPr>
        <p:txBody>
          <a:bodyPr/>
          <a:lstStyle>
            <a:lvl1pPr>
              <a:buClr>
                <a:srgbClr val="E32726"/>
              </a:buClr>
              <a:defRPr sz="2800"/>
            </a:lvl1pPr>
            <a:lvl2pPr>
              <a:buClr>
                <a:srgbClr val="FBB031"/>
              </a:buClr>
              <a:defRPr sz="2400"/>
            </a:lvl2pPr>
            <a:lvl3pPr>
              <a:buClr>
                <a:srgbClr val="8B857B"/>
              </a:buClr>
              <a:defRPr sz="2000"/>
            </a:lvl3pPr>
            <a:lvl4pPr>
              <a:buClr>
                <a:schemeClr val="accent3"/>
              </a:buClr>
              <a:defRPr sz="1800"/>
            </a:lvl4pPr>
            <a:lvl5pPr>
              <a:buClr>
                <a:schemeClr val="accent1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54994-38BD-EA48-95B9-EDE63B92B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740" y="636200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44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1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photo with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83A0EC-D117-3A44-A056-CF7521187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864" y="1773021"/>
            <a:ext cx="3938587" cy="393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C2CEEFA-DEDA-3C4E-B209-94546CDD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7569" y="1773021"/>
            <a:ext cx="6013537" cy="3938587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800"/>
            </a:lvl1pPr>
            <a:lvl2pPr>
              <a:buClr>
                <a:srgbClr val="FBB031"/>
              </a:buClr>
              <a:defRPr sz="2400"/>
            </a:lvl2pPr>
            <a:lvl3pPr>
              <a:buClr>
                <a:srgbClr val="8B857B"/>
              </a:buClr>
              <a:defRPr sz="2000"/>
            </a:lvl3pPr>
            <a:lvl4pPr>
              <a:buClr>
                <a:schemeClr val="accent3"/>
              </a:buClr>
              <a:defRPr sz="1800"/>
            </a:lvl4pPr>
            <a:lvl5pPr>
              <a:buClr>
                <a:schemeClr val="accent1"/>
              </a:buCl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17A63FE-DB6D-1241-BC57-CEC263957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3841"/>
            <a:ext cx="10515600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D717515-6E81-0242-9075-57E188FF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740" y="636200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73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photo with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683A0EC-D117-3A44-A056-CF7521187A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864" y="1655241"/>
            <a:ext cx="3982602" cy="22227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C2CEEFA-DEDA-3C4E-B209-94546CDD8B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864" y="4202482"/>
            <a:ext cx="3995802" cy="183506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rgbClr val="FBB031"/>
              </a:buClr>
              <a:defRPr sz="1800"/>
            </a:lvl2pPr>
            <a:lvl3pPr>
              <a:buClr>
                <a:srgbClr val="8B857B"/>
              </a:buClr>
              <a:defRPr sz="1600"/>
            </a:lvl3pPr>
            <a:lvl4pPr>
              <a:buClr>
                <a:schemeClr val="accent3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17A63FE-DB6D-1241-BC57-CEC263957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628" y="43841"/>
            <a:ext cx="10515600" cy="1033398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D717515-6E81-0242-9075-57E188FF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55740" y="636200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000"/>
            </a:lvl1pPr>
          </a:lstStyle>
          <a:p>
            <a:fld id="{5C35FCF4-C3EF-BD43-82E0-05BC237DAD2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873EC9B2-3D79-EB42-BD2D-94A59CE5C32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40719" y="1655241"/>
            <a:ext cx="3982602" cy="22227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1D7853A-8D09-4041-8FD1-E58DBA8A7F0F}"/>
              </a:ext>
            </a:extLst>
          </p:cNvPr>
          <p:cNvCxnSpPr/>
          <p:nvPr userDrawn="1"/>
        </p:nvCxnSpPr>
        <p:spPr>
          <a:xfrm>
            <a:off x="6096000" y="1551313"/>
            <a:ext cx="0" cy="465342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EF50DEA-27DF-7C4E-AD5F-60F66ED518A4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240719" y="4202482"/>
            <a:ext cx="3995802" cy="1835063"/>
          </a:xfrm>
          <a:prstGeom prst="rect">
            <a:avLst/>
          </a:prstGeom>
        </p:spPr>
        <p:txBody>
          <a:bodyPr/>
          <a:lstStyle>
            <a:lvl1pPr>
              <a:buClr>
                <a:schemeClr val="accent1"/>
              </a:buClr>
              <a:defRPr sz="2000"/>
            </a:lvl1pPr>
            <a:lvl2pPr>
              <a:buClr>
                <a:srgbClr val="FBB031"/>
              </a:buClr>
              <a:defRPr sz="1800"/>
            </a:lvl2pPr>
            <a:lvl3pPr>
              <a:buClr>
                <a:srgbClr val="8B857B"/>
              </a:buClr>
              <a:defRPr sz="1600"/>
            </a:lvl3pPr>
            <a:lvl4pPr>
              <a:buClr>
                <a:schemeClr val="accent3"/>
              </a:buClr>
              <a:defRPr sz="1400"/>
            </a:lvl4pPr>
            <a:lvl5pPr>
              <a:buClr>
                <a:schemeClr val="accent1"/>
              </a:buCl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3883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016D1F-0C29-D446-876E-DD6C096D73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95375" y="582460"/>
            <a:ext cx="8317935" cy="5668028"/>
          </a:xfrm>
          <a:prstGeom prst="rect">
            <a:avLst/>
          </a:prstGeom>
        </p:spPr>
        <p:txBody>
          <a:bodyPr anchor="ctr" anchorCtr="0"/>
          <a:lstStyle>
            <a:lvl1pPr marL="0" indent="0">
              <a:lnSpc>
                <a:spcPts val="6200"/>
              </a:lnSpc>
              <a:spcBef>
                <a:spcPts val="0"/>
              </a:spcBef>
              <a:buNone/>
              <a:defRPr sz="60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This slide is for one big, bold statement. Bullet points can’t compete! </a:t>
            </a:r>
          </a:p>
        </p:txBody>
      </p:sp>
    </p:spTree>
    <p:extLst>
      <p:ext uri="{BB962C8B-B14F-4D97-AF65-F5344CB8AC3E}">
        <p14:creationId xmlns:p14="http://schemas.microsoft.com/office/powerpoint/2010/main" val="3997480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ding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78C2-47AD-C340-9456-D9F9B3D300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7178" y="720246"/>
            <a:ext cx="9144000" cy="234504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ts val="3800"/>
              </a:lnSpc>
              <a:defRPr sz="36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Thank you for attending! </a:t>
            </a:r>
            <a:br>
              <a:rPr lang="en-US" dirty="0"/>
            </a:br>
            <a:r>
              <a:rPr lang="en-US" dirty="0"/>
              <a:t>and/or other concluding message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6038AA-9B5A-234E-B6E1-FE9722AB065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7178" y="3080490"/>
            <a:ext cx="9144000" cy="106562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2600"/>
              </a:lnSpc>
              <a:spcBef>
                <a:spcPts val="0"/>
              </a:spcBef>
              <a:buNone/>
              <a:defRPr sz="2400" b="1">
                <a:solidFill>
                  <a:srgbClr val="FFCD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For more information go to </a:t>
            </a:r>
            <a:r>
              <a:rPr lang="en-US" dirty="0" err="1"/>
              <a:t>ucalgary.ca</a:t>
            </a:r>
            <a:r>
              <a:rPr lang="en-US" dirty="0"/>
              <a:t>/</a:t>
            </a:r>
            <a:r>
              <a:rPr lang="en-US" dirty="0" err="1"/>
              <a:t>webaddress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3FD472B-32E4-8A46-90E5-97757DC24E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178" y="4158641"/>
            <a:ext cx="6586603" cy="186370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Presenter’s Name</a:t>
            </a:r>
            <a:br>
              <a:rPr lang="en-US" dirty="0"/>
            </a:br>
            <a:r>
              <a:rPr lang="en-US" dirty="0" err="1"/>
              <a:t>presentersemail@ucalgary.ca</a:t>
            </a:r>
            <a:br>
              <a:rPr lang="en-US" dirty="0"/>
            </a:br>
            <a:r>
              <a:rPr lang="en-US" dirty="0"/>
              <a:t>Phone number / Twitter handle / additional contact info</a:t>
            </a:r>
          </a:p>
        </p:txBody>
      </p:sp>
    </p:spTree>
    <p:extLst>
      <p:ext uri="{BB962C8B-B14F-4D97-AF65-F5344CB8AC3E}">
        <p14:creationId xmlns:p14="http://schemas.microsoft.com/office/powerpoint/2010/main" val="1795914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A06F13-95F8-95A3-14B2-E0A5DE23774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422900" y="6642100"/>
            <a:ext cx="13747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ENMAX: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96983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  <p:sldLayoutId id="2147483654" r:id="rId5"/>
    <p:sldLayoutId id="2147483657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rbes.com/councils/forbesbusinesscouncil/2022/12/12/customer-retention-versus-customer-acquisition/" TargetMode="External"/><Relationship Id="rId2" Type="http://schemas.openxmlformats.org/officeDocument/2006/relationships/hyperlink" Target="https://doi.org/10.34740/KAGGLE/DSV/8360350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EA485-1CE4-D943-BF73-46F1F53E1F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Predicting Customer Churn in Telecommunications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24C84-A742-DD4F-A936-BBDA5C8BB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Angela Li</a:t>
            </a:r>
          </a:p>
          <a:p>
            <a:r>
              <a:rPr lang="en-US" dirty="0"/>
              <a:t>Franco Doi</a:t>
            </a:r>
          </a:p>
          <a:p>
            <a:r>
              <a:rPr lang="en-US" dirty="0"/>
              <a:t>Gautham Nagaraj</a:t>
            </a:r>
          </a:p>
          <a:p>
            <a:r>
              <a:rPr lang="en-US" dirty="0"/>
              <a:t>Joao </a:t>
            </a:r>
            <a:r>
              <a:rPr lang="en-US" dirty="0" err="1"/>
              <a:t>Targino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37332F-F808-E64C-8515-C367CB073A2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/>
              <a:t>August 11</a:t>
            </a:r>
            <a:r>
              <a:rPr lang="en-US" baseline="30000" dirty="0"/>
              <a:t>th</a:t>
            </a:r>
            <a:r>
              <a:rPr lang="en-US" dirty="0"/>
              <a:t> , 2025</a:t>
            </a:r>
          </a:p>
          <a:p>
            <a:r>
              <a:rPr lang="en-US" dirty="0"/>
              <a:t>Data 607 – Summer 2025</a:t>
            </a:r>
          </a:p>
        </p:txBody>
      </p:sp>
    </p:spTree>
    <p:extLst>
      <p:ext uri="{BB962C8B-B14F-4D97-AF65-F5344CB8AC3E}">
        <p14:creationId xmlns:p14="http://schemas.microsoft.com/office/powerpoint/2010/main" val="2374729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7AE7-8AD6-3099-07E3-2C38F9975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4FCFE-292A-5085-9C64-C81B82305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254D0-5F11-BDB8-5115-96572319F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2362184"/>
            <a:ext cx="11172172" cy="2849896"/>
          </a:xfrm>
        </p:spPr>
        <p:txBody>
          <a:bodyPr/>
          <a:lstStyle/>
          <a:p>
            <a:pPr algn="just"/>
            <a:r>
              <a:rPr lang="en-US" sz="1800" dirty="0"/>
              <a:t>Customer Acquisition plays a </a:t>
            </a:r>
            <a:r>
              <a:rPr lang="en-US" sz="1800" b="1" dirty="0"/>
              <a:t>major role </a:t>
            </a:r>
            <a:r>
              <a:rPr lang="en-US" sz="1800" dirty="0"/>
              <a:t>in running a business.</a:t>
            </a:r>
          </a:p>
          <a:p>
            <a:pPr algn="just">
              <a:spcAft>
                <a:spcPts val="700"/>
              </a:spcAft>
            </a:pPr>
            <a:r>
              <a:rPr lang="en-US" sz="1800" dirty="0"/>
              <a:t>Acquiring new customers is </a:t>
            </a:r>
            <a:r>
              <a:rPr lang="en-US" sz="1800" b="1" dirty="0"/>
              <a:t>always </a:t>
            </a:r>
            <a:r>
              <a:rPr lang="en-US" sz="1800" dirty="0"/>
              <a:t>more expensive than maintaining your existing clients. The cost to acquire a new customer can be 5 to 7 times higher than the retention cost.</a:t>
            </a:r>
          </a:p>
          <a:p>
            <a:pPr algn="just">
              <a:spcAft>
                <a:spcPts val="700"/>
              </a:spcAft>
            </a:pPr>
            <a:r>
              <a:rPr lang="en-US" sz="1800" b="1" dirty="0"/>
              <a:t>Modelling customer behavior </a:t>
            </a:r>
            <a:r>
              <a:rPr lang="en-US" sz="1800" dirty="0"/>
              <a:t>is difficult as there are intrinsic variables that are unique for each person.</a:t>
            </a:r>
          </a:p>
          <a:p>
            <a:pPr algn="just"/>
            <a:r>
              <a:rPr lang="en-US" sz="1800" dirty="0"/>
              <a:t>Our project intends to </a:t>
            </a:r>
            <a:r>
              <a:rPr lang="en-US" sz="1800" b="1" dirty="0"/>
              <a:t>help companies </a:t>
            </a:r>
            <a:r>
              <a:rPr lang="en-US" sz="1800" dirty="0"/>
              <a:t>– by comparing different models – </a:t>
            </a:r>
            <a:r>
              <a:rPr lang="en-US" sz="1800" b="1" dirty="0"/>
              <a:t>make smarter business decisions.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9A199-7FD2-219E-599D-8E031E1BF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422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6F982-B705-4495-43AC-51B299EC4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66B3A-64AC-AB4C-E6E4-39750D99D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B7C9-8917-3D5A-C905-80A67556B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2362184"/>
            <a:ext cx="10515600" cy="3154696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dirty="0"/>
              <a:t>The goal of this project is to </a:t>
            </a:r>
            <a:r>
              <a:rPr lang="en-US" sz="1800" b="1" dirty="0"/>
              <a:t>compare data-driven solutions to empower companies with insights to understand their customer behavior and prevent future cancellations.</a:t>
            </a:r>
            <a:endParaRPr lang="en-US" sz="1800" dirty="0"/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r>
              <a:rPr lang="en-US" sz="1800" dirty="0"/>
              <a:t>To achieve this, we will explore topics such as:</a:t>
            </a:r>
          </a:p>
          <a:p>
            <a:pPr marL="342900" indent="-342900" algn="just">
              <a:spcAft>
                <a:spcPts val="700"/>
              </a:spcAft>
              <a:buAutoNum type="arabicPeriod"/>
            </a:pPr>
            <a:r>
              <a:rPr lang="en-US" sz="1800" b="1" dirty="0"/>
              <a:t>Key Variables</a:t>
            </a:r>
            <a:r>
              <a:rPr lang="en-US" sz="1800" dirty="0"/>
              <a:t>: what factors influence customer churn?</a:t>
            </a:r>
          </a:p>
          <a:p>
            <a:pPr marL="342900" indent="-342900" algn="just">
              <a:spcAft>
                <a:spcPts val="700"/>
              </a:spcAft>
              <a:buAutoNum type="arabicPeriod"/>
            </a:pPr>
            <a:r>
              <a:rPr lang="en-US" sz="1800" b="1" dirty="0"/>
              <a:t>Errors: </a:t>
            </a:r>
            <a:r>
              <a:rPr lang="en-US" sz="1800" dirty="0"/>
              <a:t>what are the types of errors that we can incur and how to mitigate them?</a:t>
            </a:r>
          </a:p>
          <a:p>
            <a:pPr marL="342900" indent="-342900" algn="just">
              <a:spcAft>
                <a:spcPts val="700"/>
              </a:spcAft>
              <a:buFont typeface="Arial" panose="020B0604020202020204" pitchFamily="34" charset="0"/>
              <a:buAutoNum type="arabicPeriod"/>
            </a:pPr>
            <a:r>
              <a:rPr lang="en-US" sz="1800" b="1" dirty="0"/>
              <a:t>Statistical Techniques: </a:t>
            </a:r>
            <a:r>
              <a:rPr lang="en-US" sz="1800" dirty="0"/>
              <a:t>is there a clear winner between the models for this specific dataset?</a:t>
            </a:r>
          </a:p>
          <a:p>
            <a:pPr marL="342900" indent="-342900" algn="just">
              <a:spcAft>
                <a:spcPts val="700"/>
              </a:spcAft>
              <a:buAutoNum type="arabicPeriod"/>
            </a:pPr>
            <a:r>
              <a:rPr lang="en-US" sz="1800" b="1" dirty="0"/>
              <a:t>Predictive Accuracy: </a:t>
            </a:r>
            <a:r>
              <a:rPr lang="en-US" sz="1800" dirty="0"/>
              <a:t>How well can we predict customer’s behavior?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F2549-A7D2-2442-52AA-5CAFF9B51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247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8C507-1F3E-3118-65E7-FD8A9A771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953F2-5AEF-9C50-E854-B3A8B3D0F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A9833-1095-6ADB-05EA-DBB8A3882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1537526"/>
            <a:ext cx="11134072" cy="4351338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The dataset includes 7,043 registries of customers, split and categorized into 50 features - providing both categorical and numerical data. The data was packed and published on Kaggle.</a:t>
            </a:r>
          </a:p>
          <a:p>
            <a:endParaRPr lang="en-US" sz="2000" b="1" dirty="0"/>
          </a:p>
          <a:p>
            <a:r>
              <a:rPr lang="en-US" sz="2000" b="1" dirty="0"/>
              <a:t>Key Aspects:</a:t>
            </a:r>
            <a:endParaRPr lang="en-CA" sz="2000" b="1" dirty="0"/>
          </a:p>
          <a:p>
            <a:pPr lvl="1" algn="just">
              <a:spcAft>
                <a:spcPts val="700"/>
              </a:spcAft>
            </a:pPr>
            <a:r>
              <a:rPr lang="en-US" sz="1600" b="1" dirty="0"/>
              <a:t>Demographic</a:t>
            </a:r>
            <a:r>
              <a:rPr lang="en-US" sz="1600" dirty="0"/>
              <a:t>: Gender, Age, Marriage status, Under 30/Senior Citizen.</a:t>
            </a:r>
          </a:p>
          <a:p>
            <a:pPr lvl="1" algn="just">
              <a:spcAft>
                <a:spcPts val="700"/>
              </a:spcAft>
            </a:pPr>
            <a:r>
              <a:rPr lang="en-US" sz="1600" b="1" dirty="0"/>
              <a:t>Behavior Aspects</a:t>
            </a:r>
            <a:r>
              <a:rPr lang="en-US" sz="1600" dirty="0"/>
              <a:t>: Referrals, Tenure, Contract type (short/long), Payment Type</a:t>
            </a:r>
          </a:p>
          <a:p>
            <a:pPr lvl="1" algn="just">
              <a:spcAft>
                <a:spcPts val="700"/>
              </a:spcAft>
            </a:pPr>
            <a:r>
              <a:rPr lang="en-US" sz="1600" b="1" dirty="0"/>
              <a:t>Financial factors</a:t>
            </a:r>
            <a:r>
              <a:rPr lang="en-US" sz="1600" dirty="0"/>
              <a:t>: Total Revenue, CLTV, Monthly Charges, Products included.</a:t>
            </a:r>
          </a:p>
          <a:p>
            <a:pPr lvl="1" algn="just">
              <a:spcAft>
                <a:spcPts val="700"/>
              </a:spcAft>
            </a:pPr>
            <a:r>
              <a:rPr lang="en-US" sz="1600" b="1" dirty="0"/>
              <a:t>Satisfaction Score</a:t>
            </a:r>
          </a:p>
          <a:p>
            <a:pPr algn="just">
              <a:spcAft>
                <a:spcPts val="700"/>
              </a:spcAft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4236F-F417-54C0-E6C5-F5F9FC58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CD0AA8-3BFB-0BD4-0C46-BC0E7EB9AB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400479"/>
              </p:ext>
            </p:extLst>
          </p:nvPr>
        </p:nvGraphicFramePr>
        <p:xfrm>
          <a:off x="7358381" y="4783573"/>
          <a:ext cx="314197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3533">
                  <a:extLst>
                    <a:ext uri="{9D8B030D-6E8A-4147-A177-3AD203B41FA5}">
                      <a16:colId xmlns:a16="http://schemas.microsoft.com/office/drawing/2014/main" val="1498074285"/>
                    </a:ext>
                  </a:extLst>
                </a:gridCol>
                <a:gridCol w="714183">
                  <a:extLst>
                    <a:ext uri="{9D8B030D-6E8A-4147-A177-3AD203B41FA5}">
                      <a16:colId xmlns:a16="http://schemas.microsoft.com/office/drawing/2014/main" val="3596797030"/>
                    </a:ext>
                  </a:extLst>
                </a:gridCol>
                <a:gridCol w="804262">
                  <a:extLst>
                    <a:ext uri="{9D8B030D-6E8A-4147-A177-3AD203B41FA5}">
                      <a16:colId xmlns:a16="http://schemas.microsoft.com/office/drawing/2014/main" val="1747082187"/>
                    </a:ext>
                  </a:extLst>
                </a:gridCol>
              </a:tblGrid>
              <a:tr h="206184">
                <a:tc>
                  <a:txBody>
                    <a:bodyPr/>
                    <a:lstStyle/>
                    <a:p>
                      <a:r>
                        <a:rPr lang="en-US" sz="1400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6638645"/>
                  </a:ext>
                </a:extLst>
              </a:tr>
              <a:tr h="206184">
                <a:tc>
                  <a:txBody>
                    <a:bodyPr/>
                    <a:lstStyle/>
                    <a:p>
                      <a:r>
                        <a:rPr lang="en-US" sz="1400" dirty="0"/>
                        <a:t>Churned = 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1,869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26.5%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3310567"/>
                  </a:ext>
                </a:extLst>
              </a:tr>
              <a:tr h="206184">
                <a:tc>
                  <a:txBody>
                    <a:bodyPr/>
                    <a:lstStyle/>
                    <a:p>
                      <a:r>
                        <a:rPr lang="en-US" sz="1400" dirty="0"/>
                        <a:t>Churned =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5,174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73.5%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3882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3FE7F15-8713-1092-704A-2619A1DA47CC}"/>
              </a:ext>
            </a:extLst>
          </p:cNvPr>
          <p:cNvSpPr txBox="1"/>
          <p:nvPr/>
        </p:nvSpPr>
        <p:spPr>
          <a:xfrm>
            <a:off x="562628" y="4770995"/>
            <a:ext cx="62648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/>
              <a:t>During the modelling phase of this project, an </a:t>
            </a:r>
            <a:r>
              <a:rPr lang="en-US" b="1" dirty="0"/>
              <a:t>imbalance on the categories </a:t>
            </a:r>
            <a:r>
              <a:rPr lang="en-US" dirty="0"/>
              <a:t>was discovered, which was countered by using 10-fold Stratified Cross-Validation.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036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F804C-6560-208D-C474-7731A61EB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22C9C-00DC-ED3D-1040-2AE51A170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and Wrangling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43F18-24D0-0119-7A69-1DA3E6D4D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51522F6-4B98-59A5-ED41-1893B5F42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" y="1538288"/>
            <a:ext cx="10515600" cy="4351337"/>
          </a:xfrm>
        </p:spPr>
        <p:txBody>
          <a:bodyPr/>
          <a:lstStyle/>
          <a:p>
            <a:pPr algn="just">
              <a:spcAft>
                <a:spcPts val="700"/>
              </a:spcAft>
            </a:pPr>
            <a:r>
              <a:rPr lang="en-US" sz="2000" dirty="0"/>
              <a:t>As discussed before, the dataset contains 50 predictors, but some of them had to be excluded before running the sampling and splitting into train and test.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18A0A2-DAFC-87C5-0F94-79D36CF5CB8B}"/>
              </a:ext>
            </a:extLst>
          </p:cNvPr>
          <p:cNvSpPr txBox="1"/>
          <p:nvPr/>
        </p:nvSpPr>
        <p:spPr>
          <a:xfrm>
            <a:off x="1278452" y="2261145"/>
            <a:ext cx="29213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Customer Identifier </a:t>
            </a:r>
            <a:r>
              <a:rPr lang="en-US" sz="2000" dirty="0"/>
              <a:t>(one value per customer)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EA21DC-65D9-5BBE-796D-67000F483601}"/>
              </a:ext>
            </a:extLst>
          </p:cNvPr>
          <p:cNvSpPr/>
          <p:nvPr/>
        </p:nvSpPr>
        <p:spPr>
          <a:xfrm>
            <a:off x="1695369" y="3049663"/>
            <a:ext cx="2087506" cy="3606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Customer ID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3A21052-5379-1198-12F5-CAA95B7D1B1C}"/>
              </a:ext>
            </a:extLst>
          </p:cNvPr>
          <p:cNvSpPr/>
          <p:nvPr/>
        </p:nvSpPr>
        <p:spPr>
          <a:xfrm>
            <a:off x="1695369" y="3559627"/>
            <a:ext cx="2087506" cy="3606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Latitude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2CF1EE-8E84-F5A1-A870-981A4E5BC5E4}"/>
              </a:ext>
            </a:extLst>
          </p:cNvPr>
          <p:cNvSpPr/>
          <p:nvPr/>
        </p:nvSpPr>
        <p:spPr>
          <a:xfrm>
            <a:off x="1695369" y="4069591"/>
            <a:ext cx="2087506" cy="3606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Longitude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6B0CB2-5C5B-E47F-E47D-D45528D7AC65}"/>
              </a:ext>
            </a:extLst>
          </p:cNvPr>
          <p:cNvSpPr/>
          <p:nvPr/>
        </p:nvSpPr>
        <p:spPr>
          <a:xfrm>
            <a:off x="1695369" y="4579553"/>
            <a:ext cx="2087506" cy="3606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Population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B1A1F1-C0B4-6A3B-BABF-C1056EDF560D}"/>
              </a:ext>
            </a:extLst>
          </p:cNvPr>
          <p:cNvSpPr txBox="1"/>
          <p:nvPr/>
        </p:nvSpPr>
        <p:spPr>
          <a:xfrm>
            <a:off x="4436990" y="2261145"/>
            <a:ext cx="26191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Constant Value </a:t>
            </a:r>
            <a:r>
              <a:rPr lang="en-US" sz="2000" dirty="0"/>
              <a:t>(one value for all customers)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663C07-24E7-7818-252C-D3B6D3FBCC43}"/>
              </a:ext>
            </a:extLst>
          </p:cNvPr>
          <p:cNvSpPr/>
          <p:nvPr/>
        </p:nvSpPr>
        <p:spPr>
          <a:xfrm>
            <a:off x="4702802" y="3044469"/>
            <a:ext cx="2087506" cy="3606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Country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3A165A-DAD0-A777-7F8D-E7EC21DA4CB0}"/>
              </a:ext>
            </a:extLst>
          </p:cNvPr>
          <p:cNvSpPr/>
          <p:nvPr/>
        </p:nvSpPr>
        <p:spPr>
          <a:xfrm>
            <a:off x="4702802" y="3558203"/>
            <a:ext cx="2087506" cy="3606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86D435-0016-A472-FB52-59F231E325CA}"/>
              </a:ext>
            </a:extLst>
          </p:cNvPr>
          <p:cNvSpPr/>
          <p:nvPr/>
        </p:nvSpPr>
        <p:spPr>
          <a:xfrm>
            <a:off x="4702802" y="4069591"/>
            <a:ext cx="2087506" cy="36062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Quarter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A8137A-AD0F-517B-610D-904B2B75E5E3}"/>
              </a:ext>
            </a:extLst>
          </p:cNvPr>
          <p:cNvSpPr txBox="1"/>
          <p:nvPr/>
        </p:nvSpPr>
        <p:spPr>
          <a:xfrm>
            <a:off x="7786708" y="2261145"/>
            <a:ext cx="2039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Directly Related to Churn</a:t>
            </a:r>
            <a:endParaRPr lang="en-US" sz="20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5F568C-AD26-74CD-40AE-A3845510354B}"/>
              </a:ext>
            </a:extLst>
          </p:cNvPr>
          <p:cNvSpPr/>
          <p:nvPr/>
        </p:nvSpPr>
        <p:spPr>
          <a:xfrm>
            <a:off x="7762970" y="3030358"/>
            <a:ext cx="2087506" cy="3606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Churn Reason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60EBC6-FD30-8EF0-DB1D-CBF15C9D120A}"/>
              </a:ext>
            </a:extLst>
          </p:cNvPr>
          <p:cNvSpPr/>
          <p:nvPr/>
        </p:nvSpPr>
        <p:spPr>
          <a:xfrm>
            <a:off x="7762970" y="3572081"/>
            <a:ext cx="2087506" cy="3606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Churn Category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605091-8C8F-ED08-1E08-FA39324D5C76}"/>
              </a:ext>
            </a:extLst>
          </p:cNvPr>
          <p:cNvSpPr/>
          <p:nvPr/>
        </p:nvSpPr>
        <p:spPr>
          <a:xfrm>
            <a:off x="7786708" y="4113804"/>
            <a:ext cx="2087506" cy="3606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Churn Score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EC5E4D-63FB-E0B7-1F05-6C4D342397B2}"/>
              </a:ext>
            </a:extLst>
          </p:cNvPr>
          <p:cNvSpPr/>
          <p:nvPr/>
        </p:nvSpPr>
        <p:spPr>
          <a:xfrm>
            <a:off x="7786708" y="4655527"/>
            <a:ext cx="2087506" cy="3606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Satisfaction Score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BCE6DC-5A7F-A026-2EF3-D2D7B38E1B03}"/>
              </a:ext>
            </a:extLst>
          </p:cNvPr>
          <p:cNvSpPr/>
          <p:nvPr/>
        </p:nvSpPr>
        <p:spPr>
          <a:xfrm>
            <a:off x="7789135" y="5197248"/>
            <a:ext cx="2087506" cy="3606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Customer Status</a:t>
            </a:r>
          </a:p>
        </p:txBody>
      </p:sp>
    </p:spTree>
    <p:extLst>
      <p:ext uri="{BB962C8B-B14F-4D97-AF65-F5344CB8AC3E}">
        <p14:creationId xmlns:p14="http://schemas.microsoft.com/office/powerpoint/2010/main" val="1647642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48C6D-11E1-1C65-9270-40F102681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5B4F6-8563-3CB4-19B0-7FE1A65A7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F3D17-23C9-EFC8-CEED-199280668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6219703-5315-4A5C-3BC7-4B82B6585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" y="1538288"/>
            <a:ext cx="10515600" cy="4351337"/>
          </a:xfrm>
        </p:spPr>
        <p:txBody>
          <a:bodyPr/>
          <a:lstStyle/>
          <a:p>
            <a:pPr algn="just">
              <a:spcAft>
                <a:spcPts val="700"/>
              </a:spcAft>
            </a:pPr>
            <a:r>
              <a:rPr lang="en-US" sz="2000" dirty="0"/>
              <a:t>To ensure a fair comparison between models, a few extra-steps of data preprocessing had to be done to ingest a clean data and guarantee the best possible outcome:</a:t>
            </a:r>
            <a:endParaRPr lang="en-US" dirty="0"/>
          </a:p>
          <a:p>
            <a:pPr algn="just">
              <a:spcAft>
                <a:spcPts val="700"/>
              </a:spcAft>
            </a:pPr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72F6A5D-8652-30DF-E3F9-7CA9C3D9FE28}"/>
              </a:ext>
            </a:extLst>
          </p:cNvPr>
          <p:cNvGrpSpPr/>
          <p:nvPr/>
        </p:nvGrpSpPr>
        <p:grpSpPr>
          <a:xfrm>
            <a:off x="1627340" y="2841536"/>
            <a:ext cx="8932545" cy="1943824"/>
            <a:chOff x="853440" y="3534956"/>
            <a:chExt cx="8932545" cy="194382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A62F4EF-58C2-E9D7-6B17-26B458C15B0C}"/>
                </a:ext>
              </a:extLst>
            </p:cNvPr>
            <p:cNvSpPr/>
            <p:nvPr/>
          </p:nvSpPr>
          <p:spPr>
            <a:xfrm>
              <a:off x="853440" y="3935730"/>
              <a:ext cx="4320540" cy="15430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3E58170-7F3F-C8EF-B412-7EF3D8B3340E}"/>
                </a:ext>
              </a:extLst>
            </p:cNvPr>
            <p:cNvSpPr txBox="1"/>
            <p:nvPr/>
          </p:nvSpPr>
          <p:spPr>
            <a:xfrm>
              <a:off x="1912969" y="3534956"/>
              <a:ext cx="21719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Categorical Variables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E77C886-AC91-C34B-BE37-5C18DFF0F99C}"/>
                </a:ext>
              </a:extLst>
            </p:cNvPr>
            <p:cNvSpPr/>
            <p:nvPr/>
          </p:nvSpPr>
          <p:spPr>
            <a:xfrm>
              <a:off x="5465445" y="3935730"/>
              <a:ext cx="4320540" cy="154305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4701E48-FFA2-8D90-5682-1743ACAC30B7}"/>
                </a:ext>
              </a:extLst>
            </p:cNvPr>
            <p:cNvSpPr txBox="1"/>
            <p:nvPr/>
          </p:nvSpPr>
          <p:spPr>
            <a:xfrm>
              <a:off x="6524974" y="3565436"/>
              <a:ext cx="2094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Numerical Variables</a:t>
              </a:r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B6AD95E2-AF85-4BD4-0AD5-F7B588D7AACA}"/>
                </a:ext>
              </a:extLst>
            </p:cNvPr>
            <p:cNvGrpSpPr/>
            <p:nvPr/>
          </p:nvGrpSpPr>
          <p:grpSpPr>
            <a:xfrm>
              <a:off x="6734175" y="4160639"/>
              <a:ext cx="1783080" cy="1093232"/>
              <a:chOff x="6632207" y="4026485"/>
              <a:chExt cx="1783080" cy="1093232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CDF5503-2C06-79D9-5C0F-040A81979513}"/>
                  </a:ext>
                </a:extLst>
              </p:cNvPr>
              <p:cNvSpPr/>
              <p:nvPr/>
            </p:nvSpPr>
            <p:spPr>
              <a:xfrm>
                <a:off x="6632207" y="4372957"/>
                <a:ext cx="1783080" cy="74676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Standard Scaler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57216B50-F04D-2E6E-64EB-296E4CD30E37}"/>
                  </a:ext>
                </a:extLst>
              </p:cNvPr>
              <p:cNvSpPr txBox="1"/>
              <p:nvPr/>
            </p:nvSpPr>
            <p:spPr>
              <a:xfrm>
                <a:off x="6632207" y="4026485"/>
                <a:ext cx="17830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/>
                  <a:t>All Models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5FF3A86-D344-5108-FC23-1641C5BE3ECC}"/>
                </a:ext>
              </a:extLst>
            </p:cNvPr>
            <p:cNvGrpSpPr/>
            <p:nvPr/>
          </p:nvGrpSpPr>
          <p:grpSpPr>
            <a:xfrm>
              <a:off x="1111838" y="4160639"/>
              <a:ext cx="3803745" cy="1093232"/>
              <a:chOff x="1229265" y="4075122"/>
              <a:chExt cx="3803745" cy="1093232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9C347812-F100-9B50-2C2D-8DE8CBDCF26D}"/>
                  </a:ext>
                </a:extLst>
              </p:cNvPr>
              <p:cNvGrpSpPr/>
              <p:nvPr/>
            </p:nvGrpSpPr>
            <p:grpSpPr>
              <a:xfrm>
                <a:off x="1229265" y="4075122"/>
                <a:ext cx="1976311" cy="1093232"/>
                <a:chOff x="6535592" y="4026485"/>
                <a:chExt cx="1976311" cy="1093232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6B2D4A4C-E107-8566-788A-6BFA2D4BC8C5}"/>
                    </a:ext>
                  </a:extLst>
                </p:cNvPr>
                <p:cNvSpPr/>
                <p:nvPr/>
              </p:nvSpPr>
              <p:spPr>
                <a:xfrm>
                  <a:off x="6632207" y="4372957"/>
                  <a:ext cx="1783080" cy="74676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“Dummy” Variables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B764D05-5062-15AA-ECE0-AC4B36A0B2E4}"/>
                    </a:ext>
                  </a:extLst>
                </p:cNvPr>
                <p:cNvSpPr txBox="1"/>
                <p:nvPr/>
              </p:nvSpPr>
              <p:spPr>
                <a:xfrm>
                  <a:off x="6535592" y="4026485"/>
                  <a:ext cx="197631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b="1" dirty="0"/>
                    <a:t>Logistic Regression</a:t>
                  </a:r>
                </a:p>
              </p:txBody>
            </p:sp>
          </p:grp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3013585C-A4B6-5D5A-3FB6-CC364935E18E}"/>
                  </a:ext>
                </a:extLst>
              </p:cNvPr>
              <p:cNvGrpSpPr/>
              <p:nvPr/>
            </p:nvGrpSpPr>
            <p:grpSpPr>
              <a:xfrm>
                <a:off x="3249930" y="4075122"/>
                <a:ext cx="1783080" cy="1093232"/>
                <a:chOff x="6632207" y="4026485"/>
                <a:chExt cx="1783080" cy="1093232"/>
              </a:xfrm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BA3FCD41-01D5-B0BE-B97C-BFBE50E2A040}"/>
                    </a:ext>
                  </a:extLst>
                </p:cNvPr>
                <p:cNvSpPr/>
                <p:nvPr/>
              </p:nvSpPr>
              <p:spPr>
                <a:xfrm>
                  <a:off x="6632207" y="4372957"/>
                  <a:ext cx="1783080" cy="74676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Encoded as “category”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A3AF8901-BE50-A7F3-538C-FB3F720E6686}"/>
                    </a:ext>
                  </a:extLst>
                </p:cNvPr>
                <p:cNvSpPr txBox="1"/>
                <p:nvPr/>
              </p:nvSpPr>
              <p:spPr>
                <a:xfrm>
                  <a:off x="6770980" y="4026485"/>
                  <a:ext cx="15055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b="1" dirty="0"/>
                    <a:t>Other Models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704202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78411-0462-40C2-E267-5EE43125A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E8A92-1A3B-B4E1-0C16-355F16767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 and Errors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5D8C6-6BFE-E865-9CE9-84BFAE2A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DDC4060-C9F7-2705-65D8-3A9188C4E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" y="1538288"/>
            <a:ext cx="10515600" cy="4351337"/>
          </a:xfrm>
        </p:spPr>
        <p:txBody>
          <a:bodyPr/>
          <a:lstStyle/>
          <a:p>
            <a:pPr algn="just">
              <a:spcAft>
                <a:spcPts val="700"/>
              </a:spcAft>
            </a:pPr>
            <a:r>
              <a:rPr lang="en-US" sz="2000" dirty="0"/>
              <a:t>In a classification problem, the leading metrics to be analyzed are the Recall Rate and F1 Score.</a:t>
            </a:r>
          </a:p>
          <a:p>
            <a:pPr lvl="1" algn="just">
              <a:spcAft>
                <a:spcPts val="700"/>
              </a:spcAft>
            </a:pPr>
            <a:r>
              <a:rPr lang="en-US" sz="1600" b="1" dirty="0"/>
              <a:t>Recall</a:t>
            </a:r>
            <a:r>
              <a:rPr lang="en-US" sz="1600" dirty="0"/>
              <a:t> is important because a False Negatives are costly, meaning that customers left without receiving any counter-offer.</a:t>
            </a:r>
          </a:p>
          <a:p>
            <a:pPr lvl="1" algn="just">
              <a:spcAft>
                <a:spcPts val="700"/>
              </a:spcAft>
            </a:pPr>
            <a:r>
              <a:rPr lang="en-US" sz="1600" b="1" dirty="0"/>
              <a:t>F1 Score </a:t>
            </a:r>
            <a:r>
              <a:rPr lang="en-US" sz="1600" dirty="0"/>
              <a:t>also considers Precision, which is penalized by the prediction of the True Positives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41A3524-1B89-EF9D-CE5B-EF0BDDE38E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692329"/>
              </p:ext>
            </p:extLst>
          </p:nvPr>
        </p:nvGraphicFramePr>
        <p:xfrm>
          <a:off x="877824" y="3311089"/>
          <a:ext cx="3502153" cy="1651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7512">
                  <a:extLst>
                    <a:ext uri="{9D8B030D-6E8A-4147-A177-3AD203B41FA5}">
                      <a16:colId xmlns:a16="http://schemas.microsoft.com/office/drawing/2014/main" val="299023504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17818949"/>
                    </a:ext>
                  </a:extLst>
                </a:gridCol>
                <a:gridCol w="1508761">
                  <a:extLst>
                    <a:ext uri="{9D8B030D-6E8A-4147-A177-3AD203B41FA5}">
                      <a16:colId xmlns:a16="http://schemas.microsoft.com/office/drawing/2014/main" val="36149708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96204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True Positive (TP)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Type I Error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69857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False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/>
                          </a:solidFill>
                        </a:rPr>
                        <a:t>Type II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True Negative (TN)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14740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FD65CAF-538A-A29C-72F7-4C6509A43C48}"/>
              </a:ext>
            </a:extLst>
          </p:cNvPr>
          <p:cNvSpPr txBox="1"/>
          <p:nvPr/>
        </p:nvSpPr>
        <p:spPr>
          <a:xfrm rot="16200000">
            <a:off x="15330" y="4122386"/>
            <a:ext cx="1094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Predicted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DFA4B6-257B-D03D-EB04-30F3128E59F0}"/>
              </a:ext>
            </a:extLst>
          </p:cNvPr>
          <p:cNvSpPr txBox="1"/>
          <p:nvPr/>
        </p:nvSpPr>
        <p:spPr>
          <a:xfrm>
            <a:off x="2477676" y="2963189"/>
            <a:ext cx="793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Actual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DB42EB-2562-2D9C-7145-ED31A07B7403}"/>
                  </a:ext>
                </a:extLst>
              </p:cNvPr>
              <p:cNvSpPr txBox="1"/>
              <p:nvPr/>
            </p:nvSpPr>
            <p:spPr>
              <a:xfrm>
                <a:off x="5638800" y="3318671"/>
                <a:ext cx="3538661" cy="4410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𝑹𝒆𝒄𝒂𝒍𝒍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𝐹𝑎𝑙𝑠𝑒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𝑁𝑒𝑔𝑎𝑡𝑖𝑣𝑒𝑠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1DB42EB-2562-2D9C-7145-ED31A07B7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3318671"/>
                <a:ext cx="3538661" cy="441083"/>
              </a:xfrm>
              <a:prstGeom prst="rect">
                <a:avLst/>
              </a:prstGeom>
              <a:blipFill>
                <a:blip r:embed="rId3"/>
                <a:stretch>
                  <a:fillRect l="-862" t="-1370" r="-1034" b="-16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65515D-3FF8-FFD6-1EA0-621514FA683D}"/>
                  </a:ext>
                </a:extLst>
              </p:cNvPr>
              <p:cNvSpPr txBox="1"/>
              <p:nvPr/>
            </p:nvSpPr>
            <p:spPr>
              <a:xfrm>
                <a:off x="5638800" y="3911684"/>
                <a:ext cx="2964338" cy="448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𝑭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𝑺𝒄𝒐𝒓𝒆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𝑅𝑒𝑐𝑎𝑙𝑙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𝑃𝑟𝑒𝑐𝑖𝑠𝑖𝑜𝑛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𝑅𝑒𝑐𝑎𝑙𝑙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365515D-3FF8-FFD6-1EA0-621514FA6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3911684"/>
                <a:ext cx="2964338" cy="448584"/>
              </a:xfrm>
              <a:prstGeom prst="rect">
                <a:avLst/>
              </a:prstGeom>
              <a:blipFill>
                <a:blip r:embed="rId4"/>
                <a:stretch>
                  <a:fillRect l="-823" t="-2740" r="-1646" b="-164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1AF40E-06D8-337E-B08E-FA01E097665E}"/>
                  </a:ext>
                </a:extLst>
              </p:cNvPr>
              <p:cNvSpPr txBox="1"/>
              <p:nvPr/>
            </p:nvSpPr>
            <p:spPr>
              <a:xfrm>
                <a:off x="5638800" y="4512199"/>
                <a:ext cx="3896131" cy="448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𝑷𝒓𝒆𝒄𝒊𝒔𝒊𝒐𝒏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𝑇𝑟𝑢𝑒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𝐹𝑎𝑙𝑠𝑒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𝑃𝑜𝑠𝑖𝑡𝑖𝑣𝑒𝑠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21AF40E-06D8-337E-B08E-FA01E09766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4512199"/>
                <a:ext cx="3896131" cy="448584"/>
              </a:xfrm>
              <a:prstGeom prst="rect">
                <a:avLst/>
              </a:prstGeom>
              <a:blipFill>
                <a:blip r:embed="rId5"/>
                <a:stretch>
                  <a:fillRect l="-626" t="-2703" r="-1095"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41931A0-1F88-DA17-C723-692325516E5F}"/>
              </a:ext>
            </a:extLst>
          </p:cNvPr>
          <p:cNvSpPr txBox="1"/>
          <p:nvPr/>
        </p:nvSpPr>
        <p:spPr>
          <a:xfrm>
            <a:off x="877824" y="5382317"/>
            <a:ext cx="96149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/>
              <a:t>Type I Error: </a:t>
            </a:r>
            <a:r>
              <a:rPr lang="en-US" sz="1600" dirty="0"/>
              <a:t>the customer </a:t>
            </a:r>
            <a:r>
              <a:rPr lang="en-US" sz="1600" b="1" dirty="0"/>
              <a:t>was not </a:t>
            </a:r>
            <a:r>
              <a:rPr lang="en-US" sz="1600" dirty="0"/>
              <a:t>going to churn, but the company spent money in retaining (Incentives, Discounts, Coupons, etc.). Also called </a:t>
            </a:r>
            <a:r>
              <a:rPr lang="en-US" sz="1600" i="1" dirty="0"/>
              <a:t>False Positive Error.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E6776A-7DD3-9965-4058-3BD6A849C4C6}"/>
              </a:ext>
            </a:extLst>
          </p:cNvPr>
          <p:cNvSpPr txBox="1"/>
          <p:nvPr/>
        </p:nvSpPr>
        <p:spPr>
          <a:xfrm>
            <a:off x="877824" y="6028648"/>
            <a:ext cx="9432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/>
              <a:t>Type II Error: </a:t>
            </a:r>
            <a:r>
              <a:rPr lang="en-US" sz="1600" dirty="0"/>
              <a:t>the customer was going to churn, but the company didn’t try to prevent it. Also called </a:t>
            </a:r>
            <a:r>
              <a:rPr lang="en-US" sz="1600" i="1" dirty="0"/>
              <a:t>False Negative Error</a:t>
            </a:r>
          </a:p>
        </p:txBody>
      </p:sp>
    </p:spTree>
    <p:extLst>
      <p:ext uri="{BB962C8B-B14F-4D97-AF65-F5344CB8AC3E}">
        <p14:creationId xmlns:p14="http://schemas.microsoft.com/office/powerpoint/2010/main" val="727858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50437-DE62-9A61-FE88-851906175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5BD24-A1E0-7279-8366-287854D78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8F8F9-DE7C-A998-1077-45B52C98F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BAB4A34-2D7E-8FCA-4FB4-0E085FD6C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" y="1538288"/>
            <a:ext cx="10515600" cy="4351337"/>
          </a:xfrm>
        </p:spPr>
        <p:txBody>
          <a:bodyPr/>
          <a:lstStyle/>
          <a:p>
            <a:pPr algn="just">
              <a:spcAft>
                <a:spcPts val="700"/>
              </a:spcAft>
            </a:pPr>
            <a:r>
              <a:rPr lang="en-US" sz="2000" dirty="0"/>
              <a:t>For this project, 5 different classification models were evaluated, alongside with the best predictors and final metrics.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7B3636-386F-25C6-0555-804702B4062A}"/>
              </a:ext>
            </a:extLst>
          </p:cNvPr>
          <p:cNvSpPr/>
          <p:nvPr/>
        </p:nvSpPr>
        <p:spPr>
          <a:xfrm>
            <a:off x="735800" y="4105274"/>
            <a:ext cx="1413040" cy="59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</a:t>
            </a:r>
          </a:p>
          <a:p>
            <a:pPr algn="ctr"/>
            <a:r>
              <a:rPr lang="en-US" dirty="0"/>
              <a:t>Cleaning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3E234B5-F91E-3DBF-4B44-5855E304445E}"/>
              </a:ext>
            </a:extLst>
          </p:cNvPr>
          <p:cNvGrpSpPr/>
          <p:nvPr/>
        </p:nvGrpSpPr>
        <p:grpSpPr>
          <a:xfrm>
            <a:off x="5122780" y="2531160"/>
            <a:ext cx="1481620" cy="3745705"/>
            <a:chOff x="5131588" y="2537222"/>
            <a:chExt cx="1481620" cy="374570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5CA87A-E6D4-135E-422E-106A79372048}"/>
                </a:ext>
              </a:extLst>
            </p:cNvPr>
            <p:cNvSpPr/>
            <p:nvPr/>
          </p:nvSpPr>
          <p:spPr>
            <a:xfrm>
              <a:off x="5131588" y="2537222"/>
              <a:ext cx="1481620" cy="5945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Logistic Regression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E4D04C7-EDC2-46F5-1716-22C41B8093B9}"/>
                </a:ext>
              </a:extLst>
            </p:cNvPr>
            <p:cNvSpPr/>
            <p:nvPr/>
          </p:nvSpPr>
          <p:spPr>
            <a:xfrm>
              <a:off x="5131588" y="3324999"/>
              <a:ext cx="1481620" cy="5945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Decision </a:t>
              </a:r>
            </a:p>
            <a:p>
              <a:pPr algn="ctr"/>
              <a:r>
                <a:rPr lang="en-US" dirty="0"/>
                <a:t>Tree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BB8866A-5790-4653-5D5B-D55C436AB036}"/>
                </a:ext>
              </a:extLst>
            </p:cNvPr>
            <p:cNvSpPr/>
            <p:nvPr/>
          </p:nvSpPr>
          <p:spPr>
            <a:xfrm>
              <a:off x="5131588" y="4107120"/>
              <a:ext cx="1481620" cy="5945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XGBoosting</a:t>
              </a:r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97F7C1A-B638-A1AA-EDD3-E6774734DD6F}"/>
                </a:ext>
              </a:extLst>
            </p:cNvPr>
            <p:cNvSpPr/>
            <p:nvPr/>
          </p:nvSpPr>
          <p:spPr>
            <a:xfrm>
              <a:off x="5131588" y="4900553"/>
              <a:ext cx="1481620" cy="5945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Random Forest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918F46D-5A2A-5F12-6A4D-862EA622D0EC}"/>
                </a:ext>
              </a:extLst>
            </p:cNvPr>
            <p:cNvSpPr/>
            <p:nvPr/>
          </p:nvSpPr>
          <p:spPr>
            <a:xfrm>
              <a:off x="5131588" y="5688329"/>
              <a:ext cx="1481620" cy="5945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LightGBM</a:t>
              </a:r>
              <a:endParaRPr lang="en-US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B06935D-BB36-1BDB-7770-5291E39511CF}"/>
              </a:ext>
            </a:extLst>
          </p:cNvPr>
          <p:cNvGrpSpPr/>
          <p:nvPr/>
        </p:nvGrpSpPr>
        <p:grpSpPr>
          <a:xfrm>
            <a:off x="7363772" y="2979112"/>
            <a:ext cx="1481620" cy="2861925"/>
            <a:chOff x="7044207" y="2959239"/>
            <a:chExt cx="1481620" cy="286192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1A53EB4-D51B-8B17-B3F3-65F8799C972C}"/>
                </a:ext>
              </a:extLst>
            </p:cNvPr>
            <p:cNvSpPr/>
            <p:nvPr/>
          </p:nvSpPr>
          <p:spPr>
            <a:xfrm>
              <a:off x="7044207" y="2959239"/>
              <a:ext cx="1481620" cy="5945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Feature Importance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38303A1-44B6-1D7E-188D-607F87C50A4D}"/>
                </a:ext>
              </a:extLst>
            </p:cNvPr>
            <p:cNvSpPr/>
            <p:nvPr/>
          </p:nvSpPr>
          <p:spPr>
            <a:xfrm>
              <a:off x="7044207" y="3715015"/>
              <a:ext cx="1481620" cy="5945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F1 Score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4FB9C0E-8482-9BA4-8973-8A1A04FF5CC5}"/>
                </a:ext>
              </a:extLst>
            </p:cNvPr>
            <p:cNvSpPr/>
            <p:nvPr/>
          </p:nvSpPr>
          <p:spPr>
            <a:xfrm>
              <a:off x="7044207" y="4470791"/>
              <a:ext cx="1481620" cy="5945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Recall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3DA7111-7861-E66F-4F73-5A6C5AAC8B17}"/>
                </a:ext>
              </a:extLst>
            </p:cNvPr>
            <p:cNvSpPr/>
            <p:nvPr/>
          </p:nvSpPr>
          <p:spPr>
            <a:xfrm>
              <a:off x="7044207" y="5226566"/>
              <a:ext cx="1481620" cy="59459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ROC Curve</a:t>
              </a:r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D56146B2-5894-FD30-D8CA-73852A13A97C}"/>
              </a:ext>
            </a:extLst>
          </p:cNvPr>
          <p:cNvSpPr/>
          <p:nvPr/>
        </p:nvSpPr>
        <p:spPr>
          <a:xfrm>
            <a:off x="9595954" y="4097535"/>
            <a:ext cx="1481620" cy="5945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Results Analysis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13B876-C6BF-DD57-3BBA-B995B11A575B}"/>
              </a:ext>
            </a:extLst>
          </p:cNvPr>
          <p:cNvSpPr/>
          <p:nvPr/>
        </p:nvSpPr>
        <p:spPr>
          <a:xfrm>
            <a:off x="2899404" y="4103487"/>
            <a:ext cx="1413040" cy="59436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dirty="0"/>
              <a:t>Data </a:t>
            </a:r>
          </a:p>
          <a:p>
            <a:pPr algn="ctr"/>
            <a:r>
              <a:rPr lang="en-US" dirty="0"/>
              <a:t>Preprocessing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477B206-EA08-2502-A308-B6EC551F8731}"/>
              </a:ext>
            </a:extLst>
          </p:cNvPr>
          <p:cNvSpPr/>
          <p:nvPr/>
        </p:nvSpPr>
        <p:spPr>
          <a:xfrm>
            <a:off x="5013960" y="2446020"/>
            <a:ext cx="1699260" cy="3915984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A060D2B3-648A-BDBD-239C-0AC1435FDF40}"/>
              </a:ext>
            </a:extLst>
          </p:cNvPr>
          <p:cNvCxnSpPr>
            <a:stCxn id="10" idx="3"/>
            <a:endCxn id="30" idx="1"/>
          </p:cNvCxnSpPr>
          <p:nvPr/>
        </p:nvCxnSpPr>
        <p:spPr>
          <a:xfrm flipV="1">
            <a:off x="2148840" y="4400667"/>
            <a:ext cx="750564" cy="178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D51884C-5502-5E13-04B6-ECD85801B773}"/>
              </a:ext>
            </a:extLst>
          </p:cNvPr>
          <p:cNvSpPr/>
          <p:nvPr/>
        </p:nvSpPr>
        <p:spPr>
          <a:xfrm>
            <a:off x="7272337" y="2902222"/>
            <a:ext cx="1699260" cy="299502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28A22A1-3242-7996-3107-CD92754BD836}"/>
              </a:ext>
            </a:extLst>
          </p:cNvPr>
          <p:cNvSpPr txBox="1"/>
          <p:nvPr/>
        </p:nvSpPr>
        <p:spPr>
          <a:xfrm>
            <a:off x="5493136" y="2123965"/>
            <a:ext cx="7409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Models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53E2F4-D6EE-438D-2935-DCAD131FDE1F}"/>
              </a:ext>
            </a:extLst>
          </p:cNvPr>
          <p:cNvSpPr txBox="1"/>
          <p:nvPr/>
        </p:nvSpPr>
        <p:spPr>
          <a:xfrm>
            <a:off x="7601527" y="2399684"/>
            <a:ext cx="10061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/>
              <a:t>Evaluation </a:t>
            </a:r>
          </a:p>
          <a:p>
            <a:pPr algn="ctr"/>
            <a:r>
              <a:rPr lang="en-US" sz="1400" b="1" dirty="0"/>
              <a:t>Metrics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4FC4C84-BC8D-82D8-E425-E5BAD2D4506A}"/>
              </a:ext>
            </a:extLst>
          </p:cNvPr>
          <p:cNvCxnSpPr>
            <a:cxnSpLocks/>
            <a:stCxn id="30" idx="3"/>
            <a:endCxn id="43" idx="1"/>
          </p:cNvCxnSpPr>
          <p:nvPr/>
        </p:nvCxnSpPr>
        <p:spPr>
          <a:xfrm>
            <a:off x="4312444" y="4400667"/>
            <a:ext cx="701516" cy="3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53A8EA7-3A91-CC33-61D6-7A9B2DBDBE9C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 flipV="1">
            <a:off x="6713220" y="4399734"/>
            <a:ext cx="559117" cy="4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5B20AF5-E40B-B817-2364-0073F2BF1E78}"/>
              </a:ext>
            </a:extLst>
          </p:cNvPr>
          <p:cNvCxnSpPr>
            <a:stCxn id="44" idx="3"/>
            <a:endCxn id="25" idx="1"/>
          </p:cNvCxnSpPr>
          <p:nvPr/>
        </p:nvCxnSpPr>
        <p:spPr>
          <a:xfrm flipV="1">
            <a:off x="8971597" y="4394834"/>
            <a:ext cx="624357" cy="4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2777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4B269-3B52-F602-163E-969471B9C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B13B1-3576-50FF-33D3-EB526AC80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C1E61-E19B-8914-F5DD-C2825C194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04DF41-BADF-CF36-190D-E777AC8A27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223010"/>
              </p:ext>
            </p:extLst>
          </p:nvPr>
        </p:nvGraphicFramePr>
        <p:xfrm>
          <a:off x="1756427" y="1717886"/>
          <a:ext cx="8128002" cy="3776134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3433143507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81408194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8807413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93061018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63136495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484566307"/>
                    </a:ext>
                  </a:extLst>
                </a:gridCol>
              </a:tblGrid>
              <a:tr h="73198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Recall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F1 Score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AUC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Error Type I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Error Type II (%)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132986"/>
                  </a:ext>
                </a:extLst>
              </a:tr>
              <a:tr h="73198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69.4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27.9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7954823"/>
                  </a:ext>
                </a:extLst>
              </a:tr>
              <a:tr h="73198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59.4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58.9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41.8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5799265"/>
                  </a:ext>
                </a:extLst>
              </a:tr>
              <a:tr h="424089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XGBoost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67.5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28.1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70440"/>
                  </a:ext>
                </a:extLst>
              </a:tr>
              <a:tr h="731989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61.2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38.2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1841084"/>
                  </a:ext>
                </a:extLst>
              </a:tr>
              <a:tr h="424089">
                <a:tc>
                  <a:txBody>
                    <a:bodyPr/>
                    <a:lstStyle/>
                    <a:p>
                      <a:pPr algn="l"/>
                      <a:r>
                        <a:rPr lang="en-US" dirty="0" err="1"/>
                        <a:t>LightGBM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2381979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487671C5-751B-58FA-083D-F17B1CB32713}"/>
              </a:ext>
            </a:extLst>
          </p:cNvPr>
          <p:cNvSpPr/>
          <p:nvPr/>
        </p:nvSpPr>
        <p:spPr>
          <a:xfrm>
            <a:off x="1627340" y="5006340"/>
            <a:ext cx="8484400" cy="58674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2734D7-95EE-2068-ECAA-72C7C59DF200}"/>
              </a:ext>
            </a:extLst>
          </p:cNvPr>
          <p:cNvSpPr txBox="1"/>
          <p:nvPr/>
        </p:nvSpPr>
        <p:spPr>
          <a:xfrm>
            <a:off x="416752" y="4970669"/>
            <a:ext cx="12105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</a:rPr>
              <a:t>Champion </a:t>
            </a:r>
          </a:p>
          <a:p>
            <a:pPr algn="ctr"/>
            <a:r>
              <a:rPr lang="en-US" b="1" dirty="0">
                <a:solidFill>
                  <a:schemeClr val="accent1"/>
                </a:solidFill>
              </a:rPr>
              <a:t>Model</a:t>
            </a:r>
          </a:p>
        </p:txBody>
      </p:sp>
    </p:spTree>
    <p:extLst>
      <p:ext uri="{BB962C8B-B14F-4D97-AF65-F5344CB8AC3E}">
        <p14:creationId xmlns:p14="http://schemas.microsoft.com/office/powerpoint/2010/main" val="3795395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99264-077F-DB0F-A374-C7932A8A4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2FDEA-A6DE-4912-8716-E68640425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LightGBM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A0904A-DD20-4844-318D-0EB990AF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DF872B-85C3-B5C5-3890-728485B97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0" y="1140873"/>
            <a:ext cx="3798570" cy="328611"/>
          </a:xfrm>
        </p:spPr>
        <p:txBody>
          <a:bodyPr/>
          <a:lstStyle/>
          <a:p>
            <a:pPr marL="0" indent="0" algn="just">
              <a:spcAft>
                <a:spcPts val="700"/>
              </a:spcAft>
              <a:buNone/>
            </a:pPr>
            <a:r>
              <a:rPr lang="en-US" sz="2000" b="1" dirty="0"/>
              <a:t>Feature Importance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6379A85-2DFB-5DC4-E4EE-9662B15B5405}"/>
              </a:ext>
            </a:extLst>
          </p:cNvPr>
          <p:cNvSpPr txBox="1">
            <a:spLocks/>
          </p:cNvSpPr>
          <p:nvPr/>
        </p:nvSpPr>
        <p:spPr>
          <a:xfrm>
            <a:off x="4888691" y="1184512"/>
            <a:ext cx="2717697" cy="3286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BB03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B857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700"/>
              </a:spcAft>
              <a:buFont typeface="Arial" panose="020B0604020202020204" pitchFamily="34" charset="0"/>
              <a:buNone/>
            </a:pPr>
            <a:r>
              <a:rPr lang="en-US" sz="2000" b="1" dirty="0"/>
              <a:t>Confusion Matrix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6AC08F7E-00F6-89AF-95AF-1DCF93738660}"/>
              </a:ext>
            </a:extLst>
          </p:cNvPr>
          <p:cNvSpPr txBox="1">
            <a:spLocks/>
          </p:cNvSpPr>
          <p:nvPr/>
        </p:nvSpPr>
        <p:spPr>
          <a:xfrm>
            <a:off x="81030" y="3896832"/>
            <a:ext cx="3798570" cy="3286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BB03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B857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700"/>
              </a:spcAft>
              <a:buFont typeface="Arial" panose="020B0604020202020204" pitchFamily="34" charset="0"/>
              <a:buNone/>
            </a:pPr>
            <a:r>
              <a:rPr lang="en-US" sz="2000" b="1" dirty="0"/>
              <a:t>ROC Curve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346A4F29-47AB-556A-F66B-A3889D9F573D}"/>
              </a:ext>
            </a:extLst>
          </p:cNvPr>
          <p:cNvSpPr txBox="1">
            <a:spLocks/>
          </p:cNvSpPr>
          <p:nvPr/>
        </p:nvSpPr>
        <p:spPr>
          <a:xfrm>
            <a:off x="8183923" y="1141658"/>
            <a:ext cx="2433932" cy="3286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BB03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B857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700"/>
              </a:spcAft>
              <a:buFont typeface="Arial" panose="020B0604020202020204" pitchFamily="34" charset="0"/>
              <a:buNone/>
            </a:pPr>
            <a:r>
              <a:rPr lang="en-US" sz="2000" b="1" dirty="0"/>
              <a:t>Evaluation Metrics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E753B4F-EF41-7571-45A6-B2DEC90A7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746381"/>
              </p:ext>
            </p:extLst>
          </p:nvPr>
        </p:nvGraphicFramePr>
        <p:xfrm>
          <a:off x="5200995" y="1812397"/>
          <a:ext cx="247153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684">
                  <a:extLst>
                    <a:ext uri="{9D8B030D-6E8A-4147-A177-3AD203B41FA5}">
                      <a16:colId xmlns:a16="http://schemas.microsoft.com/office/drawing/2014/main" val="2990235043"/>
                    </a:ext>
                  </a:extLst>
                </a:gridCol>
                <a:gridCol w="926827">
                  <a:extLst>
                    <a:ext uri="{9D8B030D-6E8A-4147-A177-3AD203B41FA5}">
                      <a16:colId xmlns:a16="http://schemas.microsoft.com/office/drawing/2014/main" val="2017818949"/>
                    </a:ext>
                  </a:extLst>
                </a:gridCol>
                <a:gridCol w="945028">
                  <a:extLst>
                    <a:ext uri="{9D8B030D-6E8A-4147-A177-3AD203B41FA5}">
                      <a16:colId xmlns:a16="http://schemas.microsoft.com/office/drawing/2014/main" val="3614970841"/>
                    </a:ext>
                  </a:extLst>
                </a:gridCol>
              </a:tblGrid>
              <a:tr h="28628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96204178"/>
                  </a:ext>
                </a:extLst>
              </a:tr>
              <a:tr h="2862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1,242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627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6985725"/>
                  </a:ext>
                </a:extLst>
              </a:tr>
              <a:tr h="2862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False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431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4,743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14740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358708F2-AC2C-B354-E52F-F63B01147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074699"/>
              </p:ext>
            </p:extLst>
          </p:nvPr>
        </p:nvGraphicFramePr>
        <p:xfrm>
          <a:off x="8232383" y="1524139"/>
          <a:ext cx="2735383" cy="1524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82307">
                  <a:extLst>
                    <a:ext uri="{9D8B030D-6E8A-4147-A177-3AD203B41FA5}">
                      <a16:colId xmlns:a16="http://schemas.microsoft.com/office/drawing/2014/main" val="1595299414"/>
                    </a:ext>
                  </a:extLst>
                </a:gridCol>
                <a:gridCol w="653076">
                  <a:extLst>
                    <a:ext uri="{9D8B030D-6E8A-4147-A177-3AD203B41FA5}">
                      <a16:colId xmlns:a16="http://schemas.microsoft.com/office/drawing/2014/main" val="2932178805"/>
                    </a:ext>
                  </a:extLst>
                </a:gridCol>
              </a:tblGrid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018622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66.5%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559187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70.1%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193292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Error Type I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34039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Error Type II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25.8%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087401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A6F6FF5-C3C0-4B47-AA6E-892F67EFDE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1821863"/>
              </p:ext>
            </p:extLst>
          </p:nvPr>
        </p:nvGraphicFramePr>
        <p:xfrm>
          <a:off x="81030" y="1182885"/>
          <a:ext cx="4608576" cy="2414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F7E3397-97E9-4CEA-5C68-B05DEC0771AA}"/>
              </a:ext>
            </a:extLst>
          </p:cNvPr>
          <p:cNvSpPr txBox="1"/>
          <p:nvPr/>
        </p:nvSpPr>
        <p:spPr>
          <a:xfrm rot="16200000">
            <a:off x="4560110" y="2234003"/>
            <a:ext cx="895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Predicted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FF46A1-ABA0-B761-C015-42F301D86604}"/>
              </a:ext>
            </a:extLst>
          </p:cNvPr>
          <p:cNvSpPr txBox="1"/>
          <p:nvPr/>
        </p:nvSpPr>
        <p:spPr>
          <a:xfrm>
            <a:off x="6406121" y="1548259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Actual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4BA5275-72EF-C7C7-CBD1-CA67C31089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89" y="4225443"/>
            <a:ext cx="3593592" cy="2413369"/>
          </a:xfrm>
          <a:prstGeom prst="rect">
            <a:avLst/>
          </a:prstGeom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751504BC-7224-454F-3CDF-19A1742475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2654630"/>
              </p:ext>
            </p:extLst>
          </p:nvPr>
        </p:nvGraphicFramePr>
        <p:xfrm>
          <a:off x="4891830" y="4225443"/>
          <a:ext cx="2735383" cy="9144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82307">
                  <a:extLst>
                    <a:ext uri="{9D8B030D-6E8A-4147-A177-3AD203B41FA5}">
                      <a16:colId xmlns:a16="http://schemas.microsoft.com/office/drawing/2014/main" val="1595299414"/>
                    </a:ext>
                  </a:extLst>
                </a:gridCol>
                <a:gridCol w="653076">
                  <a:extLst>
                    <a:ext uri="{9D8B030D-6E8A-4147-A177-3AD203B41FA5}">
                      <a16:colId xmlns:a16="http://schemas.microsoft.com/office/drawing/2014/main" val="2932178805"/>
                    </a:ext>
                  </a:extLst>
                </a:gridCol>
              </a:tblGrid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018622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 err="1"/>
                        <a:t>learning_rate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559187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 err="1"/>
                        <a:t>max_depth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193292"/>
                  </a:ext>
                </a:extLst>
              </a:tr>
            </a:tbl>
          </a:graphicData>
        </a:graphic>
      </p:graphicFrame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2742441F-DA83-2620-BB61-A2DC6C0972DB}"/>
              </a:ext>
            </a:extLst>
          </p:cNvPr>
          <p:cNvSpPr txBox="1">
            <a:spLocks/>
          </p:cNvSpPr>
          <p:nvPr/>
        </p:nvSpPr>
        <p:spPr>
          <a:xfrm>
            <a:off x="4891830" y="3688942"/>
            <a:ext cx="2433932" cy="3286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BB03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B857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700"/>
              </a:spcAft>
              <a:buFont typeface="Arial" panose="020B0604020202020204" pitchFamily="34" charset="0"/>
              <a:buNone/>
            </a:pPr>
            <a:r>
              <a:rPr lang="en-US" sz="2000" b="1" dirty="0"/>
              <a:t>Optimal Tuning</a:t>
            </a:r>
          </a:p>
        </p:txBody>
      </p:sp>
    </p:spTree>
    <p:extLst>
      <p:ext uri="{BB962C8B-B14F-4D97-AF65-F5344CB8AC3E}">
        <p14:creationId xmlns:p14="http://schemas.microsoft.com/office/powerpoint/2010/main" val="7594284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D8B60-433D-47BE-1370-6C8D9F61A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684DF-6C6B-7E72-3416-ABCF789DB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LightGBM</a:t>
            </a:r>
            <a:r>
              <a:rPr lang="en-US" dirty="0"/>
              <a:t> – Best Predictors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BAB090-3BA2-7B9C-7FEC-DD4515BF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90AA6B5-6B30-6F27-F170-6A11EF4824AA}"/>
              </a:ext>
            </a:extLst>
          </p:cNvPr>
          <p:cNvGrpSpPr/>
          <p:nvPr/>
        </p:nvGrpSpPr>
        <p:grpSpPr>
          <a:xfrm>
            <a:off x="664426" y="2112264"/>
            <a:ext cx="10863148" cy="2633472"/>
            <a:chOff x="164405" y="1949946"/>
            <a:chExt cx="10863148" cy="2633472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BD1EA12-303B-95A8-3882-E050FBEB5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4405" y="1952083"/>
              <a:ext cx="3327579" cy="2629198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DD3B6BAD-BCAD-3F74-4331-0616E4A847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68702" y="1949946"/>
              <a:ext cx="3285855" cy="2633472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7242A26-1D22-1364-FC00-05C59EB412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31275" y="1949946"/>
              <a:ext cx="3296278" cy="2633472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10B18F2D-5A38-93B7-D465-EA5CB6DD1F75}"/>
              </a:ext>
            </a:extLst>
          </p:cNvPr>
          <p:cNvSpPr txBox="1"/>
          <p:nvPr/>
        </p:nvSpPr>
        <p:spPr>
          <a:xfrm>
            <a:off x="998221" y="4823460"/>
            <a:ext cx="2948940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The median of churned customers was much higher ($74.4) against active customers ($61.3). </a:t>
            </a:r>
          </a:p>
          <a:p>
            <a:pPr algn="just"/>
            <a:r>
              <a:rPr lang="en-US" sz="1400" dirty="0"/>
              <a:t>This can be interpreted as a </a:t>
            </a:r>
            <a:r>
              <a:rPr lang="en-US" sz="1400" b="1" dirty="0"/>
              <a:t>competitor movement</a:t>
            </a:r>
            <a:r>
              <a:rPr lang="en-US" sz="1400" dirty="0"/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C654B0-7406-88A0-8DCE-1B57D93E61FB}"/>
              </a:ext>
            </a:extLst>
          </p:cNvPr>
          <p:cNvSpPr txBox="1"/>
          <p:nvPr/>
        </p:nvSpPr>
        <p:spPr>
          <a:xfrm>
            <a:off x="4703027" y="4834771"/>
            <a:ext cx="3051552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The median referral count shows a clear sign of </a:t>
            </a:r>
            <a:r>
              <a:rPr lang="en-US" sz="1400" b="1" dirty="0"/>
              <a:t>customer engagement as </a:t>
            </a:r>
            <a:r>
              <a:rPr lang="en-US" sz="1400" dirty="0"/>
              <a:t>Active Customers averaged at 2.5, while Churned group at 0.5.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60C4C4-D5C0-88EB-9B0E-F8BA5E5A6F76}"/>
              </a:ext>
            </a:extLst>
          </p:cNvPr>
          <p:cNvSpPr txBox="1"/>
          <p:nvPr/>
        </p:nvSpPr>
        <p:spPr>
          <a:xfrm>
            <a:off x="8476022" y="4846082"/>
            <a:ext cx="305155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Median Tenure is also a </a:t>
            </a:r>
            <a:r>
              <a:rPr lang="en-US" sz="1400" b="1" dirty="0"/>
              <a:t>clear sign of customer engagement</a:t>
            </a:r>
            <a:r>
              <a:rPr lang="en-US" sz="1400" dirty="0"/>
              <a:t>, and the medians are highly different – 40 months for active customers and 10 for churned.</a:t>
            </a:r>
          </a:p>
        </p:txBody>
      </p:sp>
    </p:spTree>
    <p:extLst>
      <p:ext uri="{BB962C8B-B14F-4D97-AF65-F5344CB8AC3E}">
        <p14:creationId xmlns:p14="http://schemas.microsoft.com/office/powerpoint/2010/main" val="4905872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87791-095E-A53D-B47B-17C91EA59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76FB8-294A-8539-6BD0-0FD2BA1EC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Thoughts and Recommendations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EF0E4-F204-DBD4-642C-C523BA90D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4987B-62EA-06A8-9174-B22CBC457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628" y="1537526"/>
            <a:ext cx="10515600" cy="4351338"/>
          </a:xfrm>
        </p:spPr>
        <p:txBody>
          <a:bodyPr/>
          <a:lstStyle/>
          <a:p>
            <a:pPr marL="0" indent="0">
              <a:spcBef>
                <a:spcPts val="180"/>
              </a:spcBef>
              <a:spcAft>
                <a:spcPts val="480"/>
              </a:spcAft>
              <a:buNone/>
            </a:pPr>
            <a:r>
              <a:rPr lang="en-US" altLang="en-US" sz="2000" b="1" dirty="0"/>
              <a:t>Modelling</a:t>
            </a:r>
          </a:p>
          <a:p>
            <a:pPr marL="342900" indent="-342900">
              <a:spcBef>
                <a:spcPts val="180"/>
              </a:spcBef>
              <a:spcAft>
                <a:spcPts val="480"/>
              </a:spcAft>
              <a:buFont typeface="+mj-lt"/>
              <a:buAutoNum type="arabicPeriod"/>
            </a:pPr>
            <a:r>
              <a:rPr lang="en-US" altLang="en-US" sz="1800" dirty="0"/>
              <a:t>Metrics were similar across models, but one clearly stood out. It had the lowest error rate while performing well on other metrics.</a:t>
            </a:r>
          </a:p>
          <a:p>
            <a:pPr marL="342900" indent="-342900">
              <a:spcBef>
                <a:spcPts val="180"/>
              </a:spcBef>
              <a:spcAft>
                <a:spcPts val="480"/>
              </a:spcAft>
              <a:buFont typeface="+mj-lt"/>
              <a:buAutoNum type="arabicPeriod"/>
            </a:pPr>
            <a:r>
              <a:rPr lang="en-US" sz="1800" dirty="0"/>
              <a:t>One quarter of data already predicts churn with high accuracy.</a:t>
            </a:r>
          </a:p>
          <a:p>
            <a:pPr marL="0" indent="0">
              <a:spcBef>
                <a:spcPts val="180"/>
              </a:spcBef>
              <a:spcAft>
                <a:spcPts val="480"/>
              </a:spcAft>
              <a:buNone/>
            </a:pPr>
            <a:endParaRPr lang="en-US" sz="1800" dirty="0"/>
          </a:p>
          <a:p>
            <a:pPr marL="0" indent="0">
              <a:spcBef>
                <a:spcPts val="180"/>
              </a:spcBef>
              <a:spcAft>
                <a:spcPts val="480"/>
              </a:spcAft>
              <a:buNone/>
            </a:pPr>
            <a:r>
              <a:rPr lang="en-US" sz="2000" b="1" dirty="0"/>
              <a:t>New Metrics and Results</a:t>
            </a:r>
          </a:p>
          <a:p>
            <a:pPr marL="342900" indent="-342900">
              <a:spcBef>
                <a:spcPts val="180"/>
              </a:spcBef>
              <a:spcAft>
                <a:spcPts val="480"/>
              </a:spcAft>
              <a:buFont typeface="+mj-lt"/>
              <a:buAutoNum type="arabicPeriod"/>
            </a:pPr>
            <a:r>
              <a:rPr lang="en-US" sz="1800" dirty="0"/>
              <a:t>Add Customer Care Success Rate: tracks cancellation attempts and outcomes.</a:t>
            </a:r>
          </a:p>
          <a:p>
            <a:pPr marL="342900" indent="-342900">
              <a:spcBef>
                <a:spcPts val="180"/>
              </a:spcBef>
              <a:spcAft>
                <a:spcPts val="480"/>
              </a:spcAft>
              <a:buFont typeface="+mj-lt"/>
              <a:buAutoNum type="arabicPeriod"/>
            </a:pPr>
            <a:r>
              <a:rPr lang="en-US" sz="1800" dirty="0"/>
              <a:t>Price (Monthly Charges) is the main churn driver—requires a deep study in margin vs. customer retention</a:t>
            </a:r>
            <a:endParaRPr lang="en-US" sz="18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6062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5BAD4-E98A-6BBB-598F-38F9ACE6D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26221-2EDF-760C-D28F-7276433AC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BA5DD-8BD6-2658-54D5-A699575FD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180"/>
              </a:spcBef>
              <a:spcAft>
                <a:spcPts val="480"/>
              </a:spcAft>
              <a:buFont typeface="+mj-lt"/>
              <a:buAutoNum type="arabicPeriod"/>
            </a:pPr>
            <a:r>
              <a:rPr lang="en-US" sz="1800" dirty="0"/>
              <a:t>IBM Team, “Telco customer churn,” </a:t>
            </a:r>
            <a:r>
              <a:rPr lang="en-US" sz="1800" i="1" dirty="0"/>
              <a:t>Kaggle</a:t>
            </a:r>
            <a:r>
              <a:rPr lang="en-US" sz="1800" dirty="0"/>
              <a:t>, 2024. [Online]. Available: </a:t>
            </a:r>
            <a:r>
              <a:rPr lang="en-US" sz="1800" u="sng" dirty="0">
                <a:hlinkClick r:id="rId2"/>
              </a:rPr>
              <a:t>https://doi.org/10.34740/KAGGLE/DSV/8360350</a:t>
            </a:r>
            <a:r>
              <a:rPr lang="en-US" sz="1800" dirty="0"/>
              <a:t>. [Accessed: 28-Jul-2025].</a:t>
            </a:r>
          </a:p>
          <a:p>
            <a:pPr marL="342900" indent="-342900">
              <a:spcBef>
                <a:spcPts val="180"/>
              </a:spcBef>
              <a:spcAft>
                <a:spcPts val="480"/>
              </a:spcAft>
              <a:buFont typeface="+mj-lt"/>
              <a:buAutoNum type="arabicPeriod"/>
            </a:pP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S. Kumar, “Customer Retention Versus Customer Acquisition,” </a:t>
            </a:r>
            <a:r>
              <a:rPr lang="en-US" sz="1800" i="1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Forbes</a:t>
            </a: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, 12-Dec-2022. [Online]. Available: </a:t>
            </a:r>
            <a:r>
              <a:rPr lang="en-US" sz="1800" u="sng" kern="100" dirty="0">
                <a:solidFill>
                  <a:srgbClr val="467886"/>
                </a:solidFill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  <a:hlinkClick r:id="rId3"/>
              </a:rPr>
              <a:t>https://www.forbes.com/councils/forbesbusinesscouncil/2022/12/12/customer-retention-versus-customer-acquisition/</a:t>
            </a:r>
            <a:r>
              <a:rPr lang="en-US" sz="1800" kern="100" dirty="0">
                <a:latin typeface="Aptos" panose="020B00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. [Accessed: 02-Aug-2025].</a:t>
            </a:r>
          </a:p>
          <a:p>
            <a:pPr marL="342900" indent="-342900">
              <a:spcBef>
                <a:spcPts val="180"/>
              </a:spcBef>
              <a:spcAft>
                <a:spcPts val="480"/>
              </a:spcAft>
              <a:buFont typeface="+mj-lt"/>
              <a:buAutoNum type="arabicPeriod"/>
            </a:pPr>
            <a:r>
              <a:rPr lang="en-US" sz="1800" dirty="0"/>
              <a:t>Bhatnagar, R., Mehta, K. and Mehta, R., 2013. A comparative study of classification techniques in data mining algorithms. </a:t>
            </a:r>
            <a:r>
              <a:rPr lang="en-US" sz="1800" i="1" dirty="0"/>
              <a:t>Oriental Journal of Computer Science &amp; Technology</a:t>
            </a:r>
            <a:r>
              <a:rPr lang="en-US" sz="1800" dirty="0"/>
              <a:t>, 6(1), pp.117–122.</a:t>
            </a: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180"/>
              </a:spcBef>
              <a:spcAft>
                <a:spcPts val="480"/>
              </a:spcAft>
              <a:buFont typeface="+mj-lt"/>
              <a:buAutoNum type="arabicPeriod"/>
            </a:pPr>
            <a:endParaRPr lang="en-US" sz="1800" kern="100" dirty="0"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indent="-342900">
              <a:spcBef>
                <a:spcPts val="180"/>
              </a:spcBef>
              <a:spcAft>
                <a:spcPts val="480"/>
              </a:spcAft>
              <a:buFont typeface="+mj-lt"/>
              <a:buAutoNum type="arabicPeriod"/>
            </a:pPr>
            <a:endParaRPr lang="en-CA" sz="1800" dirty="0"/>
          </a:p>
          <a:p>
            <a:pPr marL="342900" marR="0" lvl="0" indent="-342900">
              <a:spcBef>
                <a:spcPts val="180"/>
              </a:spcBef>
              <a:spcAft>
                <a:spcPts val="480"/>
              </a:spcAft>
              <a:buFont typeface="+mj-lt"/>
              <a:buAutoNum type="arabicPeriod"/>
            </a:pPr>
            <a:endParaRPr lang="en-US" sz="18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57001-8767-BCC7-EB20-53A730344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7155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2CE30D7-70A0-F309-405F-5C8FD9CDB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2C3A8-05A8-3FAD-68CC-F0E131602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79815-5465-05DA-A67E-EBA18A84D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7952F6C-5DEE-4521-BA0D-89934B8E63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3547166"/>
              </p:ext>
            </p:extLst>
          </p:nvPr>
        </p:nvGraphicFramePr>
        <p:xfrm>
          <a:off x="81031" y="1504620"/>
          <a:ext cx="4605270" cy="2415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EB6AE9F-79FC-3327-9325-9E7DD867E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0" y="1140873"/>
            <a:ext cx="3798570" cy="328611"/>
          </a:xfrm>
        </p:spPr>
        <p:txBody>
          <a:bodyPr/>
          <a:lstStyle/>
          <a:p>
            <a:pPr marL="0" indent="0" algn="just">
              <a:spcAft>
                <a:spcPts val="700"/>
              </a:spcAft>
              <a:buNone/>
            </a:pPr>
            <a:r>
              <a:rPr lang="en-US" sz="2000" b="1" dirty="0"/>
              <a:t>Feature Importance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DF6F7BE-2067-BEC6-2737-22FA7C10F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14651"/>
              </p:ext>
            </p:extLst>
          </p:nvPr>
        </p:nvGraphicFramePr>
        <p:xfrm>
          <a:off x="7577312" y="1779075"/>
          <a:ext cx="247153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684">
                  <a:extLst>
                    <a:ext uri="{9D8B030D-6E8A-4147-A177-3AD203B41FA5}">
                      <a16:colId xmlns:a16="http://schemas.microsoft.com/office/drawing/2014/main" val="2990235043"/>
                    </a:ext>
                  </a:extLst>
                </a:gridCol>
                <a:gridCol w="926827">
                  <a:extLst>
                    <a:ext uri="{9D8B030D-6E8A-4147-A177-3AD203B41FA5}">
                      <a16:colId xmlns:a16="http://schemas.microsoft.com/office/drawing/2014/main" val="2017818949"/>
                    </a:ext>
                  </a:extLst>
                </a:gridCol>
                <a:gridCol w="945028">
                  <a:extLst>
                    <a:ext uri="{9D8B030D-6E8A-4147-A177-3AD203B41FA5}">
                      <a16:colId xmlns:a16="http://schemas.microsoft.com/office/drawing/2014/main" val="3614970841"/>
                    </a:ext>
                  </a:extLst>
                </a:gridCol>
              </a:tblGrid>
              <a:tr h="28628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96204178"/>
                  </a:ext>
                </a:extLst>
              </a:tr>
              <a:tr h="2862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1,251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618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6985725"/>
                  </a:ext>
                </a:extLst>
              </a:tr>
              <a:tr h="2862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False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483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4,691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14740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D3F2C97-9D57-433E-C50E-EFFBB3C50FD0}"/>
              </a:ext>
            </a:extLst>
          </p:cNvPr>
          <p:cNvSpPr txBox="1"/>
          <p:nvPr/>
        </p:nvSpPr>
        <p:spPr>
          <a:xfrm rot="16200000">
            <a:off x="6952790" y="2190364"/>
            <a:ext cx="895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Predicted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F50E3A-A5C1-40C4-DE26-B4AFC18AFDA3}"/>
              </a:ext>
            </a:extLst>
          </p:cNvPr>
          <p:cNvSpPr txBox="1"/>
          <p:nvPr/>
        </p:nvSpPr>
        <p:spPr>
          <a:xfrm>
            <a:off x="8798801" y="1504620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Actual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F249FE7-65A6-7B31-C78A-501140CE0C4A}"/>
              </a:ext>
            </a:extLst>
          </p:cNvPr>
          <p:cNvSpPr txBox="1">
            <a:spLocks/>
          </p:cNvSpPr>
          <p:nvPr/>
        </p:nvSpPr>
        <p:spPr>
          <a:xfrm>
            <a:off x="7281371" y="1140873"/>
            <a:ext cx="2717697" cy="3286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BB03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B857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700"/>
              </a:spcAft>
              <a:buFont typeface="Arial" panose="020B0604020202020204" pitchFamily="34" charset="0"/>
              <a:buNone/>
            </a:pPr>
            <a:r>
              <a:rPr lang="en-US" sz="2000" b="1" dirty="0"/>
              <a:t>Confusion Matrix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1BECD7AC-E363-31C7-7A0B-505FB05434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753556"/>
              </p:ext>
            </p:extLst>
          </p:nvPr>
        </p:nvGraphicFramePr>
        <p:xfrm>
          <a:off x="7431110" y="4351405"/>
          <a:ext cx="2735383" cy="1524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82307">
                  <a:extLst>
                    <a:ext uri="{9D8B030D-6E8A-4147-A177-3AD203B41FA5}">
                      <a16:colId xmlns:a16="http://schemas.microsoft.com/office/drawing/2014/main" val="1595299414"/>
                    </a:ext>
                  </a:extLst>
                </a:gridCol>
                <a:gridCol w="653076">
                  <a:extLst>
                    <a:ext uri="{9D8B030D-6E8A-4147-A177-3AD203B41FA5}">
                      <a16:colId xmlns:a16="http://schemas.microsoft.com/office/drawing/2014/main" val="2932178805"/>
                    </a:ext>
                  </a:extLst>
                </a:gridCol>
              </a:tblGrid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018622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66.9%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559187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69.4%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193292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Error Type I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11.6%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34039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Error Type II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27.9%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087401"/>
                  </a:ext>
                </a:extLst>
              </a:tr>
            </a:tbl>
          </a:graphicData>
        </a:graphic>
      </p:graphicFrame>
      <p:pic>
        <p:nvPicPr>
          <p:cNvPr id="29" name="Picture 28">
            <a:extLst>
              <a:ext uri="{FF2B5EF4-FFF2-40B4-BE49-F238E27FC236}">
                <a16:creationId xmlns:a16="http://schemas.microsoft.com/office/drawing/2014/main" id="{6F423CB4-53EB-BCF8-40DB-9E46B3F79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0" y="4312540"/>
            <a:ext cx="3635210" cy="2414589"/>
          </a:xfrm>
          <a:prstGeom prst="rect">
            <a:avLst/>
          </a:prstGeom>
        </p:spPr>
      </p:pic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FC8A6294-8918-F064-BC5A-76F5DF8E3DCB}"/>
              </a:ext>
            </a:extLst>
          </p:cNvPr>
          <p:cNvSpPr txBox="1">
            <a:spLocks/>
          </p:cNvSpPr>
          <p:nvPr/>
        </p:nvSpPr>
        <p:spPr>
          <a:xfrm>
            <a:off x="81030" y="3896832"/>
            <a:ext cx="3798570" cy="3286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BB03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B857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700"/>
              </a:spcAft>
              <a:buFont typeface="Arial" panose="020B0604020202020204" pitchFamily="34" charset="0"/>
              <a:buNone/>
            </a:pPr>
            <a:r>
              <a:rPr lang="en-US" sz="2000" b="1" dirty="0"/>
              <a:t>ROC Curve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6EC3F3DD-C3E7-3F31-3121-01802D5D7A36}"/>
              </a:ext>
            </a:extLst>
          </p:cNvPr>
          <p:cNvSpPr txBox="1">
            <a:spLocks/>
          </p:cNvSpPr>
          <p:nvPr/>
        </p:nvSpPr>
        <p:spPr>
          <a:xfrm>
            <a:off x="7281371" y="3896832"/>
            <a:ext cx="2433932" cy="3286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BB03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B857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700"/>
              </a:spcAft>
              <a:buFont typeface="Arial" panose="020B0604020202020204" pitchFamily="34" charset="0"/>
              <a:buNone/>
            </a:pPr>
            <a:r>
              <a:rPr lang="en-US" sz="2000" b="1" dirty="0"/>
              <a:t>Evaluation Metrics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36EEB58-9E8F-A3ED-E0F8-4E37F0557CB8}"/>
              </a:ext>
            </a:extLst>
          </p:cNvPr>
          <p:cNvCxnSpPr/>
          <p:nvPr/>
        </p:nvCxnSpPr>
        <p:spPr>
          <a:xfrm>
            <a:off x="5966460" y="1323892"/>
            <a:ext cx="0" cy="5119944"/>
          </a:xfrm>
          <a:prstGeom prst="line">
            <a:avLst/>
          </a:prstGeom>
          <a:ln w="952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7596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2AA5B86-14E5-D714-1880-850601699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BE1D9-CDFC-0992-39F8-37FFD8603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7EE51-4128-0A1E-C1CF-370CB4060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E00C971-1811-F795-68CE-045F12A1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0" y="1140873"/>
            <a:ext cx="3798570" cy="328611"/>
          </a:xfrm>
        </p:spPr>
        <p:txBody>
          <a:bodyPr/>
          <a:lstStyle/>
          <a:p>
            <a:pPr marL="0" indent="0" algn="just">
              <a:spcAft>
                <a:spcPts val="700"/>
              </a:spcAft>
              <a:buNone/>
            </a:pPr>
            <a:r>
              <a:rPr lang="en-US" sz="2000" b="1" dirty="0"/>
              <a:t>Feature Importance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A436E5-9E90-BCF0-00FF-50F2C6CE8654}"/>
              </a:ext>
            </a:extLst>
          </p:cNvPr>
          <p:cNvSpPr txBox="1">
            <a:spLocks/>
          </p:cNvSpPr>
          <p:nvPr/>
        </p:nvSpPr>
        <p:spPr>
          <a:xfrm>
            <a:off x="7281371" y="1140873"/>
            <a:ext cx="2717697" cy="3286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BB03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B857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700"/>
              </a:spcAft>
              <a:buFont typeface="Arial" panose="020B0604020202020204" pitchFamily="34" charset="0"/>
              <a:buNone/>
            </a:pPr>
            <a:r>
              <a:rPr lang="en-US" sz="2000" b="1" dirty="0"/>
              <a:t>Confusion Matrix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B3B102B5-359E-6F47-1109-255A8F511B2F}"/>
              </a:ext>
            </a:extLst>
          </p:cNvPr>
          <p:cNvSpPr txBox="1">
            <a:spLocks/>
          </p:cNvSpPr>
          <p:nvPr/>
        </p:nvSpPr>
        <p:spPr>
          <a:xfrm>
            <a:off x="81030" y="3896832"/>
            <a:ext cx="3798570" cy="3286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BB03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B857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700"/>
              </a:spcAft>
              <a:buFont typeface="Arial" panose="020B0604020202020204" pitchFamily="34" charset="0"/>
              <a:buNone/>
            </a:pPr>
            <a:r>
              <a:rPr lang="en-US" sz="2000" b="1" dirty="0"/>
              <a:t>ROC Curve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17114FC5-740D-0036-87C3-8EB584EC0FC6}"/>
              </a:ext>
            </a:extLst>
          </p:cNvPr>
          <p:cNvSpPr txBox="1">
            <a:spLocks/>
          </p:cNvSpPr>
          <p:nvPr/>
        </p:nvSpPr>
        <p:spPr>
          <a:xfrm>
            <a:off x="7281371" y="3896832"/>
            <a:ext cx="2433932" cy="3286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BB03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B857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700"/>
              </a:spcAft>
              <a:buFont typeface="Arial" panose="020B0604020202020204" pitchFamily="34" charset="0"/>
              <a:buNone/>
            </a:pPr>
            <a:r>
              <a:rPr lang="en-US" sz="2000" b="1" dirty="0"/>
              <a:t>Evaluation Metrics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FAA83AF-CF32-1FE0-F6B9-331B4966FF72}"/>
              </a:ext>
            </a:extLst>
          </p:cNvPr>
          <p:cNvCxnSpPr/>
          <p:nvPr/>
        </p:nvCxnSpPr>
        <p:spPr>
          <a:xfrm>
            <a:off x="5966460" y="1323892"/>
            <a:ext cx="0" cy="5119944"/>
          </a:xfrm>
          <a:prstGeom prst="line">
            <a:avLst/>
          </a:prstGeom>
          <a:ln w="952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D3277C5-3546-4A80-9AD9-2A18D70544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3338934"/>
              </p:ext>
            </p:extLst>
          </p:nvPr>
        </p:nvGraphicFramePr>
        <p:xfrm>
          <a:off x="75854" y="1201674"/>
          <a:ext cx="4608576" cy="2414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B0222CA7-F50B-8135-1B20-D8AAF7CC1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909" y="4291038"/>
            <a:ext cx="3589261" cy="2414016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21362A-7715-870D-E8A6-2FFD39C09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008956"/>
              </p:ext>
            </p:extLst>
          </p:nvPr>
        </p:nvGraphicFramePr>
        <p:xfrm>
          <a:off x="7589149" y="1833823"/>
          <a:ext cx="247153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684">
                  <a:extLst>
                    <a:ext uri="{9D8B030D-6E8A-4147-A177-3AD203B41FA5}">
                      <a16:colId xmlns:a16="http://schemas.microsoft.com/office/drawing/2014/main" val="2990235043"/>
                    </a:ext>
                  </a:extLst>
                </a:gridCol>
                <a:gridCol w="926827">
                  <a:extLst>
                    <a:ext uri="{9D8B030D-6E8A-4147-A177-3AD203B41FA5}">
                      <a16:colId xmlns:a16="http://schemas.microsoft.com/office/drawing/2014/main" val="2017818949"/>
                    </a:ext>
                  </a:extLst>
                </a:gridCol>
                <a:gridCol w="945028">
                  <a:extLst>
                    <a:ext uri="{9D8B030D-6E8A-4147-A177-3AD203B41FA5}">
                      <a16:colId xmlns:a16="http://schemas.microsoft.com/office/drawing/2014/main" val="3614970841"/>
                    </a:ext>
                  </a:extLst>
                </a:gridCol>
              </a:tblGrid>
              <a:tr h="28628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96204178"/>
                  </a:ext>
                </a:extLst>
              </a:tr>
              <a:tr h="2862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1,111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758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6985725"/>
                  </a:ext>
                </a:extLst>
              </a:tr>
              <a:tr h="2862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False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797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4,377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14740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E64B4A31-E402-0DAE-ACDE-4367604EF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109020"/>
              </p:ext>
            </p:extLst>
          </p:nvPr>
        </p:nvGraphicFramePr>
        <p:xfrm>
          <a:off x="7435260" y="4278585"/>
          <a:ext cx="2735383" cy="1524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82307">
                  <a:extLst>
                    <a:ext uri="{9D8B030D-6E8A-4147-A177-3AD203B41FA5}">
                      <a16:colId xmlns:a16="http://schemas.microsoft.com/office/drawing/2014/main" val="1595299414"/>
                    </a:ext>
                  </a:extLst>
                </a:gridCol>
                <a:gridCol w="653076">
                  <a:extLst>
                    <a:ext uri="{9D8B030D-6E8A-4147-A177-3AD203B41FA5}">
                      <a16:colId xmlns:a16="http://schemas.microsoft.com/office/drawing/2014/main" val="2932178805"/>
                    </a:ext>
                  </a:extLst>
                </a:gridCol>
              </a:tblGrid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018622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59.4%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559187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58.9%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193292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Error Type I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14.8%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34039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Error Type II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41.8%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08740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5641716-744A-12E0-9608-64BE3A7E863F}"/>
              </a:ext>
            </a:extLst>
          </p:cNvPr>
          <p:cNvSpPr txBox="1"/>
          <p:nvPr/>
        </p:nvSpPr>
        <p:spPr>
          <a:xfrm rot="16200000">
            <a:off x="6952790" y="2190364"/>
            <a:ext cx="895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Predicted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E55204-3340-8826-E4E6-81749AF5221E}"/>
              </a:ext>
            </a:extLst>
          </p:cNvPr>
          <p:cNvSpPr txBox="1"/>
          <p:nvPr/>
        </p:nvSpPr>
        <p:spPr>
          <a:xfrm>
            <a:off x="8798801" y="1504620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Actual</a:t>
            </a:r>
          </a:p>
        </p:txBody>
      </p:sp>
    </p:spTree>
    <p:extLst>
      <p:ext uri="{BB962C8B-B14F-4D97-AF65-F5344CB8AC3E}">
        <p14:creationId xmlns:p14="http://schemas.microsoft.com/office/powerpoint/2010/main" val="1553860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6FD44C5-6E3A-C80A-0705-74AD45499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CAEF7-09EB-91E8-AED2-38C7BE35F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ABA31-A84E-B6C3-A691-9A85B927A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7D06B49-7900-0C2F-CFC3-6625AB2F5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0" y="1140873"/>
            <a:ext cx="3798570" cy="328611"/>
          </a:xfrm>
        </p:spPr>
        <p:txBody>
          <a:bodyPr/>
          <a:lstStyle/>
          <a:p>
            <a:pPr marL="0" indent="0" algn="just">
              <a:spcAft>
                <a:spcPts val="700"/>
              </a:spcAft>
              <a:buNone/>
            </a:pPr>
            <a:r>
              <a:rPr lang="en-US" sz="2000" b="1" dirty="0"/>
              <a:t>Feature Importance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CCC379-ABF7-7961-53DA-5813E34E14FD}"/>
              </a:ext>
            </a:extLst>
          </p:cNvPr>
          <p:cNvSpPr txBox="1">
            <a:spLocks/>
          </p:cNvSpPr>
          <p:nvPr/>
        </p:nvSpPr>
        <p:spPr>
          <a:xfrm>
            <a:off x="7281371" y="1140873"/>
            <a:ext cx="2717697" cy="3286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BB03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B857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700"/>
              </a:spcAft>
              <a:buFont typeface="Arial" panose="020B0604020202020204" pitchFamily="34" charset="0"/>
              <a:buNone/>
            </a:pPr>
            <a:r>
              <a:rPr lang="en-US" sz="2000" b="1" dirty="0"/>
              <a:t>Confusion Matrix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1EF42997-B697-750F-2ECA-AA6B1DB95AA0}"/>
              </a:ext>
            </a:extLst>
          </p:cNvPr>
          <p:cNvSpPr txBox="1">
            <a:spLocks/>
          </p:cNvSpPr>
          <p:nvPr/>
        </p:nvSpPr>
        <p:spPr>
          <a:xfrm>
            <a:off x="81030" y="3896832"/>
            <a:ext cx="3798570" cy="3286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BB03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B857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700"/>
              </a:spcAft>
              <a:buFont typeface="Arial" panose="020B0604020202020204" pitchFamily="34" charset="0"/>
              <a:buNone/>
            </a:pPr>
            <a:r>
              <a:rPr lang="en-US" sz="2000" b="1" dirty="0"/>
              <a:t>ROC Curve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2E30F670-6E11-66B5-5811-F216347C4D10}"/>
              </a:ext>
            </a:extLst>
          </p:cNvPr>
          <p:cNvSpPr txBox="1">
            <a:spLocks/>
          </p:cNvSpPr>
          <p:nvPr/>
        </p:nvSpPr>
        <p:spPr>
          <a:xfrm>
            <a:off x="7281371" y="3896832"/>
            <a:ext cx="2433932" cy="3286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BB03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B857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700"/>
              </a:spcAft>
              <a:buFont typeface="Arial" panose="020B0604020202020204" pitchFamily="34" charset="0"/>
              <a:buNone/>
            </a:pPr>
            <a:r>
              <a:rPr lang="en-US" sz="2000" b="1" dirty="0"/>
              <a:t>Evaluation Metrics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94333BD-2312-D6DD-C09E-25E42850150C}"/>
              </a:ext>
            </a:extLst>
          </p:cNvPr>
          <p:cNvCxnSpPr/>
          <p:nvPr/>
        </p:nvCxnSpPr>
        <p:spPr>
          <a:xfrm>
            <a:off x="5966460" y="1323892"/>
            <a:ext cx="0" cy="5119944"/>
          </a:xfrm>
          <a:prstGeom prst="line">
            <a:avLst/>
          </a:prstGeom>
          <a:ln w="952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2ED4202-788C-402C-8943-CF5796764B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0865138"/>
              </p:ext>
            </p:extLst>
          </p:nvPr>
        </p:nvGraphicFramePr>
        <p:xfrm>
          <a:off x="42974" y="1371679"/>
          <a:ext cx="4608576" cy="2414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CE094E55-BA6C-FC11-5B59-45818EDCBE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10"/>
          <a:stretch>
            <a:fillRect/>
          </a:stretch>
        </p:blipFill>
        <p:spPr>
          <a:xfrm>
            <a:off x="81030" y="4279313"/>
            <a:ext cx="3611880" cy="2412338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52644697-27D0-243D-0873-EC1F87D2F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297219"/>
              </p:ext>
            </p:extLst>
          </p:nvPr>
        </p:nvGraphicFramePr>
        <p:xfrm>
          <a:off x="7589149" y="1777261"/>
          <a:ext cx="247153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684">
                  <a:extLst>
                    <a:ext uri="{9D8B030D-6E8A-4147-A177-3AD203B41FA5}">
                      <a16:colId xmlns:a16="http://schemas.microsoft.com/office/drawing/2014/main" val="2990235043"/>
                    </a:ext>
                  </a:extLst>
                </a:gridCol>
                <a:gridCol w="926827">
                  <a:extLst>
                    <a:ext uri="{9D8B030D-6E8A-4147-A177-3AD203B41FA5}">
                      <a16:colId xmlns:a16="http://schemas.microsoft.com/office/drawing/2014/main" val="2017818949"/>
                    </a:ext>
                  </a:extLst>
                </a:gridCol>
                <a:gridCol w="945028">
                  <a:extLst>
                    <a:ext uri="{9D8B030D-6E8A-4147-A177-3AD203B41FA5}">
                      <a16:colId xmlns:a16="http://schemas.microsoft.com/office/drawing/2014/main" val="3614970841"/>
                    </a:ext>
                  </a:extLst>
                </a:gridCol>
              </a:tblGrid>
              <a:tr h="28628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96204178"/>
                  </a:ext>
                </a:extLst>
              </a:tr>
              <a:tr h="2862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1,212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657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6985725"/>
                  </a:ext>
                </a:extLst>
              </a:tr>
              <a:tr h="2862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False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474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4,700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147408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AC5AC60-12BA-9C7D-A365-69774363E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545325"/>
              </p:ext>
            </p:extLst>
          </p:nvPr>
        </p:nvGraphicFramePr>
        <p:xfrm>
          <a:off x="7381920" y="4279313"/>
          <a:ext cx="2735383" cy="1524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82307">
                  <a:extLst>
                    <a:ext uri="{9D8B030D-6E8A-4147-A177-3AD203B41FA5}">
                      <a16:colId xmlns:a16="http://schemas.microsoft.com/office/drawing/2014/main" val="1595299414"/>
                    </a:ext>
                  </a:extLst>
                </a:gridCol>
                <a:gridCol w="653076">
                  <a:extLst>
                    <a:ext uri="{9D8B030D-6E8A-4147-A177-3AD203B41FA5}">
                      <a16:colId xmlns:a16="http://schemas.microsoft.com/office/drawing/2014/main" val="2932178805"/>
                    </a:ext>
                  </a:extLst>
                </a:gridCol>
              </a:tblGrid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018622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67.5%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559187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70.8%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193292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Error Type I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12.3%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34039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Error Type II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28.1%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08740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3274624C-795C-9BD1-553B-5EE76337FA36}"/>
              </a:ext>
            </a:extLst>
          </p:cNvPr>
          <p:cNvSpPr txBox="1"/>
          <p:nvPr/>
        </p:nvSpPr>
        <p:spPr>
          <a:xfrm rot="16200000">
            <a:off x="6952790" y="2190364"/>
            <a:ext cx="895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Predicted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86E2B4-0C94-7A48-BA2E-9134129D369E}"/>
              </a:ext>
            </a:extLst>
          </p:cNvPr>
          <p:cNvSpPr txBox="1"/>
          <p:nvPr/>
        </p:nvSpPr>
        <p:spPr>
          <a:xfrm>
            <a:off x="8798801" y="1504620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Actual</a:t>
            </a:r>
          </a:p>
        </p:txBody>
      </p:sp>
    </p:spTree>
    <p:extLst>
      <p:ext uri="{BB962C8B-B14F-4D97-AF65-F5344CB8AC3E}">
        <p14:creationId xmlns:p14="http://schemas.microsoft.com/office/powerpoint/2010/main" val="1973853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1630104-F632-A0D6-4907-AFF72BD97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E4573-97B4-9522-D64B-50E83DF36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274A0-D673-851F-7E22-7BC9A06E0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FCF4-C3EF-BD43-82E0-05BC237DAD2A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F36072-24D2-08E0-EB55-28EF1EDD8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0" y="1140873"/>
            <a:ext cx="3798570" cy="328611"/>
          </a:xfrm>
        </p:spPr>
        <p:txBody>
          <a:bodyPr/>
          <a:lstStyle/>
          <a:p>
            <a:pPr marL="0" indent="0" algn="just">
              <a:spcAft>
                <a:spcPts val="700"/>
              </a:spcAft>
              <a:buNone/>
            </a:pPr>
            <a:r>
              <a:rPr lang="en-US" sz="2000" b="1" dirty="0"/>
              <a:t>Feature Importance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42383B9-B6D8-66C1-9837-CA64357ABC98}"/>
              </a:ext>
            </a:extLst>
          </p:cNvPr>
          <p:cNvSpPr txBox="1">
            <a:spLocks/>
          </p:cNvSpPr>
          <p:nvPr/>
        </p:nvSpPr>
        <p:spPr>
          <a:xfrm>
            <a:off x="7281371" y="1140873"/>
            <a:ext cx="2717697" cy="3286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BB03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B857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700"/>
              </a:spcAft>
              <a:buFont typeface="Arial" panose="020B0604020202020204" pitchFamily="34" charset="0"/>
              <a:buNone/>
            </a:pPr>
            <a:r>
              <a:rPr lang="en-US" sz="2000" b="1" dirty="0"/>
              <a:t>Confusion Matrix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43B0C083-5C7E-0431-57CE-4B840ED09C27}"/>
              </a:ext>
            </a:extLst>
          </p:cNvPr>
          <p:cNvSpPr txBox="1">
            <a:spLocks/>
          </p:cNvSpPr>
          <p:nvPr/>
        </p:nvSpPr>
        <p:spPr>
          <a:xfrm>
            <a:off x="81030" y="3896832"/>
            <a:ext cx="3798570" cy="3286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BB03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B857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700"/>
              </a:spcAft>
              <a:buFont typeface="Arial" panose="020B0604020202020204" pitchFamily="34" charset="0"/>
              <a:buNone/>
            </a:pPr>
            <a:r>
              <a:rPr lang="en-US" sz="2000" b="1" dirty="0"/>
              <a:t>ROC Curve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2D30800C-0846-C40A-F3F3-4C8C7A603BAC}"/>
              </a:ext>
            </a:extLst>
          </p:cNvPr>
          <p:cNvSpPr txBox="1">
            <a:spLocks/>
          </p:cNvSpPr>
          <p:nvPr/>
        </p:nvSpPr>
        <p:spPr>
          <a:xfrm>
            <a:off x="7281371" y="3896832"/>
            <a:ext cx="2433932" cy="3286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E32726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BB031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B857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700"/>
              </a:spcAft>
              <a:buFont typeface="Arial" panose="020B0604020202020204" pitchFamily="34" charset="0"/>
              <a:buNone/>
            </a:pPr>
            <a:r>
              <a:rPr lang="en-US" sz="2000" b="1" dirty="0"/>
              <a:t>Evaluation Metrics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4D4022A-FBBF-46C0-C670-5ACF05E885F3}"/>
              </a:ext>
            </a:extLst>
          </p:cNvPr>
          <p:cNvCxnSpPr/>
          <p:nvPr/>
        </p:nvCxnSpPr>
        <p:spPr>
          <a:xfrm>
            <a:off x="5966460" y="1323892"/>
            <a:ext cx="0" cy="5119944"/>
          </a:xfrm>
          <a:prstGeom prst="line">
            <a:avLst/>
          </a:prstGeom>
          <a:ln w="9525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D7FA747-8727-45CA-9710-D35B3235FEF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5512286"/>
              </p:ext>
            </p:extLst>
          </p:nvPr>
        </p:nvGraphicFramePr>
        <p:xfrm>
          <a:off x="50000" y="1371679"/>
          <a:ext cx="4608576" cy="2414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F34E694-6B90-FA35-F400-6C132B590E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30" y="4225443"/>
            <a:ext cx="3602536" cy="2414016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A781E12-1F73-8E0F-60AC-525E72831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265974"/>
              </p:ext>
            </p:extLst>
          </p:nvPr>
        </p:nvGraphicFramePr>
        <p:xfrm>
          <a:off x="7593675" y="1768758"/>
          <a:ext cx="2471539" cy="91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99684">
                  <a:extLst>
                    <a:ext uri="{9D8B030D-6E8A-4147-A177-3AD203B41FA5}">
                      <a16:colId xmlns:a16="http://schemas.microsoft.com/office/drawing/2014/main" val="2990235043"/>
                    </a:ext>
                  </a:extLst>
                </a:gridCol>
                <a:gridCol w="926827">
                  <a:extLst>
                    <a:ext uri="{9D8B030D-6E8A-4147-A177-3AD203B41FA5}">
                      <a16:colId xmlns:a16="http://schemas.microsoft.com/office/drawing/2014/main" val="2017818949"/>
                    </a:ext>
                  </a:extLst>
                </a:gridCol>
                <a:gridCol w="945028">
                  <a:extLst>
                    <a:ext uri="{9D8B030D-6E8A-4147-A177-3AD203B41FA5}">
                      <a16:colId xmlns:a16="http://schemas.microsoft.com/office/drawing/2014/main" val="3614970841"/>
                    </a:ext>
                  </a:extLst>
                </a:gridCol>
              </a:tblGrid>
              <a:tr h="286282"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False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96204178"/>
                  </a:ext>
                </a:extLst>
              </a:tr>
              <a:tr h="2862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True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1,155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353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6985725"/>
                  </a:ext>
                </a:extLst>
              </a:tr>
              <a:tr h="2862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/>
                        <a:t>False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6"/>
                          </a:solidFill>
                        </a:rPr>
                        <a:t>714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4,821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147408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FAEE024F-9C3D-27D8-147F-9ABDA343B7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522753"/>
              </p:ext>
            </p:extLst>
          </p:nvPr>
        </p:nvGraphicFramePr>
        <p:xfrm>
          <a:off x="7329831" y="4279313"/>
          <a:ext cx="2735383" cy="15240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082307">
                  <a:extLst>
                    <a:ext uri="{9D8B030D-6E8A-4147-A177-3AD203B41FA5}">
                      <a16:colId xmlns:a16="http://schemas.microsoft.com/office/drawing/2014/main" val="1595299414"/>
                    </a:ext>
                  </a:extLst>
                </a:gridCol>
                <a:gridCol w="653076">
                  <a:extLst>
                    <a:ext uri="{9D8B030D-6E8A-4147-A177-3AD203B41FA5}">
                      <a16:colId xmlns:a16="http://schemas.microsoft.com/office/drawing/2014/main" val="2932178805"/>
                    </a:ext>
                  </a:extLst>
                </a:gridCol>
              </a:tblGrid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018622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61.2%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559187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68.4%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193292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Error Type I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34039"/>
                  </a:ext>
                </a:extLst>
              </a:tr>
              <a:tr h="275434">
                <a:tc>
                  <a:txBody>
                    <a:bodyPr/>
                    <a:lstStyle/>
                    <a:p>
                      <a:r>
                        <a:rPr lang="en-US" sz="1400" dirty="0"/>
                        <a:t>Error Type II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38.2%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087401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C3CF08BC-B350-068A-7759-A8101879EB19}"/>
              </a:ext>
            </a:extLst>
          </p:cNvPr>
          <p:cNvSpPr txBox="1"/>
          <p:nvPr/>
        </p:nvSpPr>
        <p:spPr>
          <a:xfrm rot="16200000">
            <a:off x="6952790" y="2190364"/>
            <a:ext cx="895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Predicted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C4FCB2-0C20-CED7-36ED-75843F8DC0C3}"/>
              </a:ext>
            </a:extLst>
          </p:cNvPr>
          <p:cNvSpPr txBox="1"/>
          <p:nvPr/>
        </p:nvSpPr>
        <p:spPr>
          <a:xfrm>
            <a:off x="8798801" y="1504620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Actual</a:t>
            </a:r>
          </a:p>
        </p:txBody>
      </p:sp>
    </p:spTree>
    <p:extLst>
      <p:ext uri="{BB962C8B-B14F-4D97-AF65-F5344CB8AC3E}">
        <p14:creationId xmlns:p14="http://schemas.microsoft.com/office/powerpoint/2010/main" val="3486990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Calgary 2">
      <a:dk1>
        <a:srgbClr val="000000"/>
      </a:dk1>
      <a:lt1>
        <a:srgbClr val="FFFFFF"/>
      </a:lt1>
      <a:dk2>
        <a:srgbClr val="8C857B"/>
      </a:dk2>
      <a:lt2>
        <a:srgbClr val="C3BFB6"/>
      </a:lt2>
      <a:accent1>
        <a:srgbClr val="EE2C2A"/>
      </a:accent1>
      <a:accent2>
        <a:srgbClr val="FFA300"/>
      </a:accent2>
      <a:accent3>
        <a:srgbClr val="FF671F"/>
      </a:accent3>
      <a:accent4>
        <a:srgbClr val="46A67B"/>
      </a:accent4>
      <a:accent5>
        <a:srgbClr val="EC0971"/>
      </a:accent5>
      <a:accent6>
        <a:srgbClr val="9C0533"/>
      </a:accent6>
      <a:hlink>
        <a:srgbClr val="D6001C"/>
      </a:hlink>
      <a:folHlink>
        <a:srgbClr val="8C857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ld - Widescreen" id="{BDE806B9-D085-0547-8443-536EF56E10D0}" vid="{A3112E41-4A82-8045-91CC-360E8E7927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a4191d5-9b76-4ae3-8401-87ceee92a846">
      <UserInfo>
        <DisplayName>Office Of Advancement Visitors</DisplayName>
        <AccountId>4</AccountId>
        <AccountType/>
      </UserInfo>
      <UserInfo>
        <DisplayName>UCalgary Brand</DisplayName>
        <AccountId>15</AccountId>
        <AccountType/>
      </UserInfo>
    </SharedWithUsers>
    <TaxCatchAll xmlns="7a4191d5-9b76-4ae3-8401-87ceee92a846" xsi:nil="true"/>
    <lcf76f155ced4ddcb4097134ff3c332f xmlns="b9b0194d-1e98-4efc-bad5-9450f4bf7a1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A14D9A0FA515564792FEACC70AB1043E" ma:contentTypeVersion="15" ma:contentTypeDescription="Create a new document." ma:contentTypeScope="" ma:versionID="268d53061a527a1a15b3a06f324de7ac">
  <xsd:schema xmlns:xsd="http://www.w3.org/2001/XMLSchema" xmlns:xs="http://www.w3.org/2001/XMLSchema" xmlns:p="http://schemas.microsoft.com/office/2006/metadata/properties" xmlns:ns2="7a4191d5-9b76-4ae3-8401-87ceee92a846" xmlns:ns3="b9b0194d-1e98-4efc-bad5-9450f4bf7a13" targetNamespace="http://schemas.microsoft.com/office/2006/metadata/properties" ma:root="true" ma:fieldsID="602eb0f4584b499882d83f15ecf09c65" ns2:_="" ns3:_="">
    <xsd:import namespace="7a4191d5-9b76-4ae3-8401-87ceee92a846"/>
    <xsd:import namespace="b9b0194d-1e98-4efc-bad5-9450f4bf7a1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4191d5-9b76-4ae3-8401-87ceee92a84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享对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76da6b-3754-4ea3-9a44-9d844208727a}" ma:internalName="TaxCatchAll" ma:showField="CatchAllData" ma:web="7a4191d5-9b76-4ae3-8401-87ceee92a8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b0194d-1e98-4efc-bad5-9450f4bf7a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图像标记" ma:readOnly="false" ma:fieldId="{5cf76f15-5ced-4ddc-b409-7134ff3c332f}" ma:taxonomyMulti="true" ma:sspId="3d23ff3b-8b4b-4ebe-81e4-de565bb03cb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7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A4AE25-BBA1-49A6-B4F8-E97286BA017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B8F560-7E6C-44AE-AFE4-924D1118F0AA}">
  <ds:schemaRefs>
    <ds:schemaRef ds:uri="http://schemas.microsoft.com/office/2006/metadata/properties"/>
    <ds:schemaRef ds:uri="http://schemas.microsoft.com/office/infopath/2007/PartnerControls"/>
    <ds:schemaRef ds:uri="7a4191d5-9b76-4ae3-8401-87ceee92a846"/>
    <ds:schemaRef ds:uri="b9b0194d-1e98-4efc-bad5-9450f4bf7a13"/>
  </ds:schemaRefs>
</ds:datastoreItem>
</file>

<file path=customXml/itemProps3.xml><?xml version="1.0" encoding="utf-8"?>
<ds:datastoreItem xmlns:ds="http://schemas.openxmlformats.org/officeDocument/2006/customXml" ds:itemID="{E8C4D92C-5791-4EB8-90FF-890DA693333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4191d5-9b76-4ae3-8401-87ceee92a846"/>
    <ds:schemaRef ds:uri="b9b0194d-1e98-4efc-bad5-9450f4bf7a1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b9c6fe11-b3fc-4f30-bd41-4f4edb0f970a}" enabled="1" method="Standard" siteId="{8da74ad6-a2e3-4087-96e3-e8f1dc8f82c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project proposal</Template>
  <TotalTime>377</TotalTime>
  <Words>3024</Words>
  <Application>Microsoft Office PowerPoint</Application>
  <PresentationFormat>Widescreen</PresentationFormat>
  <Paragraphs>457</Paragraphs>
  <Slides>17</Slides>
  <Notes>15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Cambria Math</vt:lpstr>
      <vt:lpstr>Office Theme</vt:lpstr>
      <vt:lpstr>Predicting Customer Churn in Telecommunications</vt:lpstr>
      <vt:lpstr>Introduction</vt:lpstr>
      <vt:lpstr>Objective</vt:lpstr>
      <vt:lpstr>Dataset</vt:lpstr>
      <vt:lpstr>Data Cleaning and Wrangling</vt:lpstr>
      <vt:lpstr>Data Preprocessing</vt:lpstr>
      <vt:lpstr>Model Evaluation and Errors</vt:lpstr>
      <vt:lpstr>Modelling</vt:lpstr>
      <vt:lpstr>Results Analysis</vt:lpstr>
      <vt:lpstr>LightGBM</vt:lpstr>
      <vt:lpstr>LightGBM – Best Predictors</vt:lpstr>
      <vt:lpstr>Final Thoughts and Recommendations</vt:lpstr>
      <vt:lpstr>References</vt:lpstr>
      <vt:lpstr>Logistic Regression</vt:lpstr>
      <vt:lpstr>Decision Tree</vt:lpstr>
      <vt:lpstr>XGBoost</vt:lpstr>
      <vt:lpstr>Random Forest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Franco Doi</dc:creator>
  <cp:lastModifiedBy>Bertti Targino, Joao Ricardo</cp:lastModifiedBy>
  <cp:revision>31</cp:revision>
  <dcterms:created xsi:type="dcterms:W3CDTF">2025-07-19T13:11:26Z</dcterms:created>
  <dcterms:modified xsi:type="dcterms:W3CDTF">2025-08-11T18:23:25Z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0x010100A14D9A0FA515564792FEACC70AB1043E</vt:lpwstr>
  </property>
  <property fmtid="{D5CDD505-2E9C-101B-9397-08002B2CF9AE}" pid="3" name="Order">
    <vt:r8>20600</vt:r8>
  </property>
  <property fmtid="{D5CDD505-2E9C-101B-9397-08002B2CF9AE}" pid="4" name="ClassificationContentMarkingFooterLocations">
    <vt:lpwstr>Office Theme:3</vt:lpwstr>
  </property>
  <property fmtid="{D5CDD505-2E9C-101B-9397-08002B2CF9AE}" pid="5" name="ClassificationContentMarkingFooterText">
    <vt:lpwstr>ENMAX: Internal Use Only</vt:lpwstr>
  </property>
</Properties>
</file>