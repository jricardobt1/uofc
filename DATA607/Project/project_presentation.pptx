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9" r:id="rId7"/>
    <p:sldId id="258" r:id="rId8"/>
    <p:sldId id="262" r:id="rId9"/>
    <p:sldId id="263" r:id="rId10"/>
    <p:sldId id="264" r:id="rId11"/>
    <p:sldId id="266" r:id="rId12"/>
    <p:sldId id="267" r:id="rId13"/>
    <p:sldId id="265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9F738-11FB-46D0-915B-CE640596B18E}" v="17" dt="2025-08-11T02:09:05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71351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387" y="67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tham Nagaraj" userId="42582a7dfd2e08c3" providerId="LiveId" clId="{FC49F738-11FB-46D0-915B-CE640596B18E}"/>
    <pc:docChg chg="custSel addSld delSld modSld">
      <pc:chgData name="Gautham Nagaraj" userId="42582a7dfd2e08c3" providerId="LiveId" clId="{FC49F738-11FB-46D0-915B-CE640596B18E}" dt="2025-08-11T02:10:42.725" v="343" actId="47"/>
      <pc:docMkLst>
        <pc:docMk/>
      </pc:docMkLst>
      <pc:sldChg chg="delSp mod">
        <pc:chgData name="Gautham Nagaraj" userId="42582a7dfd2e08c3" providerId="LiveId" clId="{FC49F738-11FB-46D0-915B-CE640596B18E}" dt="2025-08-11T02:10:25.288" v="342" actId="478"/>
        <pc:sldMkLst>
          <pc:docMk/>
          <pc:sldMk cId="2374729735" sldId="256"/>
        </pc:sldMkLst>
        <pc:spChg chg="del">
          <ac:chgData name="Gautham Nagaraj" userId="42582a7dfd2e08c3" providerId="LiveId" clId="{FC49F738-11FB-46D0-915B-CE640596B18E}" dt="2025-08-11T02:10:25.288" v="342" actId="478"/>
          <ac:spMkLst>
            <pc:docMk/>
            <pc:sldMk cId="2374729735" sldId="256"/>
            <ac:spMk id="3" creationId="{9B3511D1-7FCA-FB4B-9E50-F071C460FE80}"/>
          </ac:spMkLst>
        </pc:spChg>
      </pc:sldChg>
      <pc:sldChg chg="del">
        <pc:chgData name="Gautham Nagaraj" userId="42582a7dfd2e08c3" providerId="LiveId" clId="{FC49F738-11FB-46D0-915B-CE640596B18E}" dt="2025-08-11T02:10:42.725" v="343" actId="47"/>
        <pc:sldMkLst>
          <pc:docMk/>
          <pc:sldMk cId="3227294771" sldId="261"/>
        </pc:sldMkLst>
      </pc:sldChg>
      <pc:sldChg chg="add del">
        <pc:chgData name="Gautham Nagaraj" userId="42582a7dfd2e08c3" providerId="LiveId" clId="{FC49F738-11FB-46D0-915B-CE640596B18E}" dt="2025-08-11T01:55:11.273" v="1" actId="47"/>
        <pc:sldMkLst>
          <pc:docMk/>
          <pc:sldMk cId="1217939370" sldId="266"/>
        </pc:sldMkLst>
      </pc:sldChg>
      <pc:sldChg chg="addSp modSp new mod">
        <pc:chgData name="Gautham Nagaraj" userId="42582a7dfd2e08c3" providerId="LiveId" clId="{FC49F738-11FB-46D0-915B-CE640596B18E}" dt="2025-08-11T01:57:29.743" v="96" actId="14100"/>
        <pc:sldMkLst>
          <pc:docMk/>
          <pc:sldMk cId="3950777171" sldId="266"/>
        </pc:sldMkLst>
        <pc:spChg chg="mod">
          <ac:chgData name="Gautham Nagaraj" userId="42582a7dfd2e08c3" providerId="LiveId" clId="{FC49F738-11FB-46D0-915B-CE640596B18E}" dt="2025-08-11T01:56:06.078" v="34" actId="20577"/>
          <ac:spMkLst>
            <pc:docMk/>
            <pc:sldMk cId="3950777171" sldId="266"/>
            <ac:spMk id="2" creationId="{D9250CF0-E6BA-67E1-F91C-E6A6A0E01063}"/>
          </ac:spMkLst>
        </pc:spChg>
        <pc:spChg chg="mod">
          <ac:chgData name="Gautham Nagaraj" userId="42582a7dfd2e08c3" providerId="LiveId" clId="{FC49F738-11FB-46D0-915B-CE640596B18E}" dt="2025-08-11T01:57:17.671" v="91" actId="20577"/>
          <ac:spMkLst>
            <pc:docMk/>
            <pc:sldMk cId="3950777171" sldId="266"/>
            <ac:spMk id="3" creationId="{6C26539F-F0D3-BAB0-7E7B-D4E8FF18C979}"/>
          </ac:spMkLst>
        </pc:spChg>
        <pc:picChg chg="add mod">
          <ac:chgData name="Gautham Nagaraj" userId="42582a7dfd2e08c3" providerId="LiveId" clId="{FC49F738-11FB-46D0-915B-CE640596B18E}" dt="2025-08-11T01:57:29.743" v="96" actId="14100"/>
          <ac:picMkLst>
            <pc:docMk/>
            <pc:sldMk cId="3950777171" sldId="266"/>
            <ac:picMk id="6" creationId="{B9776395-E3D5-9067-541D-FAF500E2E3FC}"/>
          </ac:picMkLst>
        </pc:picChg>
      </pc:sldChg>
      <pc:sldChg chg="addSp delSp modSp new mod">
        <pc:chgData name="Gautham Nagaraj" userId="42582a7dfd2e08c3" providerId="LiveId" clId="{FC49F738-11FB-46D0-915B-CE640596B18E}" dt="2025-08-11T02:09:35.978" v="341" actId="2710"/>
        <pc:sldMkLst>
          <pc:docMk/>
          <pc:sldMk cId="1677089230" sldId="267"/>
        </pc:sldMkLst>
        <pc:spChg chg="mod">
          <ac:chgData name="Gautham Nagaraj" userId="42582a7dfd2e08c3" providerId="LiveId" clId="{FC49F738-11FB-46D0-915B-CE640596B18E}" dt="2025-08-11T01:58:32.091" v="98"/>
          <ac:spMkLst>
            <pc:docMk/>
            <pc:sldMk cId="1677089230" sldId="267"/>
            <ac:spMk id="2" creationId="{1D402E66-AE90-CEDF-3CF4-11E33C32FA70}"/>
          </ac:spMkLst>
        </pc:spChg>
        <pc:spChg chg="mod">
          <ac:chgData name="Gautham Nagaraj" userId="42582a7dfd2e08c3" providerId="LiveId" clId="{FC49F738-11FB-46D0-915B-CE640596B18E}" dt="2025-08-11T02:08:59.818" v="340" actId="20577"/>
          <ac:spMkLst>
            <pc:docMk/>
            <pc:sldMk cId="1677089230" sldId="267"/>
            <ac:spMk id="3" creationId="{C9810CB9-6B3B-A54F-F634-C08D9F66574C}"/>
          </ac:spMkLst>
        </pc:spChg>
        <pc:graphicFrameChg chg="add del mod">
          <ac:chgData name="Gautham Nagaraj" userId="42582a7dfd2e08c3" providerId="LiveId" clId="{FC49F738-11FB-46D0-915B-CE640596B18E}" dt="2025-08-11T02:01:22.048" v="184" actId="478"/>
          <ac:graphicFrameMkLst>
            <pc:docMk/>
            <pc:sldMk cId="1677089230" sldId="267"/>
            <ac:graphicFrameMk id="7" creationId="{A6A43119-00D9-44A5-1528-11946A2D5932}"/>
          </ac:graphicFrameMkLst>
        </pc:graphicFrameChg>
        <pc:graphicFrameChg chg="add del mod">
          <ac:chgData name="Gautham Nagaraj" userId="42582a7dfd2e08c3" providerId="LiveId" clId="{FC49F738-11FB-46D0-915B-CE640596B18E}" dt="2025-08-11T02:04:08.719" v="209" actId="21"/>
          <ac:graphicFrameMkLst>
            <pc:docMk/>
            <pc:sldMk cId="1677089230" sldId="267"/>
            <ac:graphicFrameMk id="10" creationId="{75230E22-F3ED-214E-5BA9-482BAD9B6A38}"/>
          </ac:graphicFrameMkLst>
        </pc:graphicFrameChg>
        <pc:graphicFrameChg chg="add del mod modGraphic">
          <ac:chgData name="Gautham Nagaraj" userId="42582a7dfd2e08c3" providerId="LiveId" clId="{FC49F738-11FB-46D0-915B-CE640596B18E}" dt="2025-08-11T02:05:49.101" v="245" actId="478"/>
          <ac:graphicFrameMkLst>
            <pc:docMk/>
            <pc:sldMk cId="1677089230" sldId="267"/>
            <ac:graphicFrameMk id="13" creationId="{0153D47B-ED87-CE62-2B3A-5BE9BE1AB7A8}"/>
          </ac:graphicFrameMkLst>
        </pc:graphicFrameChg>
        <pc:graphicFrameChg chg="add mod modGraphic">
          <ac:chgData name="Gautham Nagaraj" userId="42582a7dfd2e08c3" providerId="LiveId" clId="{FC49F738-11FB-46D0-915B-CE640596B18E}" dt="2025-08-11T02:09:35.978" v="341" actId="2710"/>
          <ac:graphicFrameMkLst>
            <pc:docMk/>
            <pc:sldMk cId="1677089230" sldId="267"/>
            <ac:graphicFrameMk id="14" creationId="{1AAAE99C-47DE-9BD1-E344-C2F6B40F01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8/10/2025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project, we investigated whether we can accurately predict which telecom customers are likely to churn using machine learning classification models.</a:t>
            </a:r>
          </a:p>
          <a:p>
            <a:r>
              <a:rPr lang="en-US" dirty="0"/>
              <a:t>This is important because acquiring new customers is expensive - often five times more costly than retaining existing ones.</a:t>
            </a:r>
          </a:p>
          <a:p>
            <a:r>
              <a:rPr lang="en-US" dirty="0"/>
              <a:t>If we can identify customers at risk of leaving, companies can take proactive measures, such as targeted offers or service improvements, to prevent churn.</a:t>
            </a:r>
          </a:p>
          <a:p>
            <a:r>
              <a:rPr lang="en-US" dirty="0"/>
              <a:t>This is especially relevant in telecommunications, where customers can switch providers easily due to competitive pricing and minimal switching barriers. A well-performing churn prediction model can therefore directly improve return on investment and reduce revenue loss.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27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21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our dataset is imbalanced, we focused on metrics that go beyond simple accuracy.</a:t>
            </a:r>
          </a:p>
          <a:p>
            <a:endParaRPr lang="en-US" dirty="0"/>
          </a:p>
          <a:p>
            <a:r>
              <a:rPr lang="en-US" dirty="0"/>
              <a:t>Our primary decision-making metric was the </a:t>
            </a:r>
            <a:r>
              <a:rPr lang="en-US" b="1" dirty="0"/>
              <a:t>F1 score</a:t>
            </a:r>
            <a:r>
              <a:rPr lang="en-US" dirty="0"/>
              <a:t>, which balances precision and recall, giving us a fair view of overall predictive power.</a:t>
            </a:r>
          </a:p>
          <a:p>
            <a:r>
              <a:rPr lang="en-US" dirty="0"/>
              <a:t>We also monitored </a:t>
            </a:r>
            <a:r>
              <a:rPr lang="en-US" b="1" dirty="0"/>
              <a:t>recall</a:t>
            </a:r>
            <a:r>
              <a:rPr lang="en-US" dirty="0"/>
              <a:t> closely, since in churn prediction, missing a customer who is about to leave - a false negative - can be very costly for the company.</a:t>
            </a:r>
          </a:p>
          <a:p>
            <a:endParaRPr lang="en-US" dirty="0"/>
          </a:p>
          <a:p>
            <a:r>
              <a:rPr lang="en-US" dirty="0"/>
              <a:t>Supporting metrics like the </a:t>
            </a:r>
            <a:r>
              <a:rPr lang="en-US" b="1" dirty="0"/>
              <a:t>confusion matrix</a:t>
            </a:r>
            <a:r>
              <a:rPr lang="en-US" dirty="0"/>
              <a:t> helped us understand the distribution of errors, </a:t>
            </a:r>
          </a:p>
          <a:p>
            <a:r>
              <a:rPr lang="en-US" dirty="0"/>
              <a:t>while the </a:t>
            </a:r>
            <a:r>
              <a:rPr lang="en-US" b="1" dirty="0"/>
              <a:t>ROC curve and AUC</a:t>
            </a:r>
            <a:r>
              <a:rPr lang="en-US" dirty="0"/>
              <a:t> quantified how well the model separated churn from non-churn cases.</a:t>
            </a:r>
          </a:p>
          <a:p>
            <a:endParaRPr lang="en-US" dirty="0"/>
          </a:p>
          <a:p>
            <a:r>
              <a:rPr lang="en-US" dirty="0"/>
              <a:t>Accuracy alone wasn’t sufficient - with class imbalance, predicting all customers as “No Churn” would yield 74% accuracy, but the model would fail to identify any at-risk customers.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55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F39C-F621-5E03-C1B7-F2DD5A00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70DD0-BD52-273B-3C60-7467BE2A7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BA725-72AA-87CD-B6CE-C08461ED1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preprocessing, we removed columns that were either non-predictive, such as customer IDs, or highly correlated with the target, such as churn score. </a:t>
            </a:r>
          </a:p>
          <a:p>
            <a:r>
              <a:rPr lang="en-US" dirty="0"/>
              <a:t>This prevented data leakage and reduced noise in the model.</a:t>
            </a:r>
          </a:p>
          <a:p>
            <a:endParaRPr lang="en-US" dirty="0"/>
          </a:p>
          <a:p>
            <a:r>
              <a:rPr lang="en-US" dirty="0"/>
              <a:t>For categorical variables, we used native One hot encoding</a:t>
            </a:r>
          </a:p>
          <a:p>
            <a:r>
              <a:rPr lang="en-US" dirty="0"/>
              <a:t>Numerical features were standardized to improve performance consistency. </a:t>
            </a:r>
          </a:p>
          <a:p>
            <a:endParaRPr lang="en-US" dirty="0"/>
          </a:p>
          <a:p>
            <a:r>
              <a:rPr lang="en-US" dirty="0"/>
              <a:t>We also applied stratified K-Fold cross-validation to ensure that each fold preserved the dataset’s churn-to-non-churn ratio.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3F6EA-83CA-5945-68FA-FE564626F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B5BF8-3874-BEEE-11AE-DDC5918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AF07D-5D8F-1163-E935-ACCBE0214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A83BB-369A-B5B5-145D-338618F96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all the models tested, </a:t>
            </a:r>
            <a:r>
              <a:rPr lang="en-US" b="1" dirty="0"/>
              <a:t>LightGBM</a:t>
            </a:r>
            <a:r>
              <a:rPr lang="en-US" dirty="0"/>
              <a:t> delivered the best balance between F1 score, recall, and AUC. </a:t>
            </a:r>
          </a:p>
          <a:p>
            <a:endParaRPr lang="en-US" dirty="0"/>
          </a:p>
          <a:p>
            <a:r>
              <a:rPr lang="en-US" dirty="0"/>
              <a:t>Its leaf-wise growth strategy allowed it to capture complex feature interactions more effectively than simpler models. </a:t>
            </a:r>
          </a:p>
          <a:p>
            <a:endParaRPr lang="en-US" dirty="0"/>
          </a:p>
          <a:p>
            <a:r>
              <a:rPr lang="en-US" dirty="0"/>
              <a:t>The optimal settings included a learning rate of 0.05 and a max depth of 3, which helped avoid overfitting while maintaining strong predictive power.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393D7-DFD2-2B9C-11B4-7FA0281B7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00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B2A8-E530-F0A9-CDB6-DF79C82E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84FEC-0EDA-4FAD-8B87-E2C789E5B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58BBE-FC6C-F753-2C7E-D0AE6D220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LightGBM, our best model achieved an F1 score of 70.1%, a recall of 66.5%, and an AUC of 90.9%, making it the top performer in distinguishing churn from non-churn cases. </a:t>
            </a:r>
          </a:p>
          <a:p>
            <a:r>
              <a:rPr lang="en-US" dirty="0"/>
              <a:t>The ROC curve confirmed strong performance, and key predictors included contract type, number of referrals, and monthly charges — all closely tied to customer engagement.</a:t>
            </a:r>
          </a:p>
          <a:p>
            <a:endParaRPr lang="en-US" dirty="0"/>
          </a:p>
          <a:p>
            <a:r>
              <a:rPr lang="en-US" dirty="0"/>
              <a:t>However, there were some limitations. </a:t>
            </a:r>
          </a:p>
          <a:p>
            <a:r>
              <a:rPr lang="en-US" dirty="0"/>
              <a:t>The class imbalance still reduced recall, meaning some at-risk customers were missed. </a:t>
            </a:r>
          </a:p>
          <a:p>
            <a:r>
              <a:rPr lang="en-US" dirty="0"/>
              <a:t>The dataset comes from a single telecom provider in one region, so results may not fully generalize to other companies or markets.</a:t>
            </a:r>
          </a:p>
          <a:p>
            <a:endParaRPr lang="en-US" dirty="0"/>
          </a:p>
          <a:p>
            <a:r>
              <a:rPr lang="en-US" dirty="0"/>
              <a:t>Additionally, the dataset is static and lacks temporal behavior patterns, so we can’t predict </a:t>
            </a:r>
            <a:r>
              <a:rPr lang="en-US" i="1" dirty="0"/>
              <a:t>when</a:t>
            </a:r>
            <a:r>
              <a:rPr lang="en-US" dirty="0"/>
              <a:t> churn will happen.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44E91-282D-F13B-0A07-B7CFC0D1F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77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29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1C04-1826-2851-3CF4-D2781626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6DCC7-C28A-13DE-7596-5BC89296A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79EDA-8F20-D96B-CADE-9AA56FC62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1C4DC-83FC-0B3E-AABB-0ADED8831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00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t_of_S%26P_500_companies" TargetMode="External"/><Relationship Id="rId2" Type="http://schemas.openxmlformats.org/officeDocument/2006/relationships/hyperlink" Target="https://www.kaggle.com/datasets/jacksoncrow/stock-market-datas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485-1CE4-D943-BF73-46F1F53E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Customer Churn in Telecommunications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C84-A742-DD4F-A936-BBDA5C8BB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Angela Li</a:t>
            </a:r>
          </a:p>
          <a:p>
            <a:r>
              <a:rPr lang="en-US" dirty="0"/>
              <a:t>Franco Doi</a:t>
            </a:r>
          </a:p>
          <a:p>
            <a:r>
              <a:rPr lang="en-US" dirty="0"/>
              <a:t>Gautham Nagaraj</a:t>
            </a:r>
          </a:p>
          <a:p>
            <a:r>
              <a:rPr lang="en-US" dirty="0"/>
              <a:t>Joao </a:t>
            </a:r>
            <a:r>
              <a:rPr lang="en-US" dirty="0" err="1"/>
              <a:t>Targino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7332F-F808-E64C-8515-C367CB073A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July 22, 2025</a:t>
            </a:r>
          </a:p>
          <a:p>
            <a:r>
              <a:rPr lang="en-US" dirty="0"/>
              <a:t>Data 607 – Summer 2025</a:t>
            </a:r>
          </a:p>
        </p:txBody>
      </p:sp>
    </p:spTree>
    <p:extLst>
      <p:ext uri="{BB962C8B-B14F-4D97-AF65-F5344CB8AC3E}">
        <p14:creationId xmlns:p14="http://schemas.microsoft.com/office/powerpoint/2010/main" val="2374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49FC-91C4-7E4C-B0DF-F13D8EA4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Research Question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5D7C-6796-A142-AA52-64D0BC472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Can we accurately predict which customers are likely to churn using classification models?</a:t>
            </a:r>
          </a:p>
          <a:p>
            <a:endParaRPr lang="en-US" dirty="0"/>
          </a:p>
          <a:p>
            <a:r>
              <a:rPr lang="en-US" dirty="0"/>
              <a:t>Customer acquisition is costly — losing customers without warning impacts revenue.</a:t>
            </a:r>
          </a:p>
          <a:p>
            <a:r>
              <a:rPr lang="en-US" dirty="0"/>
              <a:t>Churn prediction allows companies to act </a:t>
            </a:r>
            <a:r>
              <a:rPr lang="en-US" b="1" dirty="0"/>
              <a:t>proactively</a:t>
            </a:r>
            <a:r>
              <a:rPr lang="en-US" dirty="0"/>
              <a:t> with retention strategies.</a:t>
            </a:r>
          </a:p>
          <a:p>
            <a:r>
              <a:rPr lang="en-US" dirty="0"/>
              <a:t>Telecommunications has high competition and low switching barriers.</a:t>
            </a:r>
          </a:p>
          <a:p>
            <a:r>
              <a:rPr lang="en-US" dirty="0"/>
              <a:t>Data-driven retention improves </a:t>
            </a:r>
            <a:r>
              <a:rPr lang="en-US" b="1" dirty="0"/>
              <a:t>ROI</a:t>
            </a:r>
            <a:r>
              <a:rPr lang="en-US" dirty="0"/>
              <a:t> and reduces </a:t>
            </a:r>
            <a:r>
              <a:rPr lang="en-US" b="1" dirty="0"/>
              <a:t>revenue loss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A6A9-CEA9-1F48-8C2B-13EE0DA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03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C507-1F3E-3118-65E7-FD8A9A77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53F2-5AEF-9C50-E854-B3A8B3D0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 – Telco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9833-1095-6ADB-05EA-DBB8A3882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Source:</a:t>
            </a:r>
            <a:r>
              <a:rPr lang="en-US" dirty="0"/>
              <a:t> Public Kaggle dataset – </a:t>
            </a:r>
            <a:r>
              <a:rPr lang="en-US" i="1" dirty="0"/>
              <a:t>Telco Customer Churn</a:t>
            </a:r>
            <a:r>
              <a:rPr lang="en-US" dirty="0"/>
              <a:t> (~7,043 customers, 50 features)</a:t>
            </a:r>
          </a:p>
          <a:p>
            <a:r>
              <a:rPr lang="en-CA" b="1" dirty="0"/>
              <a:t>Numerical:</a:t>
            </a:r>
            <a:r>
              <a:rPr lang="en-CA" dirty="0"/>
              <a:t> Tenure, Monthly Charges</a:t>
            </a:r>
          </a:p>
          <a:p>
            <a:r>
              <a:rPr lang="en-CA" b="1" dirty="0"/>
              <a:t>Categorical:</a:t>
            </a:r>
            <a:r>
              <a:rPr lang="en-CA" dirty="0"/>
              <a:t> Contract Type, Payment Type, Internet Service</a:t>
            </a:r>
          </a:p>
          <a:p>
            <a:r>
              <a:rPr lang="en-US" b="1" dirty="0"/>
              <a:t>Target Variable</a:t>
            </a:r>
            <a:r>
              <a:rPr lang="en-US" dirty="0"/>
              <a:t>: </a:t>
            </a:r>
            <a:r>
              <a:rPr lang="en-US" i="1" dirty="0"/>
              <a:t>Churn </a:t>
            </a:r>
            <a:r>
              <a:rPr lang="en-US" dirty="0"/>
              <a:t>(Yes/No)</a:t>
            </a:r>
          </a:p>
          <a:p>
            <a:r>
              <a:rPr lang="en-US" b="1" dirty="0"/>
              <a:t>Class Imbalance:</a:t>
            </a:r>
            <a:r>
              <a:rPr lang="en-US" dirty="0"/>
              <a:t> 26% churned, 74% active customers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236F-F417-54C0-E6C5-F5F9FC58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3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A2F9-CB57-D900-D49D-41E563BD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6B4B3-3274-09D4-F56E-42D27E6FE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Primary Metrics:</a:t>
            </a:r>
          </a:p>
          <a:p>
            <a:pPr lvl="1"/>
            <a:r>
              <a:rPr lang="en-US" b="1" dirty="0"/>
              <a:t>F1 Score:</a:t>
            </a:r>
            <a:r>
              <a:rPr lang="en-US" dirty="0"/>
              <a:t> balances precision &amp; recall, useful with class imbalance</a:t>
            </a:r>
          </a:p>
          <a:p>
            <a:pPr lvl="1"/>
            <a:r>
              <a:rPr lang="en-US" b="1" dirty="0"/>
              <a:t>Recall:</a:t>
            </a:r>
            <a:r>
              <a:rPr lang="en-US" dirty="0"/>
              <a:t> minimizes costly false negatives</a:t>
            </a:r>
          </a:p>
          <a:p>
            <a:r>
              <a:rPr lang="en-CA" dirty="0"/>
              <a:t>Supporting Metrics:</a:t>
            </a:r>
            <a:endParaRPr lang="en-US" dirty="0"/>
          </a:p>
          <a:p>
            <a:pPr lvl="1"/>
            <a:r>
              <a:rPr lang="en-US" b="1" dirty="0"/>
              <a:t>Confusion Matrix</a:t>
            </a:r>
            <a:r>
              <a:rPr lang="en-US" dirty="0"/>
              <a:t> – visual breakdown of correct/incorrect predictions</a:t>
            </a:r>
          </a:p>
          <a:p>
            <a:pPr lvl="1"/>
            <a:r>
              <a:rPr lang="en-US" b="1" dirty="0"/>
              <a:t>ROC Curve &amp; AUC</a:t>
            </a:r>
            <a:r>
              <a:rPr lang="en-US" dirty="0"/>
              <a:t> – measures model’s ability to distinguish churn vs. non-churn</a:t>
            </a:r>
          </a:p>
          <a:p>
            <a:r>
              <a:rPr lang="en-CA" dirty="0"/>
              <a:t>Why Not Accuracy Alone?</a:t>
            </a:r>
            <a:endParaRPr lang="en-US" dirty="0"/>
          </a:p>
          <a:p>
            <a:pPr lvl="1"/>
            <a:r>
              <a:rPr lang="en-US" dirty="0"/>
              <a:t>Class imbalance means high accuracy could be misleading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0DBB-86CA-2947-C407-766CB021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108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9887-2C1A-271B-F238-15E7FE4C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0813-254A-C085-3233-BA58CC7A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8E834-BB2A-9FF5-D2B1-CFF1A9376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non-predictive and highly correlated features (e.g., Customer ID, Churn Score)</a:t>
            </a:r>
          </a:p>
          <a:p>
            <a:r>
              <a:rPr lang="en-US" dirty="0"/>
              <a:t>Encoded categorical variables as categories (no one-hot needed for boosting models)</a:t>
            </a:r>
          </a:p>
          <a:p>
            <a:r>
              <a:rPr lang="en-CA" dirty="0"/>
              <a:t>Standard scaled numerical features</a:t>
            </a:r>
          </a:p>
          <a:p>
            <a:r>
              <a:rPr lang="en-US" dirty="0"/>
              <a:t>Used </a:t>
            </a:r>
            <a:r>
              <a:rPr lang="en-US" b="1" dirty="0"/>
              <a:t>stratified K-Fold cross-validation</a:t>
            </a:r>
            <a:r>
              <a:rPr lang="en-US" dirty="0"/>
              <a:t> to handle class imbalance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6EB3B-4AA2-DC60-D953-0DB4847C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51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9903-0CD8-500B-5E6F-D84410EB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76D4-69AC-77EF-0A8E-590527A6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Best Model – </a:t>
            </a:r>
            <a:r>
              <a:rPr lang="en-CA" dirty="0" err="1"/>
              <a:t>LightGBM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94F8B-BA8A-C1AD-1DCE-E03D0A164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overall balance of F1 Score, Recall, and AUC</a:t>
            </a:r>
          </a:p>
          <a:p>
            <a:r>
              <a:rPr lang="en-US" dirty="0"/>
              <a:t>Efficient with mixed feature types and large datasets</a:t>
            </a:r>
          </a:p>
          <a:p>
            <a:r>
              <a:rPr lang="en-US" dirty="0"/>
              <a:t>Leaf-wise growth captures complex relationships</a:t>
            </a:r>
          </a:p>
          <a:p>
            <a:endParaRPr lang="en-US" dirty="0"/>
          </a:p>
          <a:p>
            <a:r>
              <a:rPr lang="en-US" b="1" dirty="0"/>
              <a:t>Optimal Parameters:</a:t>
            </a:r>
          </a:p>
          <a:p>
            <a:pPr lvl="1"/>
            <a:r>
              <a:rPr lang="en-CA" dirty="0" err="1"/>
              <a:t>learning_rate</a:t>
            </a:r>
            <a:r>
              <a:rPr lang="en-CA" dirty="0"/>
              <a:t> = 0.05</a:t>
            </a:r>
          </a:p>
          <a:p>
            <a:pPr lvl="1"/>
            <a:r>
              <a:rPr lang="en-CA" dirty="0" err="1"/>
              <a:t>max_depth</a:t>
            </a:r>
            <a:r>
              <a:rPr lang="en-CA" dirty="0"/>
              <a:t> = 3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11A16-E72F-0695-C3B7-5623751F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3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73D1-AF5A-D5F4-7B11-11A61975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2A1B-E544-C94F-316D-25077235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60C1-EE11-DEB9-64C8-577DBFD2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Results – </a:t>
            </a:r>
            <a:r>
              <a:rPr lang="en-CA" dirty="0" err="1"/>
              <a:t>LightGBM</a:t>
            </a:r>
            <a:r>
              <a:rPr lang="en-CA" dirty="0"/>
              <a:t> (Best Model):</a:t>
            </a:r>
          </a:p>
          <a:p>
            <a:pPr lvl="1"/>
            <a:r>
              <a:rPr lang="en-CA" b="1" dirty="0"/>
              <a:t>F1 Score:</a:t>
            </a:r>
            <a:r>
              <a:rPr lang="en-CA" dirty="0"/>
              <a:t> 70.1%</a:t>
            </a:r>
          </a:p>
          <a:p>
            <a:pPr lvl="1"/>
            <a:r>
              <a:rPr lang="en-CA" b="1" dirty="0"/>
              <a:t>Recall:</a:t>
            </a:r>
            <a:r>
              <a:rPr lang="en-CA" dirty="0"/>
              <a:t> 66.5%</a:t>
            </a:r>
          </a:p>
          <a:p>
            <a:pPr lvl="1"/>
            <a:r>
              <a:rPr lang="en-CA" b="1" dirty="0"/>
              <a:t>AUC:</a:t>
            </a:r>
            <a:r>
              <a:rPr lang="en-CA" dirty="0"/>
              <a:t> 90.9%</a:t>
            </a:r>
          </a:p>
          <a:p>
            <a:pPr lvl="1"/>
            <a:r>
              <a:rPr lang="en-US" dirty="0"/>
              <a:t>Best ROC curve performance among all models</a:t>
            </a:r>
          </a:p>
          <a:p>
            <a:pPr lvl="1"/>
            <a:r>
              <a:rPr lang="en-US" dirty="0"/>
              <a:t>Key predictors: Contract type, number of referrals, monthly charges</a:t>
            </a:r>
          </a:p>
          <a:p>
            <a:r>
              <a:rPr lang="en-CA" dirty="0"/>
              <a:t>Limitations:</a:t>
            </a:r>
          </a:p>
          <a:p>
            <a:pPr lvl="1"/>
            <a:r>
              <a:rPr lang="en-US" b="1" dirty="0"/>
              <a:t>Class imbalance</a:t>
            </a:r>
            <a:r>
              <a:rPr lang="en-US" dirty="0"/>
              <a:t> still impacted recall – some churn cases missed</a:t>
            </a:r>
            <a:endParaRPr lang="en-CA" dirty="0"/>
          </a:p>
          <a:p>
            <a:pPr lvl="1"/>
            <a:r>
              <a:rPr lang="en-US" dirty="0"/>
              <a:t>limited generalizability 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CFADA-A89F-D747-BFFD-D6AEF5E2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26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0CF0-E6BA-67E1-F91C-E6A6A0E0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Predictors - LightGBM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6539F-F0D3-BAB0-7E7B-D4E8FF18C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the most important predictors for LightGBM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5DB2A-0D09-79DB-3350-2BE318A3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76395-E3D5-9067-541D-FAF500E2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21" y="2180091"/>
            <a:ext cx="68333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7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2E66-AE90-CEDF-3CF4-11E33C32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Predictors - LightGBM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10CB9-6B3B-A54F-F634-C08D9F665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Looking at some of the important features across churn labels</a:t>
            </a:r>
          </a:p>
          <a:p>
            <a:r>
              <a:rPr lang="en-US" dirty="0"/>
              <a:t>Why It’s important?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E525B-FBC8-E894-29D8-4ECF5DDE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AAE99C-47DE-9BD1-E344-C2F6B40F0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779821"/>
              </p:ext>
            </p:extLst>
          </p:nvPr>
        </p:nvGraphicFramePr>
        <p:xfrm>
          <a:off x="1126835" y="2638698"/>
          <a:ext cx="9046227" cy="2233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5409">
                  <a:extLst>
                    <a:ext uri="{9D8B030D-6E8A-4147-A177-3AD203B41FA5}">
                      <a16:colId xmlns:a16="http://schemas.microsoft.com/office/drawing/2014/main" val="2537618668"/>
                    </a:ext>
                  </a:extLst>
                </a:gridCol>
                <a:gridCol w="3015409">
                  <a:extLst>
                    <a:ext uri="{9D8B030D-6E8A-4147-A177-3AD203B41FA5}">
                      <a16:colId xmlns:a16="http://schemas.microsoft.com/office/drawing/2014/main" val="1482474416"/>
                    </a:ext>
                  </a:extLst>
                </a:gridCol>
                <a:gridCol w="3015409">
                  <a:extLst>
                    <a:ext uri="{9D8B030D-6E8A-4147-A177-3AD203B41FA5}">
                      <a16:colId xmlns:a16="http://schemas.microsoft.com/office/drawing/2014/main" val="4011052055"/>
                    </a:ext>
                  </a:extLst>
                </a:gridCol>
              </a:tblGrid>
              <a:tr h="536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Predictor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Did not Churn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Churned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620482"/>
                  </a:ext>
                </a:extLst>
              </a:tr>
              <a:tr h="53696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Monthly Charge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61.26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74.44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982078"/>
                  </a:ext>
                </a:extLst>
              </a:tr>
              <a:tr h="6228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45.34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49.73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901329"/>
                  </a:ext>
                </a:extLst>
              </a:tr>
              <a:tr h="5369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b="1" dirty="0">
                          <a:effectLst/>
                        </a:rPr>
                        <a:t>Number of Referrals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2.46</a:t>
                      </a:r>
                      <a:endParaRPr lang="en-IN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607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08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E4E-3FA1-C4A9-5939-125EB449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224B-C79F-B0DF-C69B-1786AC6A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EF0E-7F9F-3BF0-30CE-835290C0E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additional features, like customer interaction 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44BD6-D19C-07DF-7378-72001DA8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74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5BAD4-E98A-6BBB-598F-38F9ACE6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6221-2EDF-760C-D28F-7276433A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A5DD-8BD6-2658-54D5-A699575F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Jacksoncrow</a:t>
            </a:r>
            <a:r>
              <a:rPr lang="en-CA" dirty="0"/>
              <a:t>. (2020). </a:t>
            </a:r>
            <a:r>
              <a:rPr lang="en-CA" i="1" dirty="0"/>
              <a:t>Stock Market Dataset</a:t>
            </a:r>
            <a:r>
              <a:rPr lang="en-CA" dirty="0"/>
              <a:t> [Dataset]. Kaggle. </a:t>
            </a:r>
            <a:r>
              <a:rPr lang="en-CA" u="sng" dirty="0">
                <a:hlinkClick r:id="rId2"/>
              </a:rPr>
              <a:t>https://www.kaggle.com/datasets/jacksoncrow/stock-market-dataset</a:t>
            </a:r>
            <a:endParaRPr lang="en-CA" u="sng" dirty="0"/>
          </a:p>
          <a:p>
            <a:r>
              <a:rPr lang="en-CA" dirty="0"/>
              <a:t>Wikipedia contributors. (2024). </a:t>
            </a:r>
            <a:r>
              <a:rPr lang="en-CA" i="1" dirty="0"/>
              <a:t>List of S&amp;P 500 Companies</a:t>
            </a:r>
            <a:r>
              <a:rPr lang="en-CA" dirty="0"/>
              <a:t>. </a:t>
            </a:r>
            <a:r>
              <a:rPr lang="pt-BR" dirty="0"/>
              <a:t>Wikipedia. </a:t>
            </a:r>
            <a:r>
              <a:rPr lang="pt-BR" u="sng" dirty="0">
                <a:hlinkClick r:id="rId3"/>
              </a:rPr>
              <a:t>https://en.wikipedia.org/wiki/List_of_S%26P_500_companies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57001-8767-BCC7-EB20-53A73034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1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customXml/itemProps2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proposal</Template>
  <TotalTime>223</TotalTime>
  <Words>1128</Words>
  <Application>Microsoft Office PowerPoint</Application>
  <PresentationFormat>Widescreen</PresentationFormat>
  <Paragraphs>136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Predicting Customer Churn in Telecommunications</vt:lpstr>
      <vt:lpstr>Research Question</vt:lpstr>
      <vt:lpstr>Dataset Overview – Telco Customer Churn</vt:lpstr>
      <vt:lpstr>Model Evaluation Metrics</vt:lpstr>
      <vt:lpstr>Preprocessing</vt:lpstr>
      <vt:lpstr>Best Model – LightGBM</vt:lpstr>
      <vt:lpstr>Results &amp; Limitations</vt:lpstr>
      <vt:lpstr>Best Predictors - LightGBM  </vt:lpstr>
      <vt:lpstr>Best Predictors - LightGBM </vt:lpstr>
      <vt:lpstr>Next Steps &amp; Future Work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Doi</dc:creator>
  <cp:lastModifiedBy>Gautham Nagaraj</cp:lastModifiedBy>
  <cp:revision>28</cp:revision>
  <dcterms:created xsi:type="dcterms:W3CDTF">2025-07-19T13:11:26Z</dcterms:created>
  <dcterms:modified xsi:type="dcterms:W3CDTF">2025-08-11T02:10:43Z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</Properties>
</file>